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embeddedFontLst>
    <p:embeddedFont>
      <p:font typeface="Lato"/>
      <p:regular r:id="rId19"/>
      <p:bold r:id="rId20"/>
      <p:italic r:id="rId21"/>
      <p:boldItalic r:id="rId22"/>
    </p:embeddedFont>
    <p:embeddedFont>
      <p:font typeface="Merriweather"/>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bold.fntdata"/><Relationship Id="rId22" Type="http://schemas.openxmlformats.org/officeDocument/2006/relationships/font" Target="fonts/Lato-boldItalic.fntdata"/><Relationship Id="rId21" Type="http://schemas.openxmlformats.org/officeDocument/2006/relationships/font" Target="fonts/Lato-italic.fntdata"/><Relationship Id="rId24" Type="http://schemas.openxmlformats.org/officeDocument/2006/relationships/font" Target="fonts/Merriweather-bold.fntdata"/><Relationship Id="rId23" Type="http://schemas.openxmlformats.org/officeDocument/2006/relationships/font" Target="fonts/Merriweather-regular.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Merriweather-boldItalic.fntdata"/><Relationship Id="rId25" Type="http://schemas.openxmlformats.org/officeDocument/2006/relationships/font" Target="fonts/Merriweather-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font" Target="fonts/Lato-regular.fntdata"/><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d8132240d3_0_5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g3d8132240d3_0_55: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 name="Google Shape;55;g3d8132240d3_0_55: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d8132240d3_0_8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 name="Google Shape;75;g3d8132240d3_0_81: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 name="Google Shape;76;g3d8132240d3_0_81: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d8132240d3_0_10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g3d8132240d3_0_107: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g3d8132240d3_0_107: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d919459daa_0_2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g3d919459daa_0_29: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g3d919459daa_0_29: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d919459daa_0_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 name="Google Shape;171;g3d919459daa_0_0: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g3d919459daa_0_0: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d919459daa_0_5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g3d919459daa_0_59: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g3d919459daa_0_59: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d919459daa_0_13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g3d919459daa_0_131: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g3d919459daa_0_131: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d919459daa_0_8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g3d919459daa_0_89: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g3d919459daa_0_89: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d919459daa_0_17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g3d919459daa_0_179: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g3d919459daa_0_179: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d8132240d3_0_16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 name="Google Shape;266;g3d8132240d3_0_161: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g3d8132240d3_0_161: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d8132240d3_0_21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9" name="Google Shape;289;g3d8132240d3_0_213: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g3d8132240d3_0_213: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d8caefd195_0_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5" name="Google Shape;315;g3d8caefd195_0_0: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g3d8caefd195_0_0: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3F6B"/>
        </a:solidFill>
      </p:bgPr>
    </p:bg>
    <p:spTree>
      <p:nvGrpSpPr>
        <p:cNvPr id="56" name="Shape 56"/>
        <p:cNvGrpSpPr/>
        <p:nvPr/>
      </p:nvGrpSpPr>
      <p:grpSpPr>
        <a:xfrm>
          <a:off x="0" y="0"/>
          <a:ext cx="0" cy="0"/>
          <a:chOff x="0" y="0"/>
          <a:chExt cx="0" cy="0"/>
        </a:xfrm>
      </p:grpSpPr>
      <p:sp>
        <p:nvSpPr>
          <p:cNvPr id="57" name="Google Shape;57;p15"/>
          <p:cNvSpPr/>
          <p:nvPr/>
        </p:nvSpPr>
        <p:spPr>
          <a:xfrm>
            <a:off x="0" y="0"/>
            <a:ext cx="320100" cy="5143500"/>
          </a:xfrm>
          <a:prstGeom prst="rect">
            <a:avLst/>
          </a:prstGeom>
          <a:solidFill>
            <a:srgbClr val="45818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5"/>
          <p:cNvSpPr/>
          <p:nvPr/>
        </p:nvSpPr>
        <p:spPr>
          <a:xfrm>
            <a:off x="548640" y="365760"/>
            <a:ext cx="10974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7C3E"/>
              </a:buClr>
              <a:buSzPts val="2800"/>
              <a:buFont typeface="Georgia"/>
              <a:buNone/>
            </a:pPr>
            <a:r>
              <a:rPr b="1" i="0" lang="en" sz="2800" u="none" cap="none" strike="noStrike">
                <a:solidFill>
                  <a:schemeClr val="lt2"/>
                </a:solidFill>
                <a:latin typeface="Georgia"/>
                <a:ea typeface="Georgia"/>
                <a:cs typeface="Georgia"/>
                <a:sym typeface="Georgia"/>
              </a:rPr>
              <a:t>Mo</a:t>
            </a:r>
            <a:endParaRPr b="0" i="0" sz="2800" u="none" cap="none" strike="noStrike">
              <a:solidFill>
                <a:schemeClr val="lt2"/>
              </a:solidFill>
              <a:latin typeface="Calibri"/>
              <a:ea typeface="Calibri"/>
              <a:cs typeface="Calibri"/>
              <a:sym typeface="Calibri"/>
            </a:endParaRPr>
          </a:p>
        </p:txBody>
      </p:sp>
      <p:sp>
        <p:nvSpPr>
          <p:cNvPr id="59" name="Google Shape;59;p15"/>
          <p:cNvSpPr/>
          <p:nvPr/>
        </p:nvSpPr>
        <p:spPr>
          <a:xfrm>
            <a:off x="548640" y="804672"/>
            <a:ext cx="1645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900"/>
              <a:buFont typeface="Calibri"/>
              <a:buNone/>
            </a:pPr>
            <a:r>
              <a:rPr b="0" i="0" lang="en" sz="900" u="none" cap="none" strike="noStrike">
                <a:solidFill>
                  <a:srgbClr val="E2E8F0"/>
                </a:solidFill>
                <a:latin typeface="Calibri"/>
                <a:ea typeface="Calibri"/>
                <a:cs typeface="Calibri"/>
                <a:sym typeface="Calibri"/>
              </a:rPr>
              <a:t>PHONES</a:t>
            </a:r>
            <a:endParaRPr b="0" i="0" sz="900" u="none" cap="none" strike="noStrike">
              <a:solidFill>
                <a:schemeClr val="dk1"/>
              </a:solidFill>
              <a:latin typeface="Calibri"/>
              <a:ea typeface="Calibri"/>
              <a:cs typeface="Calibri"/>
              <a:sym typeface="Calibri"/>
            </a:endParaRPr>
          </a:p>
        </p:txBody>
      </p:sp>
      <p:sp>
        <p:nvSpPr>
          <p:cNvPr id="60" name="Google Shape;60;p15"/>
          <p:cNvSpPr/>
          <p:nvPr/>
        </p:nvSpPr>
        <p:spPr>
          <a:xfrm>
            <a:off x="548640" y="1325880"/>
            <a:ext cx="80466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800"/>
              <a:buFont typeface="Georgia"/>
              <a:buNone/>
            </a:pPr>
            <a:r>
              <a:rPr b="1" i="0" lang="en" sz="3800" u="none" cap="none" strike="noStrike">
                <a:solidFill>
                  <a:srgbClr val="FFFFFF"/>
                </a:solidFill>
                <a:latin typeface="Georgia"/>
                <a:ea typeface="Georgia"/>
                <a:cs typeface="Georgia"/>
                <a:sym typeface="Georgia"/>
              </a:rPr>
              <a:t>Credit Portfolio Analysis</a:t>
            </a:r>
            <a:endParaRPr b="0" i="0" sz="3800" u="none" cap="none" strike="noStrike">
              <a:solidFill>
                <a:schemeClr val="dk1"/>
              </a:solidFill>
              <a:latin typeface="Calibri"/>
              <a:ea typeface="Calibri"/>
              <a:cs typeface="Calibri"/>
              <a:sym typeface="Calibri"/>
            </a:endParaRPr>
          </a:p>
        </p:txBody>
      </p:sp>
      <p:sp>
        <p:nvSpPr>
          <p:cNvPr id="61" name="Google Shape;61;p15"/>
          <p:cNvSpPr/>
          <p:nvPr/>
        </p:nvSpPr>
        <p:spPr>
          <a:xfrm>
            <a:off x="548640" y="2148840"/>
            <a:ext cx="73152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500"/>
              <a:buFont typeface="Calibri"/>
              <a:buNone/>
            </a:pPr>
            <a:r>
              <a:rPr i="0" lang="en" sz="1500" u="none" cap="none" strike="noStrike">
                <a:solidFill>
                  <a:srgbClr val="E2E8F0"/>
                </a:solidFill>
                <a:latin typeface="Georgia"/>
                <a:ea typeface="Georgia"/>
                <a:cs typeface="Georgia"/>
                <a:sym typeface="Georgia"/>
              </a:rPr>
              <a:t>Data Analyst – Product &amp; Credit | Case Study Submission</a:t>
            </a:r>
            <a:endParaRPr i="0" sz="1500" u="none" cap="none" strike="noStrike">
              <a:solidFill>
                <a:schemeClr val="dk1"/>
              </a:solidFill>
              <a:latin typeface="Georgia"/>
              <a:ea typeface="Georgia"/>
              <a:cs typeface="Georgia"/>
              <a:sym typeface="Georgia"/>
            </a:endParaRPr>
          </a:p>
        </p:txBody>
      </p:sp>
      <p:sp>
        <p:nvSpPr>
          <p:cNvPr id="62" name="Google Shape;62;p15"/>
          <p:cNvSpPr/>
          <p:nvPr/>
        </p:nvSpPr>
        <p:spPr>
          <a:xfrm>
            <a:off x="548640" y="2670048"/>
            <a:ext cx="5943600" cy="36600"/>
          </a:xfrm>
          <a:prstGeom prst="rect">
            <a:avLst/>
          </a:prstGeom>
          <a:solidFill>
            <a:srgbClr val="0F8C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5"/>
          <p:cNvSpPr/>
          <p:nvPr/>
        </p:nvSpPr>
        <p:spPr>
          <a:xfrm>
            <a:off x="548640" y="3401568"/>
            <a:ext cx="2606100" cy="1280100"/>
          </a:xfrm>
          <a:prstGeom prst="rect">
            <a:avLst/>
          </a:prstGeom>
          <a:solidFill>
            <a:srgbClr val="45818E"/>
          </a:solidFill>
          <a:ln cap="flat" cmpd="sng" w="12700">
            <a:solidFill>
              <a:srgbClr val="45818E"/>
            </a:solidFill>
            <a:prstDash val="solid"/>
            <a:round/>
            <a:headEnd len="sm" w="sm" type="none"/>
            <a:tailEnd len="sm" w="sm" type="none"/>
          </a:ln>
          <a:effectLst>
            <a:outerShdw blurRad="101600" rotWithShape="0" algn="bl" dir="81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5"/>
          <p:cNvSpPr/>
          <p:nvPr/>
        </p:nvSpPr>
        <p:spPr>
          <a:xfrm>
            <a:off x="548640" y="3616432"/>
            <a:ext cx="26061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Georgia"/>
                <a:ea typeface="Georgia"/>
                <a:cs typeface="Georgia"/>
                <a:sym typeface="Georgia"/>
              </a:rPr>
              <a:t>Portfolio Health</a:t>
            </a:r>
            <a:endParaRPr i="0" sz="1100" u="none" cap="none" strike="noStrike">
              <a:solidFill>
                <a:schemeClr val="dk1"/>
              </a:solidFill>
              <a:latin typeface="Georgia"/>
              <a:ea typeface="Georgia"/>
              <a:cs typeface="Georgia"/>
              <a:sym typeface="Georgia"/>
            </a:endParaRPr>
          </a:p>
        </p:txBody>
      </p:sp>
      <p:sp>
        <p:nvSpPr>
          <p:cNvPr id="65" name="Google Shape;65;p15"/>
          <p:cNvSpPr/>
          <p:nvPr/>
        </p:nvSpPr>
        <p:spPr>
          <a:xfrm>
            <a:off x="548640" y="4108203"/>
            <a:ext cx="2606100" cy="255900"/>
          </a:xfrm>
          <a:prstGeom prst="rect">
            <a:avLst/>
          </a:prstGeom>
          <a:noFill/>
          <a:ln cap="flat" cmpd="sng" w="9525">
            <a:solidFill>
              <a:srgbClr val="45818E"/>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64748B"/>
              </a:buClr>
              <a:buSzPts val="900"/>
              <a:buFont typeface="Calibri"/>
              <a:buNone/>
            </a:pPr>
            <a:r>
              <a:rPr i="0" lang="en" sz="1000" u="none" cap="none" strike="noStrike">
                <a:solidFill>
                  <a:schemeClr val="lt1"/>
                </a:solidFill>
                <a:latin typeface="Georgia"/>
                <a:ea typeface="Georgia"/>
                <a:cs typeface="Georgia"/>
                <a:sym typeface="Georgia"/>
              </a:rPr>
              <a:t>5 credit risk metrics</a:t>
            </a:r>
            <a:endParaRPr i="0" sz="1000" u="none" cap="none" strike="noStrike">
              <a:solidFill>
                <a:schemeClr val="lt1"/>
              </a:solidFill>
              <a:latin typeface="Georgia"/>
              <a:ea typeface="Georgia"/>
              <a:cs typeface="Georgia"/>
              <a:sym typeface="Georgia"/>
            </a:endParaRPr>
          </a:p>
        </p:txBody>
      </p:sp>
      <p:sp>
        <p:nvSpPr>
          <p:cNvPr id="66" name="Google Shape;66;p15"/>
          <p:cNvSpPr/>
          <p:nvPr/>
        </p:nvSpPr>
        <p:spPr>
          <a:xfrm>
            <a:off x="3383280" y="3401568"/>
            <a:ext cx="2606100" cy="1280100"/>
          </a:xfrm>
          <a:prstGeom prst="rect">
            <a:avLst/>
          </a:prstGeom>
          <a:solidFill>
            <a:srgbClr val="45818E"/>
          </a:solidFill>
          <a:ln cap="flat" cmpd="sng" w="12700">
            <a:solidFill>
              <a:srgbClr val="45818E"/>
            </a:solidFill>
            <a:prstDash val="solid"/>
            <a:round/>
            <a:headEnd len="sm" w="sm" type="none"/>
            <a:tailEnd len="sm" w="sm" type="none"/>
          </a:ln>
          <a:effectLst>
            <a:outerShdw blurRad="101600" rotWithShape="0" algn="bl" dir="81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5"/>
          <p:cNvSpPr/>
          <p:nvPr/>
        </p:nvSpPr>
        <p:spPr>
          <a:xfrm>
            <a:off x="3383293" y="3616445"/>
            <a:ext cx="26061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Georgia"/>
                <a:ea typeface="Georgia"/>
                <a:cs typeface="Georgia"/>
                <a:sym typeface="Georgia"/>
              </a:rPr>
              <a:t>CX × Credit Outcomes</a:t>
            </a:r>
            <a:endParaRPr i="0" sz="1100" u="none" cap="none" strike="noStrike">
              <a:solidFill>
                <a:schemeClr val="dk1"/>
              </a:solidFill>
              <a:latin typeface="Georgia"/>
              <a:ea typeface="Georgia"/>
              <a:cs typeface="Georgia"/>
              <a:sym typeface="Georgia"/>
            </a:endParaRPr>
          </a:p>
        </p:txBody>
      </p:sp>
      <p:sp>
        <p:nvSpPr>
          <p:cNvPr id="68" name="Google Shape;68;p15"/>
          <p:cNvSpPr/>
          <p:nvPr/>
        </p:nvSpPr>
        <p:spPr>
          <a:xfrm>
            <a:off x="3383280" y="4108203"/>
            <a:ext cx="26061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900"/>
              <a:buFont typeface="Calibri"/>
              <a:buNone/>
            </a:pPr>
            <a:r>
              <a:rPr i="0" lang="en" sz="900" u="none" cap="none" strike="noStrike">
                <a:solidFill>
                  <a:schemeClr val="lt1"/>
                </a:solidFill>
                <a:latin typeface="Georgia"/>
                <a:ea typeface="Georgia"/>
                <a:cs typeface="Georgia"/>
                <a:sym typeface="Georgia"/>
              </a:rPr>
              <a:t>NPS vs arrears analysis</a:t>
            </a:r>
            <a:endParaRPr i="0" sz="900" u="none" cap="none" strike="noStrike">
              <a:solidFill>
                <a:schemeClr val="lt1"/>
              </a:solidFill>
              <a:latin typeface="Georgia"/>
              <a:ea typeface="Georgia"/>
              <a:cs typeface="Georgia"/>
              <a:sym typeface="Georgia"/>
            </a:endParaRPr>
          </a:p>
        </p:txBody>
      </p:sp>
      <p:sp>
        <p:nvSpPr>
          <p:cNvPr id="69" name="Google Shape;69;p15"/>
          <p:cNvSpPr/>
          <p:nvPr/>
        </p:nvSpPr>
        <p:spPr>
          <a:xfrm>
            <a:off x="6217920" y="3401568"/>
            <a:ext cx="2606100" cy="1280100"/>
          </a:xfrm>
          <a:prstGeom prst="rect">
            <a:avLst/>
          </a:prstGeom>
          <a:solidFill>
            <a:srgbClr val="45818E"/>
          </a:solidFill>
          <a:ln cap="flat" cmpd="sng" w="12700">
            <a:solidFill>
              <a:srgbClr val="45818E"/>
            </a:solidFill>
            <a:prstDash val="solid"/>
            <a:round/>
            <a:headEnd len="sm" w="sm" type="none"/>
            <a:tailEnd len="sm" w="sm" type="none"/>
          </a:ln>
          <a:effectLst>
            <a:outerShdw blurRad="101600" rotWithShape="0" algn="bl" dir="81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5"/>
          <p:cNvSpPr/>
          <p:nvPr/>
        </p:nvSpPr>
        <p:spPr>
          <a:xfrm>
            <a:off x="6217945" y="3616445"/>
            <a:ext cx="26061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Georgia"/>
                <a:ea typeface="Georgia"/>
                <a:cs typeface="Georgia"/>
                <a:sym typeface="Georgia"/>
              </a:rPr>
              <a:t>Data Quality</a:t>
            </a:r>
            <a:endParaRPr i="0" sz="1100" u="none" cap="none" strike="noStrike">
              <a:solidFill>
                <a:schemeClr val="dk1"/>
              </a:solidFill>
              <a:latin typeface="Georgia"/>
              <a:ea typeface="Georgia"/>
              <a:cs typeface="Georgia"/>
              <a:sym typeface="Georgia"/>
            </a:endParaRPr>
          </a:p>
        </p:txBody>
      </p:sp>
      <p:sp>
        <p:nvSpPr>
          <p:cNvPr id="71" name="Google Shape;71;p15"/>
          <p:cNvSpPr/>
          <p:nvPr/>
        </p:nvSpPr>
        <p:spPr>
          <a:xfrm>
            <a:off x="6217895" y="4108203"/>
            <a:ext cx="26061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900"/>
              <a:buFont typeface="Calibri"/>
              <a:buNone/>
            </a:pPr>
            <a:r>
              <a:rPr i="0" lang="en" sz="900" u="none" cap="none" strike="noStrike">
                <a:solidFill>
                  <a:schemeClr val="lt1"/>
                </a:solidFill>
                <a:latin typeface="Georgia"/>
                <a:ea typeface="Georgia"/>
                <a:cs typeface="Georgia"/>
                <a:sym typeface="Georgia"/>
              </a:rPr>
              <a:t>Gaps &amp; recommendations</a:t>
            </a:r>
            <a:endParaRPr i="0" sz="900" u="none" cap="none" strike="noStrike">
              <a:solidFill>
                <a:schemeClr val="lt1"/>
              </a:solidFill>
              <a:latin typeface="Georgia"/>
              <a:ea typeface="Georgia"/>
              <a:cs typeface="Georgia"/>
              <a:sym typeface="Georgia"/>
            </a:endParaRPr>
          </a:p>
        </p:txBody>
      </p:sp>
      <p:sp>
        <p:nvSpPr>
          <p:cNvPr id="72" name="Google Shape;72;p15"/>
          <p:cNvSpPr/>
          <p:nvPr/>
        </p:nvSpPr>
        <p:spPr>
          <a:xfrm>
            <a:off x="548640" y="4846320"/>
            <a:ext cx="8046600" cy="201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800"/>
              <a:buFont typeface="Calibri"/>
              <a:buNone/>
            </a:pPr>
            <a:r>
              <a:rPr b="0" i="0" lang="en" sz="800" u="none" cap="none" strike="noStrike">
                <a:solidFill>
                  <a:srgbClr val="64748B"/>
                </a:solidFill>
                <a:latin typeface="Calibri"/>
                <a:ea typeface="Calibri"/>
                <a:cs typeface="Calibri"/>
                <a:sym typeface="Calibri"/>
              </a:rPr>
              <a:t>April 2026  |  Confidential</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77" name="Shape 77"/>
        <p:cNvGrpSpPr/>
        <p:nvPr/>
      </p:nvGrpSpPr>
      <p:grpSpPr>
        <a:xfrm>
          <a:off x="0" y="0"/>
          <a:ext cx="0" cy="0"/>
          <a:chOff x="0" y="0"/>
          <a:chExt cx="0" cy="0"/>
        </a:xfrm>
      </p:grpSpPr>
      <p:sp>
        <p:nvSpPr>
          <p:cNvPr id="78" name="Google Shape;78;p16"/>
          <p:cNvSpPr/>
          <p:nvPr/>
        </p:nvSpPr>
        <p:spPr>
          <a:xfrm>
            <a:off x="0" y="0"/>
            <a:ext cx="9144000" cy="640200"/>
          </a:xfrm>
          <a:prstGeom prst="rect">
            <a:avLst/>
          </a:prstGeom>
          <a:solidFill>
            <a:srgbClr val="134F5C"/>
          </a:solidFill>
          <a:ln cap="flat" cmpd="sng" w="12700">
            <a:solidFill>
              <a:srgbClr val="0C1F3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6"/>
          <p:cNvSpPr/>
          <p:nvPr/>
        </p:nvSpPr>
        <p:spPr>
          <a:xfrm>
            <a:off x="365760" y="0"/>
            <a:ext cx="8229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Georgia"/>
              <a:buNone/>
            </a:pPr>
            <a:r>
              <a:rPr b="1" i="0" lang="en" sz="2000" u="none" cap="none" strike="noStrike">
                <a:solidFill>
                  <a:srgbClr val="FFFFFF"/>
                </a:solidFill>
                <a:latin typeface="Georgia"/>
                <a:ea typeface="Georgia"/>
                <a:cs typeface="Georgia"/>
                <a:sym typeface="Georgia"/>
              </a:rPr>
              <a:t>Executive Summary</a:t>
            </a:r>
            <a:endParaRPr b="0" i="0" sz="2000" u="none" cap="none" strike="noStrike">
              <a:solidFill>
                <a:schemeClr val="dk1"/>
              </a:solidFill>
              <a:latin typeface="Calibri"/>
              <a:ea typeface="Calibri"/>
              <a:cs typeface="Calibri"/>
              <a:sym typeface="Calibri"/>
            </a:endParaRPr>
          </a:p>
        </p:txBody>
      </p:sp>
      <p:sp>
        <p:nvSpPr>
          <p:cNvPr id="80" name="Google Shape;80;p16"/>
          <p:cNvSpPr/>
          <p:nvPr/>
        </p:nvSpPr>
        <p:spPr>
          <a:xfrm>
            <a:off x="8229600" y="0"/>
            <a:ext cx="640200" cy="640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lang="en" sz="900">
                <a:solidFill>
                  <a:srgbClr val="64748B"/>
                </a:solidFill>
                <a:latin typeface="Calibri"/>
                <a:ea typeface="Calibri"/>
                <a:cs typeface="Calibri"/>
                <a:sym typeface="Calibri"/>
              </a:rPr>
              <a:t>1</a:t>
            </a:r>
            <a:r>
              <a:rPr b="0" i="0" lang="en" sz="900" u="none" cap="none" strike="noStrike">
                <a:solidFill>
                  <a:srgbClr val="64748B"/>
                </a:solidFill>
                <a:latin typeface="Calibri"/>
                <a:ea typeface="Calibri"/>
                <a:cs typeface="Calibri"/>
                <a:sym typeface="Calibri"/>
              </a:rPr>
              <a:t> / 12</a:t>
            </a:r>
            <a:endParaRPr b="0" i="0" sz="900" u="none" cap="none" strike="noStrike">
              <a:solidFill>
                <a:schemeClr val="dk1"/>
              </a:solidFill>
              <a:latin typeface="Calibri"/>
              <a:ea typeface="Calibri"/>
              <a:cs typeface="Calibri"/>
              <a:sym typeface="Calibri"/>
            </a:endParaRPr>
          </a:p>
        </p:txBody>
      </p:sp>
      <p:sp>
        <p:nvSpPr>
          <p:cNvPr id="81" name="Google Shape;81;p16"/>
          <p:cNvSpPr/>
          <p:nvPr/>
        </p:nvSpPr>
        <p:spPr>
          <a:xfrm>
            <a:off x="228600" y="777240"/>
            <a:ext cx="2743200" cy="41148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6"/>
          <p:cNvSpPr/>
          <p:nvPr/>
        </p:nvSpPr>
        <p:spPr>
          <a:xfrm>
            <a:off x="228600" y="777240"/>
            <a:ext cx="2743200" cy="502800"/>
          </a:xfrm>
          <a:prstGeom prst="rect">
            <a:avLst/>
          </a:prstGeom>
          <a:solidFill>
            <a:srgbClr val="D97706"/>
          </a:solidFill>
          <a:ln cap="flat" cmpd="sng" w="12700">
            <a:solidFill>
              <a:srgbClr val="D977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6"/>
          <p:cNvSpPr/>
          <p:nvPr/>
        </p:nvSpPr>
        <p:spPr>
          <a:xfrm>
            <a:off x="228600" y="777240"/>
            <a:ext cx="27432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01  Portfolio Health</a:t>
            </a:r>
            <a:endParaRPr b="0" i="0" sz="1100" u="none" cap="none" strike="noStrike">
              <a:solidFill>
                <a:schemeClr val="dk1"/>
              </a:solidFill>
              <a:latin typeface="Calibri"/>
              <a:ea typeface="Calibri"/>
              <a:cs typeface="Calibri"/>
              <a:sym typeface="Calibri"/>
            </a:endParaRPr>
          </a:p>
        </p:txBody>
      </p:sp>
      <p:sp>
        <p:nvSpPr>
          <p:cNvPr id="84" name="Google Shape;84;p16"/>
          <p:cNvSpPr/>
          <p:nvPr/>
        </p:nvSpPr>
        <p:spPr>
          <a:xfrm>
            <a:off x="338328" y="1353312"/>
            <a:ext cx="25236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1F3F"/>
              </a:buClr>
              <a:buSzPts val="1000"/>
              <a:buFont typeface="Georgia"/>
              <a:buNone/>
            </a:pPr>
            <a:r>
              <a:rPr b="1" i="0" lang="en" sz="1000" u="none" cap="none" strike="noStrike">
                <a:solidFill>
                  <a:srgbClr val="0C1F3F"/>
                </a:solidFill>
                <a:latin typeface="Georgia"/>
                <a:ea typeface="Georgia"/>
                <a:cs typeface="Georgia"/>
                <a:sym typeface="Georgia"/>
              </a:rPr>
              <a:t>NPE rising to 14.2% by Dec-24</a:t>
            </a:r>
            <a:endParaRPr b="0" i="0" sz="1000" u="none" cap="none" strike="noStrike">
              <a:solidFill>
                <a:schemeClr val="dk1"/>
              </a:solidFill>
              <a:latin typeface="Calibri"/>
              <a:ea typeface="Calibri"/>
              <a:cs typeface="Calibri"/>
              <a:sym typeface="Calibri"/>
            </a:endParaRPr>
          </a:p>
        </p:txBody>
      </p:sp>
      <p:sp>
        <p:nvSpPr>
          <p:cNvPr id="85" name="Google Shape;85;p16"/>
          <p:cNvSpPr/>
          <p:nvPr/>
        </p:nvSpPr>
        <p:spPr>
          <a:xfrm>
            <a:off x="338328" y="1920240"/>
            <a:ext cx="2523600" cy="25602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334155"/>
              </a:buClr>
              <a:buSzPts val="950"/>
              <a:buFont typeface="Calibri"/>
              <a:buChar char="•"/>
            </a:pPr>
            <a:r>
              <a:rPr b="0" i="0" lang="en" sz="950" u="none" cap="none" strike="noStrike">
                <a:solidFill>
                  <a:srgbClr val="334155"/>
                </a:solidFill>
                <a:latin typeface="Calibri"/>
                <a:ea typeface="Calibri"/>
                <a:cs typeface="Calibri"/>
                <a:sym typeface="Calibri"/>
              </a:rPr>
              <a:t>PAR30 reached 11.3% — above typical 10% watch threshold</a:t>
            </a:r>
            <a:endParaRPr b="0" i="0" sz="9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950"/>
              <a:buFont typeface="Calibri"/>
              <a:buChar char="•"/>
            </a:pPr>
            <a:r>
              <a:rPr b="0" i="0" lang="en" sz="950" u="none" cap="none" strike="noStrike">
                <a:solidFill>
                  <a:srgbClr val="334155"/>
                </a:solidFill>
                <a:latin typeface="Calibri"/>
                <a:ea typeface="Calibri"/>
                <a:cs typeface="Calibri"/>
                <a:sym typeface="Calibri"/>
              </a:rPr>
              <a:t>18–25 cohort: NPE 1.8× portfolio avg (25.1% vs 14.2%)</a:t>
            </a:r>
            <a:endParaRPr b="0" i="0" sz="9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950"/>
              <a:buFont typeface="Calibri"/>
              <a:buChar char="•"/>
            </a:pPr>
            <a:r>
              <a:rPr b="0" i="0" lang="en" sz="950" u="none" cap="none" strike="noStrike">
                <a:solidFill>
                  <a:srgbClr val="334155"/>
                </a:solidFill>
                <a:latin typeface="Calibri"/>
                <a:ea typeface="Calibri"/>
                <a:cs typeface="Calibri"/>
                <a:sym typeface="Calibri"/>
              </a:rPr>
              <a:t>Default rate stable at 3.9%, but early arrears accelerating</a:t>
            </a:r>
            <a:endParaRPr b="0" i="0" sz="950" u="none" cap="none" strike="noStrike">
              <a:solidFill>
                <a:schemeClr val="dk1"/>
              </a:solidFill>
              <a:latin typeface="Calibri"/>
              <a:ea typeface="Calibri"/>
              <a:cs typeface="Calibri"/>
              <a:sym typeface="Calibri"/>
            </a:endParaRPr>
          </a:p>
        </p:txBody>
      </p:sp>
      <p:sp>
        <p:nvSpPr>
          <p:cNvPr id="86" name="Google Shape;86;p16"/>
          <p:cNvSpPr/>
          <p:nvPr/>
        </p:nvSpPr>
        <p:spPr>
          <a:xfrm>
            <a:off x="3172968" y="777240"/>
            <a:ext cx="2743200" cy="41148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6"/>
          <p:cNvSpPr/>
          <p:nvPr/>
        </p:nvSpPr>
        <p:spPr>
          <a:xfrm>
            <a:off x="3172968" y="777240"/>
            <a:ext cx="2743200" cy="502800"/>
          </a:xfrm>
          <a:prstGeom prst="rect">
            <a:avLst/>
          </a:prstGeom>
          <a:solidFill>
            <a:srgbClr val="0891B2"/>
          </a:solidFill>
          <a:ln cap="flat" cmpd="sng" w="12700">
            <a:solidFill>
              <a:srgbClr val="0891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6"/>
          <p:cNvSpPr/>
          <p:nvPr/>
        </p:nvSpPr>
        <p:spPr>
          <a:xfrm>
            <a:off x="3172968" y="777240"/>
            <a:ext cx="27432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02  CX × Collections</a:t>
            </a:r>
            <a:endParaRPr b="0" i="0" sz="1100" u="none" cap="none" strike="noStrike">
              <a:solidFill>
                <a:schemeClr val="dk1"/>
              </a:solidFill>
              <a:latin typeface="Calibri"/>
              <a:ea typeface="Calibri"/>
              <a:cs typeface="Calibri"/>
              <a:sym typeface="Calibri"/>
            </a:endParaRPr>
          </a:p>
        </p:txBody>
      </p:sp>
      <p:sp>
        <p:nvSpPr>
          <p:cNvPr id="89" name="Google Shape;89;p16"/>
          <p:cNvSpPr/>
          <p:nvPr/>
        </p:nvSpPr>
        <p:spPr>
          <a:xfrm>
            <a:off x="3282696" y="1353312"/>
            <a:ext cx="25236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1F3F"/>
              </a:buClr>
              <a:buSzPts val="1000"/>
              <a:buFont typeface="Georgia"/>
              <a:buNone/>
            </a:pPr>
            <a:r>
              <a:rPr b="1" i="0" lang="en" sz="1000" u="none" cap="none" strike="noStrike">
                <a:solidFill>
                  <a:srgbClr val="0C1F3F"/>
                </a:solidFill>
                <a:latin typeface="Georgia"/>
                <a:ea typeface="Georgia"/>
                <a:cs typeface="Georgia"/>
                <a:sym typeface="Georgia"/>
              </a:rPr>
              <a:t>3× NPS gap: Current (8.2) vs Default (3.0)</a:t>
            </a:r>
            <a:endParaRPr b="0" i="0" sz="1000" u="none" cap="none" strike="noStrike">
              <a:solidFill>
                <a:schemeClr val="dk1"/>
              </a:solidFill>
              <a:latin typeface="Calibri"/>
              <a:ea typeface="Calibri"/>
              <a:cs typeface="Calibri"/>
              <a:sym typeface="Calibri"/>
            </a:endParaRPr>
          </a:p>
        </p:txBody>
      </p:sp>
      <p:sp>
        <p:nvSpPr>
          <p:cNvPr id="90" name="Google Shape;90;p16"/>
          <p:cNvSpPr/>
          <p:nvPr/>
        </p:nvSpPr>
        <p:spPr>
          <a:xfrm>
            <a:off x="3282696" y="1920240"/>
            <a:ext cx="2523600" cy="25602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334155"/>
              </a:buClr>
              <a:buSzPts val="950"/>
              <a:buFont typeface="Calibri"/>
              <a:buChar char="•"/>
            </a:pPr>
            <a:r>
              <a:rPr b="0" i="0" lang="en" sz="950" u="none" cap="none" strike="noStrike">
                <a:solidFill>
                  <a:srgbClr val="334155"/>
                </a:solidFill>
                <a:latin typeface="Calibri"/>
                <a:ea typeface="Calibri"/>
                <a:cs typeface="Calibri"/>
                <a:sym typeface="Calibri"/>
              </a:rPr>
              <a:t>60% of defaulted customers are Detractors</a:t>
            </a:r>
            <a:endParaRPr b="0" i="0" sz="9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950"/>
              <a:buFont typeface="Calibri"/>
              <a:buChar char="•"/>
            </a:pPr>
            <a:r>
              <a:rPr b="0" i="0" lang="en" sz="950" u="none" cap="none" strike="noStrike">
                <a:solidFill>
                  <a:srgbClr val="334155"/>
                </a:solidFill>
                <a:latin typeface="Calibri"/>
                <a:ea typeface="Calibri"/>
                <a:cs typeface="Calibri"/>
                <a:sym typeface="Calibri"/>
              </a:rPr>
              <a:t>Missed Call channel: avg NPS 3.1 vs WhatsApp 7.6</a:t>
            </a:r>
            <a:endParaRPr b="0" i="0" sz="9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950"/>
              <a:buFont typeface="Calibri"/>
              <a:buChar char="•"/>
            </a:pPr>
            <a:r>
              <a:rPr b="0" i="0" lang="en" sz="950" u="none" cap="none" strike="noStrike">
                <a:solidFill>
                  <a:srgbClr val="334155"/>
                </a:solidFill>
                <a:latin typeface="Calibri"/>
                <a:ea typeface="Calibri"/>
                <a:cs typeface="Calibri"/>
                <a:sym typeface="Calibri"/>
              </a:rPr>
              <a:t>Collections friction is the primary driver of dissatisfaction</a:t>
            </a:r>
            <a:endParaRPr b="0" i="0" sz="950" u="none" cap="none" strike="noStrike">
              <a:solidFill>
                <a:schemeClr val="dk1"/>
              </a:solidFill>
              <a:latin typeface="Calibri"/>
              <a:ea typeface="Calibri"/>
              <a:cs typeface="Calibri"/>
              <a:sym typeface="Calibri"/>
            </a:endParaRPr>
          </a:p>
        </p:txBody>
      </p:sp>
      <p:sp>
        <p:nvSpPr>
          <p:cNvPr id="91" name="Google Shape;91;p16"/>
          <p:cNvSpPr/>
          <p:nvPr/>
        </p:nvSpPr>
        <p:spPr>
          <a:xfrm>
            <a:off x="6117336" y="777240"/>
            <a:ext cx="2743200" cy="41148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6"/>
          <p:cNvSpPr/>
          <p:nvPr/>
        </p:nvSpPr>
        <p:spPr>
          <a:xfrm>
            <a:off x="6117336" y="777240"/>
            <a:ext cx="2743200" cy="502800"/>
          </a:xfrm>
          <a:prstGeom prst="rect">
            <a:avLst/>
          </a:prstGeom>
          <a:solidFill>
            <a:srgbClr val="0A7C3E"/>
          </a:solidFill>
          <a:ln cap="flat" cmpd="sng" w="12700">
            <a:solidFill>
              <a:srgbClr val="0A7C3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6"/>
          <p:cNvSpPr/>
          <p:nvPr/>
        </p:nvSpPr>
        <p:spPr>
          <a:xfrm>
            <a:off x="6117336" y="777240"/>
            <a:ext cx="27432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03  Data Quality</a:t>
            </a:r>
            <a:endParaRPr b="0" i="0" sz="1100" u="none" cap="none" strike="noStrike">
              <a:solidFill>
                <a:schemeClr val="dk1"/>
              </a:solidFill>
              <a:latin typeface="Calibri"/>
              <a:ea typeface="Calibri"/>
              <a:cs typeface="Calibri"/>
              <a:sym typeface="Calibri"/>
            </a:endParaRPr>
          </a:p>
        </p:txBody>
      </p:sp>
      <p:sp>
        <p:nvSpPr>
          <p:cNvPr id="94" name="Google Shape;94;p16"/>
          <p:cNvSpPr/>
          <p:nvPr/>
        </p:nvSpPr>
        <p:spPr>
          <a:xfrm>
            <a:off x="6227064" y="1353312"/>
            <a:ext cx="25236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1F3F"/>
              </a:buClr>
              <a:buSzPts val="1000"/>
              <a:buFont typeface="Georgia"/>
              <a:buNone/>
            </a:pPr>
            <a:r>
              <a:rPr b="1" i="0" lang="en" sz="1000" u="none" cap="none" strike="noStrike">
                <a:solidFill>
                  <a:srgbClr val="0C1F3F"/>
                </a:solidFill>
                <a:latin typeface="Georgia"/>
                <a:ea typeface="Georgia"/>
                <a:cs typeface="Georgia"/>
                <a:sym typeface="Georgia"/>
              </a:rPr>
              <a:t>3 critical gaps limit monitoring accuracy</a:t>
            </a:r>
            <a:endParaRPr b="0" i="0" sz="1000" u="none" cap="none" strike="noStrike">
              <a:solidFill>
                <a:schemeClr val="dk1"/>
              </a:solidFill>
              <a:latin typeface="Calibri"/>
              <a:ea typeface="Calibri"/>
              <a:cs typeface="Calibri"/>
              <a:sym typeface="Calibri"/>
            </a:endParaRPr>
          </a:p>
        </p:txBody>
      </p:sp>
      <p:sp>
        <p:nvSpPr>
          <p:cNvPr id="95" name="Google Shape;95;p16"/>
          <p:cNvSpPr/>
          <p:nvPr/>
        </p:nvSpPr>
        <p:spPr>
          <a:xfrm>
            <a:off x="6227064" y="1920240"/>
            <a:ext cx="2523600" cy="25602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334155"/>
              </a:buClr>
              <a:buSzPts val="950"/>
              <a:buFont typeface="Calibri"/>
              <a:buChar char="•"/>
            </a:pPr>
            <a:r>
              <a:rPr b="0" i="0" lang="en" sz="950" u="none" cap="none" strike="noStrike">
                <a:solidFill>
                  <a:srgbClr val="334155"/>
                </a:solidFill>
                <a:latin typeface="Calibri"/>
                <a:ea typeface="Calibri"/>
                <a:cs typeface="Calibri"/>
                <a:sym typeface="Calibri"/>
              </a:rPr>
              <a:t>No payment-event table</a:t>
            </a:r>
            <a:r>
              <a:rPr lang="en" sz="950">
                <a:solidFill>
                  <a:srgbClr val="334155"/>
                </a:solidFill>
                <a:latin typeface="Calibri"/>
                <a:ea typeface="Calibri"/>
                <a:cs typeface="Calibri"/>
                <a:sym typeface="Calibri"/>
              </a:rPr>
              <a:t>;</a:t>
            </a:r>
            <a:r>
              <a:rPr b="0" i="0" lang="en" sz="950" u="none" cap="none" strike="noStrike">
                <a:solidFill>
                  <a:srgbClr val="334155"/>
                </a:solidFill>
                <a:latin typeface="Calibri"/>
                <a:ea typeface="Calibri"/>
                <a:cs typeface="Calibri"/>
                <a:sym typeface="Calibri"/>
              </a:rPr>
              <a:t>cannot track cure rates</a:t>
            </a:r>
            <a:endParaRPr b="0" i="0" sz="9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950"/>
              <a:buFont typeface="Calibri"/>
              <a:buChar char="•"/>
            </a:pPr>
            <a:r>
              <a:rPr b="0" i="0" lang="en" sz="950" u="none" cap="none" strike="noStrike">
                <a:solidFill>
                  <a:srgbClr val="334155"/>
                </a:solidFill>
                <a:latin typeface="Calibri"/>
                <a:ea typeface="Calibri"/>
                <a:cs typeface="Calibri"/>
                <a:sym typeface="Calibri"/>
              </a:rPr>
              <a:t>1.7% missing income data skews risk scoring</a:t>
            </a:r>
            <a:endParaRPr b="0" i="0" sz="9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950"/>
              <a:buFont typeface="Calibri"/>
              <a:buChar char="•"/>
            </a:pPr>
            <a:r>
              <a:rPr b="0" i="0" lang="en" sz="950" u="none" cap="none" strike="noStrike">
                <a:solidFill>
                  <a:srgbClr val="334155"/>
                </a:solidFill>
                <a:latin typeface="Calibri"/>
                <a:ea typeface="Calibri"/>
                <a:cs typeface="Calibri"/>
                <a:sym typeface="Calibri"/>
              </a:rPr>
              <a:t>Zero employment duration causes silent calculation errors</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00" name="Shape 100"/>
        <p:cNvGrpSpPr/>
        <p:nvPr/>
      </p:nvGrpSpPr>
      <p:grpSpPr>
        <a:xfrm>
          <a:off x="0" y="0"/>
          <a:ext cx="0" cy="0"/>
          <a:chOff x="0" y="0"/>
          <a:chExt cx="0" cy="0"/>
        </a:xfrm>
      </p:grpSpPr>
      <p:sp>
        <p:nvSpPr>
          <p:cNvPr id="101" name="Google Shape;101;p17"/>
          <p:cNvSpPr/>
          <p:nvPr/>
        </p:nvSpPr>
        <p:spPr>
          <a:xfrm>
            <a:off x="0" y="0"/>
            <a:ext cx="9144000" cy="640200"/>
          </a:xfrm>
          <a:prstGeom prst="rect">
            <a:avLst/>
          </a:prstGeom>
          <a:solidFill>
            <a:srgbClr val="134F5C"/>
          </a:solidFill>
          <a:ln cap="flat" cmpd="sng" w="12700">
            <a:solidFill>
              <a:srgbClr val="0C1F3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7"/>
          <p:cNvSpPr/>
          <p:nvPr/>
        </p:nvSpPr>
        <p:spPr>
          <a:xfrm>
            <a:off x="365760" y="0"/>
            <a:ext cx="77724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Georgia"/>
              <a:buNone/>
            </a:pPr>
            <a:r>
              <a:rPr b="1" i="0" lang="en" sz="2000" u="none" cap="none" strike="noStrike">
                <a:solidFill>
                  <a:srgbClr val="FFFFFF"/>
                </a:solidFill>
                <a:latin typeface="Georgia"/>
                <a:ea typeface="Georgia"/>
                <a:cs typeface="Georgia"/>
                <a:sym typeface="Georgia"/>
              </a:rPr>
              <a:t>Q1 — Portfolio Health: Selected Metrics</a:t>
            </a:r>
            <a:endParaRPr b="0" i="0" sz="2000" u="none" cap="none" strike="noStrike">
              <a:solidFill>
                <a:schemeClr val="dk1"/>
              </a:solidFill>
              <a:latin typeface="Calibri"/>
              <a:ea typeface="Calibri"/>
              <a:cs typeface="Calibri"/>
              <a:sym typeface="Calibri"/>
            </a:endParaRPr>
          </a:p>
        </p:txBody>
      </p:sp>
      <p:sp>
        <p:nvSpPr>
          <p:cNvPr id="103" name="Google Shape;103;p17"/>
          <p:cNvSpPr/>
          <p:nvPr/>
        </p:nvSpPr>
        <p:spPr>
          <a:xfrm>
            <a:off x="8229600" y="0"/>
            <a:ext cx="640200" cy="640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lang="en" sz="900">
                <a:solidFill>
                  <a:srgbClr val="64748B"/>
                </a:solidFill>
                <a:latin typeface="Calibri"/>
                <a:ea typeface="Calibri"/>
                <a:cs typeface="Calibri"/>
                <a:sym typeface="Calibri"/>
              </a:rPr>
              <a:t>2</a:t>
            </a:r>
            <a:r>
              <a:rPr b="0" i="0" lang="en" sz="900" u="none" cap="none" strike="noStrike">
                <a:solidFill>
                  <a:srgbClr val="64748B"/>
                </a:solidFill>
                <a:latin typeface="Calibri"/>
                <a:ea typeface="Calibri"/>
                <a:cs typeface="Calibri"/>
                <a:sym typeface="Calibri"/>
              </a:rPr>
              <a:t> / 12</a:t>
            </a:r>
            <a:endParaRPr b="0" i="0" sz="900" u="none" cap="none" strike="noStrike">
              <a:solidFill>
                <a:schemeClr val="dk1"/>
              </a:solidFill>
              <a:latin typeface="Calibri"/>
              <a:ea typeface="Calibri"/>
              <a:cs typeface="Calibri"/>
              <a:sym typeface="Calibri"/>
            </a:endParaRPr>
          </a:p>
        </p:txBody>
      </p:sp>
      <p:sp>
        <p:nvSpPr>
          <p:cNvPr id="104" name="Google Shape;104;p17"/>
          <p:cNvSpPr/>
          <p:nvPr/>
        </p:nvSpPr>
        <p:spPr>
          <a:xfrm>
            <a:off x="274320" y="777240"/>
            <a:ext cx="8595300" cy="7131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7"/>
          <p:cNvSpPr/>
          <p:nvPr/>
        </p:nvSpPr>
        <p:spPr>
          <a:xfrm>
            <a:off x="438912" y="960120"/>
            <a:ext cx="347400" cy="347400"/>
          </a:xfrm>
          <a:prstGeom prst="ellipse">
            <a:avLst/>
          </a:prstGeom>
          <a:solidFill>
            <a:srgbClr val="D97706"/>
          </a:solidFill>
          <a:ln cap="flat" cmpd="sng" w="12700">
            <a:solidFill>
              <a:srgbClr val="D977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7"/>
          <p:cNvSpPr/>
          <p:nvPr/>
        </p:nvSpPr>
        <p:spPr>
          <a:xfrm>
            <a:off x="438912" y="960120"/>
            <a:ext cx="3474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
        <p:nvSpPr>
          <p:cNvPr id="107" name="Google Shape;107;p17"/>
          <p:cNvSpPr/>
          <p:nvPr/>
        </p:nvSpPr>
        <p:spPr>
          <a:xfrm>
            <a:off x="914400" y="832104"/>
            <a:ext cx="23775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1F3F"/>
              </a:buClr>
              <a:buSzPts val="1100"/>
              <a:buFont typeface="Georgia"/>
              <a:buNone/>
            </a:pPr>
            <a:r>
              <a:rPr b="1" i="0" lang="en" sz="1100" u="none" cap="none" strike="noStrike">
                <a:solidFill>
                  <a:srgbClr val="0C1F3F"/>
                </a:solidFill>
                <a:latin typeface="Georgia"/>
                <a:ea typeface="Georgia"/>
                <a:cs typeface="Georgia"/>
                <a:sym typeface="Georgia"/>
              </a:rPr>
              <a:t>NPE Ratio</a:t>
            </a:r>
            <a:endParaRPr b="0" i="0" sz="1100" u="none" cap="none" strike="noStrike">
              <a:solidFill>
                <a:schemeClr val="dk1"/>
              </a:solidFill>
              <a:latin typeface="Calibri"/>
              <a:ea typeface="Calibri"/>
              <a:cs typeface="Calibri"/>
              <a:sym typeface="Calibri"/>
            </a:endParaRPr>
          </a:p>
        </p:txBody>
      </p:sp>
      <p:sp>
        <p:nvSpPr>
          <p:cNvPr id="108" name="Google Shape;108;p17"/>
          <p:cNvSpPr/>
          <p:nvPr/>
        </p:nvSpPr>
        <p:spPr>
          <a:xfrm>
            <a:off x="914400" y="1124712"/>
            <a:ext cx="23775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50"/>
              <a:buFont typeface="Calibri"/>
              <a:buNone/>
            </a:pPr>
            <a:r>
              <a:rPr i="0" lang="en" sz="850" u="none" cap="none" strike="noStrike">
                <a:solidFill>
                  <a:srgbClr val="64748B"/>
                </a:solidFill>
                <a:latin typeface="Georgia"/>
                <a:ea typeface="Georgia"/>
                <a:cs typeface="Georgia"/>
                <a:sym typeface="Georgia"/>
              </a:rPr>
              <a:t>% of active accounts 31+ DPD or in Default</a:t>
            </a:r>
            <a:endParaRPr i="0" sz="850" u="none" cap="none" strike="noStrike">
              <a:solidFill>
                <a:schemeClr val="dk1"/>
              </a:solidFill>
              <a:latin typeface="Georgia"/>
              <a:ea typeface="Georgia"/>
              <a:cs typeface="Georgia"/>
              <a:sym typeface="Georgia"/>
            </a:endParaRPr>
          </a:p>
        </p:txBody>
      </p:sp>
      <p:sp>
        <p:nvSpPr>
          <p:cNvPr id="109" name="Google Shape;109;p17"/>
          <p:cNvSpPr/>
          <p:nvPr/>
        </p:nvSpPr>
        <p:spPr>
          <a:xfrm>
            <a:off x="3383280" y="886968"/>
            <a:ext cx="27300" cy="493800"/>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7"/>
          <p:cNvSpPr/>
          <p:nvPr/>
        </p:nvSpPr>
        <p:spPr>
          <a:xfrm>
            <a:off x="3520440" y="832104"/>
            <a:ext cx="14631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700"/>
              <a:buFont typeface="Calibri"/>
              <a:buNone/>
            </a:pPr>
            <a:r>
              <a:rPr b="1" i="0" lang="en" sz="800" u="none" cap="none" strike="noStrike">
                <a:solidFill>
                  <a:srgbClr val="D97706"/>
                </a:solidFill>
                <a:latin typeface="Georgia"/>
                <a:ea typeface="Georgia"/>
                <a:cs typeface="Georgia"/>
                <a:sym typeface="Georgia"/>
              </a:rPr>
              <a:t>WHY IT MATTERS</a:t>
            </a:r>
            <a:endParaRPr i="0" sz="800" u="none" cap="none" strike="noStrike">
              <a:solidFill>
                <a:schemeClr val="dk1"/>
              </a:solidFill>
              <a:latin typeface="Georgia"/>
              <a:ea typeface="Georgia"/>
              <a:cs typeface="Georgia"/>
              <a:sym typeface="Georgia"/>
            </a:endParaRPr>
          </a:p>
        </p:txBody>
      </p:sp>
      <p:sp>
        <p:nvSpPr>
          <p:cNvPr id="111" name="Google Shape;111;p17"/>
          <p:cNvSpPr/>
          <p:nvPr/>
        </p:nvSpPr>
        <p:spPr>
          <a:xfrm>
            <a:off x="3520440" y="1033272"/>
            <a:ext cx="52122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900"/>
              <a:buFont typeface="Calibri"/>
              <a:buNone/>
            </a:pPr>
            <a:r>
              <a:rPr i="0" lang="en" sz="900" u="none" cap="none" strike="noStrike">
                <a:solidFill>
                  <a:srgbClr val="334155"/>
                </a:solidFill>
                <a:latin typeface="Georgia"/>
                <a:ea typeface="Georgia"/>
                <a:cs typeface="Georgia"/>
                <a:sym typeface="Georgia"/>
              </a:rPr>
              <a:t>Headline credit quality signal; drives provisioning requirements</a:t>
            </a:r>
            <a:endParaRPr i="0" sz="900" u="none" cap="none" strike="noStrike">
              <a:solidFill>
                <a:schemeClr val="dk1"/>
              </a:solidFill>
              <a:latin typeface="Georgia"/>
              <a:ea typeface="Georgia"/>
              <a:cs typeface="Georgia"/>
              <a:sym typeface="Georgia"/>
            </a:endParaRPr>
          </a:p>
        </p:txBody>
      </p:sp>
      <p:sp>
        <p:nvSpPr>
          <p:cNvPr id="112" name="Google Shape;112;p17"/>
          <p:cNvSpPr/>
          <p:nvPr/>
        </p:nvSpPr>
        <p:spPr>
          <a:xfrm>
            <a:off x="274320" y="1572768"/>
            <a:ext cx="8595300" cy="7131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7"/>
          <p:cNvSpPr/>
          <p:nvPr/>
        </p:nvSpPr>
        <p:spPr>
          <a:xfrm>
            <a:off x="438912" y="1755648"/>
            <a:ext cx="347400" cy="347400"/>
          </a:xfrm>
          <a:prstGeom prst="ellipse">
            <a:avLst/>
          </a:prstGeom>
          <a:solidFill>
            <a:srgbClr val="0891B2"/>
          </a:solidFill>
          <a:ln cap="flat" cmpd="sng" w="12700">
            <a:solidFill>
              <a:srgbClr val="0891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7"/>
          <p:cNvSpPr/>
          <p:nvPr/>
        </p:nvSpPr>
        <p:spPr>
          <a:xfrm>
            <a:off x="438912" y="1755648"/>
            <a:ext cx="3474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115" name="Google Shape;115;p17"/>
          <p:cNvSpPr/>
          <p:nvPr/>
        </p:nvSpPr>
        <p:spPr>
          <a:xfrm>
            <a:off x="914400" y="1627632"/>
            <a:ext cx="23775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1F3F"/>
              </a:buClr>
              <a:buSzPts val="1100"/>
              <a:buFont typeface="Georgia"/>
              <a:buNone/>
            </a:pPr>
            <a:r>
              <a:rPr b="1" i="0" lang="en" sz="1100" u="none" cap="none" strike="noStrike">
                <a:solidFill>
                  <a:srgbClr val="0C1F3F"/>
                </a:solidFill>
                <a:latin typeface="Georgia"/>
                <a:ea typeface="Georgia"/>
                <a:cs typeface="Georgia"/>
                <a:sym typeface="Georgia"/>
              </a:rPr>
              <a:t>PAR 30-60-90</a:t>
            </a:r>
            <a:endParaRPr i="0" sz="1100" u="none" cap="none" strike="noStrike">
              <a:solidFill>
                <a:schemeClr val="dk1"/>
              </a:solidFill>
              <a:latin typeface="Georgia"/>
              <a:ea typeface="Georgia"/>
              <a:cs typeface="Georgia"/>
              <a:sym typeface="Georgia"/>
            </a:endParaRPr>
          </a:p>
        </p:txBody>
      </p:sp>
      <p:sp>
        <p:nvSpPr>
          <p:cNvPr id="116" name="Google Shape;116;p17"/>
          <p:cNvSpPr/>
          <p:nvPr/>
        </p:nvSpPr>
        <p:spPr>
          <a:xfrm>
            <a:off x="914400" y="1920240"/>
            <a:ext cx="23775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50"/>
              <a:buFont typeface="Calibri"/>
              <a:buNone/>
            </a:pPr>
            <a:r>
              <a:rPr b="0" i="0" lang="en" sz="850" u="none" cap="none" strike="noStrike">
                <a:solidFill>
                  <a:srgbClr val="64748B"/>
                </a:solidFill>
                <a:latin typeface="Calibri"/>
                <a:ea typeface="Calibri"/>
                <a:cs typeface="Calibri"/>
                <a:sym typeface="Calibri"/>
              </a:rPr>
              <a:t>% of outstanding balance held by accounts 30+ DPD</a:t>
            </a:r>
            <a:endParaRPr b="0" i="0" sz="850" u="none" cap="none" strike="noStrike">
              <a:solidFill>
                <a:schemeClr val="dk1"/>
              </a:solidFill>
              <a:latin typeface="Calibri"/>
              <a:ea typeface="Calibri"/>
              <a:cs typeface="Calibri"/>
              <a:sym typeface="Calibri"/>
            </a:endParaRPr>
          </a:p>
        </p:txBody>
      </p:sp>
      <p:sp>
        <p:nvSpPr>
          <p:cNvPr id="117" name="Google Shape;117;p17"/>
          <p:cNvSpPr/>
          <p:nvPr/>
        </p:nvSpPr>
        <p:spPr>
          <a:xfrm>
            <a:off x="3383280" y="1682496"/>
            <a:ext cx="27300" cy="493800"/>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7"/>
          <p:cNvSpPr/>
          <p:nvPr/>
        </p:nvSpPr>
        <p:spPr>
          <a:xfrm>
            <a:off x="3520440" y="1627632"/>
            <a:ext cx="14631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700"/>
              <a:buFont typeface="Calibri"/>
              <a:buNone/>
            </a:pPr>
            <a:r>
              <a:rPr b="1" i="0" lang="en" sz="800" u="none" cap="none" strike="noStrike">
                <a:solidFill>
                  <a:srgbClr val="0891B2"/>
                </a:solidFill>
                <a:latin typeface="Georgia"/>
                <a:ea typeface="Georgia"/>
                <a:cs typeface="Georgia"/>
                <a:sym typeface="Georgia"/>
              </a:rPr>
              <a:t>WHY IT MATTERS</a:t>
            </a:r>
            <a:endParaRPr i="0" sz="800" u="none" cap="none" strike="noStrike">
              <a:solidFill>
                <a:schemeClr val="dk1"/>
              </a:solidFill>
              <a:latin typeface="Georgia"/>
              <a:ea typeface="Georgia"/>
              <a:cs typeface="Georgia"/>
              <a:sym typeface="Georgia"/>
            </a:endParaRPr>
          </a:p>
        </p:txBody>
      </p:sp>
      <p:sp>
        <p:nvSpPr>
          <p:cNvPr id="119" name="Google Shape;119;p17"/>
          <p:cNvSpPr/>
          <p:nvPr/>
        </p:nvSpPr>
        <p:spPr>
          <a:xfrm>
            <a:off x="3520440" y="1828800"/>
            <a:ext cx="52122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900"/>
              <a:buFont typeface="Calibri"/>
              <a:buNone/>
            </a:pPr>
            <a:r>
              <a:rPr i="0" lang="en" sz="900" u="none" cap="none" strike="noStrike">
                <a:solidFill>
                  <a:srgbClr val="334155"/>
                </a:solidFill>
                <a:latin typeface="Georgia"/>
                <a:ea typeface="Georgia"/>
                <a:cs typeface="Georgia"/>
                <a:sym typeface="Georgia"/>
              </a:rPr>
              <a:t>Balance-weighted; captures concentration risk in large accounts</a:t>
            </a:r>
            <a:endParaRPr i="0" sz="900" u="none" cap="none" strike="noStrike">
              <a:solidFill>
                <a:schemeClr val="dk1"/>
              </a:solidFill>
              <a:latin typeface="Georgia"/>
              <a:ea typeface="Georgia"/>
              <a:cs typeface="Georgia"/>
              <a:sym typeface="Georgia"/>
            </a:endParaRPr>
          </a:p>
        </p:txBody>
      </p:sp>
      <p:sp>
        <p:nvSpPr>
          <p:cNvPr id="120" name="Google Shape;120;p17"/>
          <p:cNvSpPr/>
          <p:nvPr/>
        </p:nvSpPr>
        <p:spPr>
          <a:xfrm>
            <a:off x="274320" y="2368296"/>
            <a:ext cx="8595300" cy="7131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7"/>
          <p:cNvSpPr/>
          <p:nvPr/>
        </p:nvSpPr>
        <p:spPr>
          <a:xfrm>
            <a:off x="438912" y="2551176"/>
            <a:ext cx="347400" cy="347400"/>
          </a:xfrm>
          <a:prstGeom prst="ellipse">
            <a:avLst/>
          </a:prstGeom>
          <a:solidFill>
            <a:srgbClr val="DC2626"/>
          </a:solidFill>
          <a:ln cap="flat" cmpd="sng" w="12700">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7"/>
          <p:cNvSpPr/>
          <p:nvPr/>
        </p:nvSpPr>
        <p:spPr>
          <a:xfrm>
            <a:off x="438912" y="2551176"/>
            <a:ext cx="3474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3</a:t>
            </a:r>
            <a:endParaRPr b="0" i="0" sz="1100" u="none" cap="none" strike="noStrike">
              <a:solidFill>
                <a:schemeClr val="dk1"/>
              </a:solidFill>
              <a:latin typeface="Calibri"/>
              <a:ea typeface="Calibri"/>
              <a:cs typeface="Calibri"/>
              <a:sym typeface="Calibri"/>
            </a:endParaRPr>
          </a:p>
        </p:txBody>
      </p:sp>
      <p:sp>
        <p:nvSpPr>
          <p:cNvPr id="123" name="Google Shape;123;p17"/>
          <p:cNvSpPr/>
          <p:nvPr/>
        </p:nvSpPr>
        <p:spPr>
          <a:xfrm>
            <a:off x="914400" y="2423160"/>
            <a:ext cx="23775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1F3F"/>
              </a:buClr>
              <a:buSzPts val="1100"/>
              <a:buFont typeface="Georgia"/>
              <a:buNone/>
            </a:pPr>
            <a:r>
              <a:rPr b="1" i="0" lang="en" sz="1100" u="none" cap="none" strike="noStrike">
                <a:solidFill>
                  <a:srgbClr val="0C1F3F"/>
                </a:solidFill>
                <a:latin typeface="Georgia"/>
                <a:ea typeface="Georgia"/>
                <a:cs typeface="Georgia"/>
                <a:sym typeface="Georgia"/>
              </a:rPr>
              <a:t>Default Rate</a:t>
            </a:r>
            <a:endParaRPr b="0" i="0" sz="1100" u="none" cap="none" strike="noStrike">
              <a:solidFill>
                <a:schemeClr val="dk1"/>
              </a:solidFill>
              <a:latin typeface="Calibri"/>
              <a:ea typeface="Calibri"/>
              <a:cs typeface="Calibri"/>
              <a:sym typeface="Calibri"/>
            </a:endParaRPr>
          </a:p>
        </p:txBody>
      </p:sp>
      <p:sp>
        <p:nvSpPr>
          <p:cNvPr id="124" name="Google Shape;124;p17"/>
          <p:cNvSpPr/>
          <p:nvPr/>
        </p:nvSpPr>
        <p:spPr>
          <a:xfrm>
            <a:off x="914400" y="2715768"/>
            <a:ext cx="23775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50"/>
              <a:buFont typeface="Calibri"/>
              <a:buNone/>
            </a:pPr>
            <a:r>
              <a:rPr i="0" lang="en" sz="850" u="none" cap="none" strike="noStrike">
                <a:solidFill>
                  <a:srgbClr val="64748B"/>
                </a:solidFill>
                <a:latin typeface="Georgia"/>
                <a:ea typeface="Georgia"/>
                <a:cs typeface="Georgia"/>
                <a:sym typeface="Georgia"/>
              </a:rPr>
              <a:t>% of active accounts classified as Default</a:t>
            </a:r>
            <a:endParaRPr i="0" sz="850" u="none" cap="none" strike="noStrike">
              <a:solidFill>
                <a:schemeClr val="dk1"/>
              </a:solidFill>
              <a:latin typeface="Georgia"/>
              <a:ea typeface="Georgia"/>
              <a:cs typeface="Georgia"/>
              <a:sym typeface="Georgia"/>
            </a:endParaRPr>
          </a:p>
        </p:txBody>
      </p:sp>
      <p:sp>
        <p:nvSpPr>
          <p:cNvPr id="125" name="Google Shape;125;p17"/>
          <p:cNvSpPr/>
          <p:nvPr/>
        </p:nvSpPr>
        <p:spPr>
          <a:xfrm>
            <a:off x="3383280" y="2478024"/>
            <a:ext cx="27300" cy="493800"/>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7"/>
          <p:cNvSpPr/>
          <p:nvPr/>
        </p:nvSpPr>
        <p:spPr>
          <a:xfrm>
            <a:off x="3520440" y="2423160"/>
            <a:ext cx="14631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700"/>
              <a:buFont typeface="Calibri"/>
              <a:buNone/>
            </a:pPr>
            <a:r>
              <a:rPr b="1" i="0" lang="en" sz="800" u="none" cap="none" strike="noStrike">
                <a:solidFill>
                  <a:srgbClr val="DC2626"/>
                </a:solidFill>
                <a:latin typeface="Georgia"/>
                <a:ea typeface="Georgia"/>
                <a:cs typeface="Georgia"/>
                <a:sym typeface="Georgia"/>
              </a:rPr>
              <a:t>WHY IT MATTERS</a:t>
            </a:r>
            <a:endParaRPr i="0" sz="800" u="none" cap="none" strike="noStrike">
              <a:solidFill>
                <a:schemeClr val="dk1"/>
              </a:solidFill>
              <a:latin typeface="Georgia"/>
              <a:ea typeface="Georgia"/>
              <a:cs typeface="Georgia"/>
              <a:sym typeface="Georgia"/>
            </a:endParaRPr>
          </a:p>
        </p:txBody>
      </p:sp>
      <p:sp>
        <p:nvSpPr>
          <p:cNvPr id="127" name="Google Shape;127;p17"/>
          <p:cNvSpPr/>
          <p:nvPr/>
        </p:nvSpPr>
        <p:spPr>
          <a:xfrm>
            <a:off x="3520440" y="2624328"/>
            <a:ext cx="52122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900"/>
              <a:buFont typeface="Calibri"/>
              <a:buNone/>
            </a:pPr>
            <a:r>
              <a:rPr i="0" lang="en" sz="900" u="none" cap="none" strike="noStrike">
                <a:solidFill>
                  <a:srgbClr val="334155"/>
                </a:solidFill>
                <a:latin typeface="Georgia"/>
                <a:ea typeface="Georgia"/>
                <a:cs typeface="Georgia"/>
                <a:sym typeface="Georgia"/>
              </a:rPr>
              <a:t>Terminal loss indicator; triggers write-off and recovery processes</a:t>
            </a:r>
            <a:endParaRPr i="0" sz="900" u="none" cap="none" strike="noStrike">
              <a:solidFill>
                <a:schemeClr val="dk1"/>
              </a:solidFill>
              <a:latin typeface="Georgia"/>
              <a:ea typeface="Georgia"/>
              <a:cs typeface="Georgia"/>
              <a:sym typeface="Georgia"/>
            </a:endParaRPr>
          </a:p>
        </p:txBody>
      </p:sp>
      <p:sp>
        <p:nvSpPr>
          <p:cNvPr id="128" name="Google Shape;128;p17"/>
          <p:cNvSpPr/>
          <p:nvPr/>
        </p:nvSpPr>
        <p:spPr>
          <a:xfrm>
            <a:off x="274320" y="3163824"/>
            <a:ext cx="8595300" cy="7131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7"/>
          <p:cNvSpPr/>
          <p:nvPr/>
        </p:nvSpPr>
        <p:spPr>
          <a:xfrm>
            <a:off x="438912" y="3346704"/>
            <a:ext cx="347400" cy="347400"/>
          </a:xfrm>
          <a:prstGeom prst="ellipse">
            <a:avLst/>
          </a:prstGeom>
          <a:solidFill>
            <a:srgbClr val="0A7C3E"/>
          </a:solidFill>
          <a:ln cap="flat" cmpd="sng" w="12700">
            <a:solidFill>
              <a:srgbClr val="0A7C3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7"/>
          <p:cNvSpPr/>
          <p:nvPr/>
        </p:nvSpPr>
        <p:spPr>
          <a:xfrm>
            <a:off x="438912" y="3346704"/>
            <a:ext cx="3474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4</a:t>
            </a:r>
            <a:endParaRPr b="0" i="0" sz="1100" u="none" cap="none" strike="noStrike">
              <a:solidFill>
                <a:schemeClr val="dk1"/>
              </a:solidFill>
              <a:latin typeface="Calibri"/>
              <a:ea typeface="Calibri"/>
              <a:cs typeface="Calibri"/>
              <a:sym typeface="Calibri"/>
            </a:endParaRPr>
          </a:p>
        </p:txBody>
      </p:sp>
      <p:sp>
        <p:nvSpPr>
          <p:cNvPr id="131" name="Google Shape;131;p17"/>
          <p:cNvSpPr/>
          <p:nvPr/>
        </p:nvSpPr>
        <p:spPr>
          <a:xfrm>
            <a:off x="914400" y="3218688"/>
            <a:ext cx="23775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1F3F"/>
              </a:buClr>
              <a:buSzPts val="1100"/>
              <a:buFont typeface="Georgia"/>
              <a:buNone/>
            </a:pPr>
            <a:r>
              <a:rPr b="1" lang="en" sz="1100">
                <a:solidFill>
                  <a:srgbClr val="0C1F3F"/>
                </a:solidFill>
                <a:latin typeface="Georgia"/>
                <a:ea typeface="Georgia"/>
                <a:cs typeface="Georgia"/>
                <a:sym typeface="Georgia"/>
              </a:rPr>
              <a:t>Impaired Rate</a:t>
            </a:r>
            <a:endParaRPr b="0" i="0" sz="1100" u="none" cap="none" strike="noStrike">
              <a:solidFill>
                <a:schemeClr val="dk1"/>
              </a:solidFill>
              <a:latin typeface="Calibri"/>
              <a:ea typeface="Calibri"/>
              <a:cs typeface="Calibri"/>
              <a:sym typeface="Calibri"/>
            </a:endParaRPr>
          </a:p>
        </p:txBody>
      </p:sp>
      <p:sp>
        <p:nvSpPr>
          <p:cNvPr id="132" name="Google Shape;132;p17"/>
          <p:cNvSpPr/>
          <p:nvPr/>
        </p:nvSpPr>
        <p:spPr>
          <a:xfrm>
            <a:off x="914400" y="3511296"/>
            <a:ext cx="23775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50"/>
              <a:buFont typeface="Calibri"/>
              <a:buNone/>
            </a:pPr>
            <a:r>
              <a:rPr lang="en" sz="850">
                <a:solidFill>
                  <a:srgbClr val="64748B"/>
                </a:solidFill>
                <a:latin typeface="Georgia"/>
                <a:ea typeface="Georgia"/>
                <a:cs typeface="Georgia"/>
                <a:sym typeface="Georgia"/>
              </a:rPr>
              <a:t>%of the total loan portfolio (or total active loans)</a:t>
            </a:r>
            <a:endParaRPr i="0" sz="850" u="none" cap="none" strike="noStrike">
              <a:solidFill>
                <a:schemeClr val="dk1"/>
              </a:solidFill>
              <a:latin typeface="Georgia"/>
              <a:ea typeface="Georgia"/>
              <a:cs typeface="Georgia"/>
              <a:sym typeface="Georgia"/>
            </a:endParaRPr>
          </a:p>
        </p:txBody>
      </p:sp>
      <p:sp>
        <p:nvSpPr>
          <p:cNvPr id="133" name="Google Shape;133;p17"/>
          <p:cNvSpPr/>
          <p:nvPr/>
        </p:nvSpPr>
        <p:spPr>
          <a:xfrm>
            <a:off x="3383280" y="3273552"/>
            <a:ext cx="27300" cy="493800"/>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7"/>
          <p:cNvSpPr/>
          <p:nvPr/>
        </p:nvSpPr>
        <p:spPr>
          <a:xfrm>
            <a:off x="3520440" y="3218688"/>
            <a:ext cx="14631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7C3E"/>
              </a:buClr>
              <a:buSzPts val="700"/>
              <a:buFont typeface="Calibri"/>
              <a:buNone/>
            </a:pPr>
            <a:r>
              <a:rPr b="1" i="0" lang="en" sz="800" u="none" cap="none" strike="noStrike">
                <a:solidFill>
                  <a:srgbClr val="0A7C3E"/>
                </a:solidFill>
                <a:latin typeface="Georgia"/>
                <a:ea typeface="Georgia"/>
                <a:cs typeface="Georgia"/>
                <a:sym typeface="Georgia"/>
              </a:rPr>
              <a:t>WHY IT MATTERS</a:t>
            </a:r>
            <a:endParaRPr i="0" sz="800" u="none" cap="none" strike="noStrike">
              <a:solidFill>
                <a:schemeClr val="dk1"/>
              </a:solidFill>
              <a:latin typeface="Georgia"/>
              <a:ea typeface="Georgia"/>
              <a:cs typeface="Georgia"/>
              <a:sym typeface="Georgia"/>
            </a:endParaRPr>
          </a:p>
        </p:txBody>
      </p:sp>
      <p:sp>
        <p:nvSpPr>
          <p:cNvPr id="135" name="Google Shape;135;p17"/>
          <p:cNvSpPr/>
          <p:nvPr/>
        </p:nvSpPr>
        <p:spPr>
          <a:xfrm>
            <a:off x="3520440" y="3419856"/>
            <a:ext cx="52122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900"/>
              <a:buFont typeface="Calibri"/>
              <a:buNone/>
            </a:pPr>
            <a:r>
              <a:rPr lang="en" sz="900">
                <a:solidFill>
                  <a:srgbClr val="334155"/>
                </a:solidFill>
                <a:latin typeface="Georgia"/>
                <a:ea typeface="Georgia"/>
                <a:cs typeface="Georgia"/>
                <a:sym typeface="Georgia"/>
              </a:rPr>
              <a:t>Shows the proportion of risky or non-performing loans.</a:t>
            </a:r>
            <a:endParaRPr i="0" sz="900" u="none" cap="none" strike="noStrike">
              <a:solidFill>
                <a:schemeClr val="dk1"/>
              </a:solidFill>
              <a:latin typeface="Georgia"/>
              <a:ea typeface="Georgia"/>
              <a:cs typeface="Georgia"/>
              <a:sym typeface="Georgia"/>
            </a:endParaRPr>
          </a:p>
        </p:txBody>
      </p:sp>
      <p:sp>
        <p:nvSpPr>
          <p:cNvPr id="136" name="Google Shape;136;p17"/>
          <p:cNvSpPr/>
          <p:nvPr/>
        </p:nvSpPr>
        <p:spPr>
          <a:xfrm>
            <a:off x="274320" y="3959352"/>
            <a:ext cx="8595300" cy="7131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7"/>
          <p:cNvSpPr/>
          <p:nvPr/>
        </p:nvSpPr>
        <p:spPr>
          <a:xfrm>
            <a:off x="438912" y="4142232"/>
            <a:ext cx="347400" cy="347400"/>
          </a:xfrm>
          <a:prstGeom prst="ellipse">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7"/>
          <p:cNvSpPr/>
          <p:nvPr/>
        </p:nvSpPr>
        <p:spPr>
          <a:xfrm>
            <a:off x="438912" y="4142232"/>
            <a:ext cx="3474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5</a:t>
            </a:r>
            <a:endParaRPr b="0" i="0" sz="1100" u="none" cap="none" strike="noStrike">
              <a:solidFill>
                <a:schemeClr val="dk1"/>
              </a:solidFill>
              <a:latin typeface="Calibri"/>
              <a:ea typeface="Calibri"/>
              <a:cs typeface="Calibri"/>
              <a:sym typeface="Calibri"/>
            </a:endParaRPr>
          </a:p>
        </p:txBody>
      </p:sp>
      <p:sp>
        <p:nvSpPr>
          <p:cNvPr id="139" name="Google Shape;139;p17"/>
          <p:cNvSpPr/>
          <p:nvPr/>
        </p:nvSpPr>
        <p:spPr>
          <a:xfrm>
            <a:off x="914400" y="4014216"/>
            <a:ext cx="23775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1F3F"/>
              </a:buClr>
              <a:buSzPts val="1100"/>
              <a:buFont typeface="Georgia"/>
              <a:buNone/>
            </a:pPr>
            <a:r>
              <a:rPr b="1" i="0" lang="en" sz="1100" u="none" cap="none" strike="noStrike">
                <a:solidFill>
                  <a:srgbClr val="0C1F3F"/>
                </a:solidFill>
                <a:latin typeface="Georgia"/>
                <a:ea typeface="Georgia"/>
                <a:cs typeface="Georgia"/>
                <a:sym typeface="Georgia"/>
              </a:rPr>
              <a:t>Avg Arrears / Impaired</a:t>
            </a:r>
            <a:endParaRPr i="0" sz="1100" u="none" cap="none" strike="noStrike">
              <a:solidFill>
                <a:schemeClr val="dk1"/>
              </a:solidFill>
              <a:latin typeface="Georgia"/>
              <a:ea typeface="Georgia"/>
              <a:cs typeface="Georgia"/>
              <a:sym typeface="Georgia"/>
            </a:endParaRPr>
          </a:p>
        </p:txBody>
      </p:sp>
      <p:sp>
        <p:nvSpPr>
          <p:cNvPr id="140" name="Google Shape;140;p17"/>
          <p:cNvSpPr/>
          <p:nvPr/>
        </p:nvSpPr>
        <p:spPr>
          <a:xfrm>
            <a:off x="914400" y="4306824"/>
            <a:ext cx="23775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50"/>
              <a:buFont typeface="Calibri"/>
              <a:buNone/>
            </a:pPr>
            <a:r>
              <a:rPr i="0" lang="en" sz="850" u="none" cap="none" strike="noStrike">
                <a:solidFill>
                  <a:srgbClr val="64748B"/>
                </a:solidFill>
                <a:latin typeface="Georgia"/>
                <a:ea typeface="Georgia"/>
                <a:cs typeface="Georgia"/>
                <a:sym typeface="Georgia"/>
              </a:rPr>
              <a:t>Mean arrears balance across accounts with any DPD</a:t>
            </a:r>
            <a:endParaRPr i="0" sz="850" u="none" cap="none" strike="noStrike">
              <a:solidFill>
                <a:schemeClr val="dk1"/>
              </a:solidFill>
              <a:latin typeface="Georgia"/>
              <a:ea typeface="Georgia"/>
              <a:cs typeface="Georgia"/>
              <a:sym typeface="Georgia"/>
            </a:endParaRPr>
          </a:p>
        </p:txBody>
      </p:sp>
      <p:sp>
        <p:nvSpPr>
          <p:cNvPr id="141" name="Google Shape;141;p17"/>
          <p:cNvSpPr/>
          <p:nvPr/>
        </p:nvSpPr>
        <p:spPr>
          <a:xfrm>
            <a:off x="3383280" y="4069080"/>
            <a:ext cx="27300" cy="493800"/>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7"/>
          <p:cNvSpPr/>
          <p:nvPr/>
        </p:nvSpPr>
        <p:spPr>
          <a:xfrm>
            <a:off x="3520440" y="4014216"/>
            <a:ext cx="14631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700"/>
              <a:buFont typeface="Calibri"/>
              <a:buNone/>
            </a:pPr>
            <a:r>
              <a:rPr b="1" i="0" lang="en" sz="800" u="none" cap="none" strike="noStrike">
                <a:solidFill>
                  <a:srgbClr val="7C3AED"/>
                </a:solidFill>
                <a:latin typeface="Georgia"/>
                <a:ea typeface="Georgia"/>
                <a:cs typeface="Georgia"/>
                <a:sym typeface="Georgia"/>
              </a:rPr>
              <a:t>WHY IT MATTERS</a:t>
            </a:r>
            <a:endParaRPr i="0" sz="800" u="none" cap="none" strike="noStrike">
              <a:solidFill>
                <a:schemeClr val="dk1"/>
              </a:solidFill>
              <a:latin typeface="Georgia"/>
              <a:ea typeface="Georgia"/>
              <a:cs typeface="Georgia"/>
              <a:sym typeface="Georgia"/>
            </a:endParaRPr>
          </a:p>
        </p:txBody>
      </p:sp>
      <p:sp>
        <p:nvSpPr>
          <p:cNvPr id="143" name="Google Shape;143;p17"/>
          <p:cNvSpPr/>
          <p:nvPr/>
        </p:nvSpPr>
        <p:spPr>
          <a:xfrm>
            <a:off x="3520440" y="4215384"/>
            <a:ext cx="52122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900"/>
              <a:buFont typeface="Calibri"/>
              <a:buNone/>
            </a:pPr>
            <a:r>
              <a:rPr i="0" lang="en" sz="900" u="none" cap="none" strike="noStrike">
                <a:solidFill>
                  <a:srgbClr val="334155"/>
                </a:solidFill>
                <a:latin typeface="Georgia"/>
                <a:ea typeface="Georgia"/>
                <a:cs typeface="Georgia"/>
                <a:sym typeface="Georgia"/>
              </a:rPr>
              <a:t>Drives collections workload; input for agent capacity planning</a:t>
            </a:r>
            <a:endParaRPr i="0" sz="900" u="none" cap="none" strike="noStrike">
              <a:solidFill>
                <a:schemeClr val="dk1"/>
              </a:solidFill>
              <a:latin typeface="Georgia"/>
              <a:ea typeface="Georgia"/>
              <a:cs typeface="Georgia"/>
              <a:sym typeface="Georgi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48" name="Shape 148"/>
        <p:cNvGrpSpPr/>
        <p:nvPr/>
      </p:nvGrpSpPr>
      <p:grpSpPr>
        <a:xfrm>
          <a:off x="0" y="0"/>
          <a:ext cx="0" cy="0"/>
          <a:chOff x="0" y="0"/>
          <a:chExt cx="0" cy="0"/>
        </a:xfrm>
      </p:grpSpPr>
      <p:sp>
        <p:nvSpPr>
          <p:cNvPr id="149" name="Google Shape;149;p18"/>
          <p:cNvSpPr/>
          <p:nvPr/>
        </p:nvSpPr>
        <p:spPr>
          <a:xfrm>
            <a:off x="0" y="0"/>
            <a:ext cx="9144000" cy="640200"/>
          </a:xfrm>
          <a:prstGeom prst="rect">
            <a:avLst/>
          </a:prstGeom>
          <a:solidFill>
            <a:srgbClr val="0C1F3F"/>
          </a:solidFill>
          <a:ln cap="flat" cmpd="sng" w="12700">
            <a:solidFill>
              <a:srgbClr val="0C1F3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8"/>
          <p:cNvSpPr/>
          <p:nvPr/>
        </p:nvSpPr>
        <p:spPr>
          <a:xfrm>
            <a:off x="365760" y="0"/>
            <a:ext cx="77724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Georgia"/>
              <a:buNone/>
            </a:pPr>
            <a:r>
              <a:rPr b="1" i="0" lang="en" sz="1800" u="none" cap="none" strike="noStrike">
                <a:solidFill>
                  <a:srgbClr val="FFFFFF"/>
                </a:solidFill>
                <a:latin typeface="Georgia"/>
                <a:ea typeface="Georgia"/>
                <a:cs typeface="Georgia"/>
                <a:sym typeface="Georgia"/>
              </a:rPr>
              <a:t>Q1 — Segment Risk: 1</a:t>
            </a:r>
            <a:r>
              <a:rPr b="1" lang="en" sz="1800">
                <a:solidFill>
                  <a:srgbClr val="FFFFFF"/>
                </a:solidFill>
                <a:latin typeface="Georgia"/>
                <a:ea typeface="Georgia"/>
                <a:cs typeface="Georgia"/>
                <a:sym typeface="Georgia"/>
              </a:rPr>
              <a:t>9</a:t>
            </a:r>
            <a:r>
              <a:rPr b="1" i="0" lang="en" sz="1800" u="none" cap="none" strike="noStrike">
                <a:solidFill>
                  <a:srgbClr val="FFFFFF"/>
                </a:solidFill>
                <a:latin typeface="Georgia"/>
                <a:ea typeface="Georgia"/>
                <a:cs typeface="Georgia"/>
                <a:sym typeface="Georgia"/>
              </a:rPr>
              <a:t>–25 Cohort is the Key Risk Driver</a:t>
            </a:r>
            <a:endParaRPr b="0" i="0" sz="1800" u="none" cap="none" strike="noStrike">
              <a:solidFill>
                <a:schemeClr val="dk1"/>
              </a:solidFill>
              <a:latin typeface="Calibri"/>
              <a:ea typeface="Calibri"/>
              <a:cs typeface="Calibri"/>
              <a:sym typeface="Calibri"/>
            </a:endParaRPr>
          </a:p>
        </p:txBody>
      </p:sp>
      <p:sp>
        <p:nvSpPr>
          <p:cNvPr id="151" name="Google Shape;151;p18"/>
          <p:cNvSpPr/>
          <p:nvPr/>
        </p:nvSpPr>
        <p:spPr>
          <a:xfrm>
            <a:off x="8229600" y="0"/>
            <a:ext cx="640200" cy="640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lang="en" sz="900">
                <a:solidFill>
                  <a:srgbClr val="64748B"/>
                </a:solidFill>
                <a:latin typeface="Calibri"/>
                <a:ea typeface="Calibri"/>
                <a:cs typeface="Calibri"/>
                <a:sym typeface="Calibri"/>
              </a:rPr>
              <a:t>3</a:t>
            </a:r>
            <a:r>
              <a:rPr b="0" i="0" lang="en" sz="900" u="none" cap="none" strike="noStrike">
                <a:solidFill>
                  <a:srgbClr val="64748B"/>
                </a:solidFill>
                <a:latin typeface="Calibri"/>
                <a:ea typeface="Calibri"/>
                <a:cs typeface="Calibri"/>
                <a:sym typeface="Calibri"/>
              </a:rPr>
              <a:t> / 12</a:t>
            </a:r>
            <a:endParaRPr b="0" i="0" sz="900" u="none" cap="none" strike="noStrike">
              <a:solidFill>
                <a:schemeClr val="dk1"/>
              </a:solidFill>
              <a:latin typeface="Calibri"/>
              <a:ea typeface="Calibri"/>
              <a:cs typeface="Calibri"/>
              <a:sym typeface="Calibri"/>
            </a:endParaRPr>
          </a:p>
        </p:txBody>
      </p:sp>
      <p:sp>
        <p:nvSpPr>
          <p:cNvPr id="152" name="Google Shape;152;p18"/>
          <p:cNvSpPr/>
          <p:nvPr/>
        </p:nvSpPr>
        <p:spPr>
          <a:xfrm>
            <a:off x="6035040" y="749808"/>
            <a:ext cx="2834700" cy="32460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8"/>
          <p:cNvSpPr/>
          <p:nvPr/>
        </p:nvSpPr>
        <p:spPr>
          <a:xfrm>
            <a:off x="6035040" y="749808"/>
            <a:ext cx="2834700" cy="438900"/>
          </a:xfrm>
          <a:prstGeom prst="rect">
            <a:avLst/>
          </a:prstGeom>
          <a:solidFill>
            <a:srgbClr val="0C1F3F"/>
          </a:solidFill>
          <a:ln cap="flat" cmpd="sng" w="12700">
            <a:solidFill>
              <a:srgbClr val="0C1F3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8"/>
          <p:cNvSpPr/>
          <p:nvPr/>
        </p:nvSpPr>
        <p:spPr>
          <a:xfrm>
            <a:off x="6035040" y="749808"/>
            <a:ext cx="2834700" cy="438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KEY FINDINGS</a:t>
            </a:r>
            <a:endParaRPr b="0" i="0" sz="1000" u="none" cap="none" strike="noStrike">
              <a:solidFill>
                <a:schemeClr val="dk1"/>
              </a:solidFill>
              <a:latin typeface="Calibri"/>
              <a:ea typeface="Calibri"/>
              <a:cs typeface="Calibri"/>
              <a:sym typeface="Calibri"/>
            </a:endParaRPr>
          </a:p>
        </p:txBody>
      </p:sp>
      <p:sp>
        <p:nvSpPr>
          <p:cNvPr id="155" name="Google Shape;155;p18"/>
          <p:cNvSpPr/>
          <p:nvPr/>
        </p:nvSpPr>
        <p:spPr>
          <a:xfrm>
            <a:off x="6126480" y="1298448"/>
            <a:ext cx="2651700" cy="5760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Georgia"/>
              <a:ea typeface="Georgia"/>
              <a:cs typeface="Georgia"/>
              <a:sym typeface="Georgia"/>
            </a:endParaRPr>
          </a:p>
        </p:txBody>
      </p:sp>
      <p:sp>
        <p:nvSpPr>
          <p:cNvPr id="156" name="Google Shape;156;p18"/>
          <p:cNvSpPr/>
          <p:nvPr/>
        </p:nvSpPr>
        <p:spPr>
          <a:xfrm>
            <a:off x="6172201" y="1344175"/>
            <a:ext cx="2542200" cy="493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850"/>
              <a:buFont typeface="Calibri"/>
              <a:buNone/>
            </a:pPr>
            <a:r>
              <a:rPr i="0" lang="en" sz="850" u="none" cap="none" strike="noStrike">
                <a:solidFill>
                  <a:srgbClr val="334155"/>
                </a:solidFill>
                <a:latin typeface="Georgia"/>
                <a:ea typeface="Georgia"/>
                <a:cs typeface="Georgia"/>
                <a:sym typeface="Georgia"/>
              </a:rPr>
              <a:t>1</a:t>
            </a:r>
            <a:r>
              <a:rPr lang="en" sz="850">
                <a:solidFill>
                  <a:srgbClr val="334155"/>
                </a:solidFill>
                <a:latin typeface="Georgia"/>
                <a:ea typeface="Georgia"/>
                <a:cs typeface="Georgia"/>
                <a:sym typeface="Georgia"/>
              </a:rPr>
              <a:t>9</a:t>
            </a:r>
            <a:r>
              <a:rPr i="0" lang="en" sz="850" u="none" cap="none" strike="noStrike">
                <a:solidFill>
                  <a:srgbClr val="334155"/>
                </a:solidFill>
                <a:latin typeface="Georgia"/>
                <a:ea typeface="Georgia"/>
                <a:cs typeface="Georgia"/>
                <a:sym typeface="Georgia"/>
              </a:rPr>
              <a:t>–25 NPE rate is ~</a:t>
            </a:r>
            <a:r>
              <a:rPr lang="en" sz="850">
                <a:solidFill>
                  <a:srgbClr val="334155"/>
                </a:solidFill>
                <a:latin typeface="Georgia"/>
                <a:ea typeface="Georgia"/>
                <a:cs typeface="Georgia"/>
                <a:sym typeface="Georgia"/>
              </a:rPr>
              <a:t>5.5% </a:t>
            </a:r>
            <a:r>
              <a:rPr i="0" lang="en" sz="850" u="none" cap="none" strike="noStrike">
                <a:solidFill>
                  <a:srgbClr val="334155"/>
                </a:solidFill>
                <a:latin typeface="Georgia"/>
                <a:ea typeface="Georgia"/>
                <a:cs typeface="Georgia"/>
                <a:sym typeface="Georgia"/>
              </a:rPr>
              <a:t> the portfolio average the single highest-risk age segment</a:t>
            </a:r>
            <a:endParaRPr i="0" sz="850" u="none" cap="none" strike="noStrike">
              <a:solidFill>
                <a:schemeClr val="dk1"/>
              </a:solidFill>
              <a:latin typeface="Georgia"/>
              <a:ea typeface="Georgia"/>
              <a:cs typeface="Georgia"/>
              <a:sym typeface="Georgia"/>
            </a:endParaRPr>
          </a:p>
        </p:txBody>
      </p:sp>
      <p:sp>
        <p:nvSpPr>
          <p:cNvPr id="157" name="Google Shape;157;p18"/>
          <p:cNvSpPr/>
          <p:nvPr/>
        </p:nvSpPr>
        <p:spPr>
          <a:xfrm>
            <a:off x="6126480" y="1956816"/>
            <a:ext cx="2651700" cy="5760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8"/>
          <p:cNvSpPr/>
          <p:nvPr/>
        </p:nvSpPr>
        <p:spPr>
          <a:xfrm>
            <a:off x="6172101" y="2002525"/>
            <a:ext cx="2542200" cy="493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850"/>
              <a:buFont typeface="Calibri"/>
              <a:buNone/>
            </a:pPr>
            <a:r>
              <a:rPr i="0" lang="en" sz="850" u="none" cap="none" strike="noStrike">
                <a:solidFill>
                  <a:srgbClr val="334155"/>
                </a:solidFill>
                <a:latin typeface="Georgia"/>
                <a:ea typeface="Georgia"/>
                <a:cs typeface="Georgia"/>
                <a:sym typeface="Georgia"/>
              </a:rPr>
              <a:t>26–35 cohort is </a:t>
            </a:r>
            <a:r>
              <a:rPr lang="en" sz="850">
                <a:solidFill>
                  <a:srgbClr val="334155"/>
                </a:solidFill>
                <a:latin typeface="Georgia"/>
                <a:ea typeface="Georgia"/>
                <a:cs typeface="Georgia"/>
                <a:sym typeface="Georgia"/>
              </a:rPr>
              <a:t>slightly </a:t>
            </a:r>
            <a:r>
              <a:rPr i="0" lang="en" sz="850" u="none" cap="none" strike="noStrike">
                <a:solidFill>
                  <a:srgbClr val="334155"/>
                </a:solidFill>
                <a:latin typeface="Georgia"/>
                <a:ea typeface="Georgia"/>
                <a:cs typeface="Georgia"/>
                <a:sym typeface="Georgia"/>
              </a:rPr>
              <a:t> </a:t>
            </a:r>
            <a:r>
              <a:rPr lang="en" sz="850">
                <a:solidFill>
                  <a:srgbClr val="334155"/>
                </a:solidFill>
                <a:latin typeface="Georgia"/>
                <a:ea typeface="Georgia"/>
                <a:cs typeface="Georgia"/>
                <a:sym typeface="Georgia"/>
              </a:rPr>
              <a:t>below </a:t>
            </a:r>
            <a:r>
              <a:rPr i="0" lang="en" sz="850" u="none" cap="none" strike="noStrike">
                <a:solidFill>
                  <a:srgbClr val="334155"/>
                </a:solidFill>
                <a:latin typeface="Georgia"/>
                <a:ea typeface="Georgia"/>
                <a:cs typeface="Georgia"/>
                <a:sym typeface="Georgia"/>
              </a:rPr>
              <a:t> average, likely due to informal employment income variability</a:t>
            </a:r>
            <a:endParaRPr i="0" sz="850" u="none" cap="none" strike="noStrike">
              <a:solidFill>
                <a:schemeClr val="dk1"/>
              </a:solidFill>
              <a:latin typeface="Georgia"/>
              <a:ea typeface="Georgia"/>
              <a:cs typeface="Georgia"/>
              <a:sym typeface="Georgia"/>
            </a:endParaRPr>
          </a:p>
        </p:txBody>
      </p:sp>
      <p:sp>
        <p:nvSpPr>
          <p:cNvPr id="159" name="Google Shape;159;p18"/>
          <p:cNvSpPr/>
          <p:nvPr/>
        </p:nvSpPr>
        <p:spPr>
          <a:xfrm>
            <a:off x="6126480" y="2615184"/>
            <a:ext cx="2651700" cy="5760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8"/>
          <p:cNvSpPr/>
          <p:nvPr/>
        </p:nvSpPr>
        <p:spPr>
          <a:xfrm>
            <a:off x="6172200" y="2706624"/>
            <a:ext cx="3657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1" name="Google Shape;161;p18"/>
          <p:cNvSpPr/>
          <p:nvPr/>
        </p:nvSpPr>
        <p:spPr>
          <a:xfrm>
            <a:off x="6172225" y="2660900"/>
            <a:ext cx="2542200" cy="493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850"/>
              <a:buFont typeface="Calibri"/>
              <a:buNone/>
            </a:pPr>
            <a:r>
              <a:rPr lang="en" sz="850">
                <a:solidFill>
                  <a:srgbClr val="334155"/>
                </a:solidFill>
                <a:latin typeface="Georgia"/>
                <a:ea typeface="Georgia"/>
                <a:cs typeface="Georgia"/>
                <a:sym typeface="Georgia"/>
              </a:rPr>
              <a:t>46</a:t>
            </a:r>
            <a:r>
              <a:rPr i="0" lang="en" sz="850" u="none" cap="none" strike="noStrike">
                <a:solidFill>
                  <a:srgbClr val="334155"/>
                </a:solidFill>
                <a:latin typeface="Georgia"/>
                <a:ea typeface="Georgia"/>
                <a:cs typeface="Georgia"/>
                <a:sym typeface="Georgia"/>
              </a:rPr>
              <a:t>–55 customers show </a:t>
            </a:r>
            <a:r>
              <a:rPr lang="en" sz="850">
                <a:solidFill>
                  <a:srgbClr val="334155"/>
                </a:solidFill>
                <a:latin typeface="Georgia"/>
                <a:ea typeface="Georgia"/>
                <a:cs typeface="Georgia"/>
                <a:sym typeface="Georgia"/>
              </a:rPr>
              <a:t>low </a:t>
            </a:r>
            <a:r>
              <a:rPr i="0" lang="en" sz="850" u="none" cap="none" strike="noStrike">
                <a:solidFill>
                  <a:srgbClr val="334155"/>
                </a:solidFill>
                <a:latin typeface="Georgia"/>
                <a:ea typeface="Georgia"/>
                <a:cs typeface="Georgia"/>
                <a:sym typeface="Georgia"/>
              </a:rPr>
              <a:t> risk, consistent with income stability at peak earning years</a:t>
            </a:r>
            <a:endParaRPr i="0" sz="850" u="none" cap="none" strike="noStrike">
              <a:solidFill>
                <a:schemeClr val="dk1"/>
              </a:solidFill>
              <a:latin typeface="Georgia"/>
              <a:ea typeface="Georgia"/>
              <a:cs typeface="Georgia"/>
              <a:sym typeface="Georgia"/>
            </a:endParaRPr>
          </a:p>
        </p:txBody>
      </p:sp>
      <p:sp>
        <p:nvSpPr>
          <p:cNvPr id="162" name="Google Shape;162;p18"/>
          <p:cNvSpPr/>
          <p:nvPr/>
        </p:nvSpPr>
        <p:spPr>
          <a:xfrm>
            <a:off x="6126480" y="3273552"/>
            <a:ext cx="2651700" cy="5760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8"/>
          <p:cNvSpPr/>
          <p:nvPr/>
        </p:nvSpPr>
        <p:spPr>
          <a:xfrm>
            <a:off x="6172200" y="3364992"/>
            <a:ext cx="3657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400"/>
              <a:buFont typeface="Calibri"/>
              <a:buNone/>
            </a:pPr>
            <a:r>
              <a:rPr b="0" i="0" lang="en" sz="1400" u="none" cap="none" strike="noStrike">
                <a:solidFill>
                  <a:srgbClr val="000000"/>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64" name="Google Shape;164;p18"/>
          <p:cNvSpPr/>
          <p:nvPr/>
        </p:nvSpPr>
        <p:spPr>
          <a:xfrm>
            <a:off x="6565392" y="3319272"/>
            <a:ext cx="2148900" cy="493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850"/>
              <a:buFont typeface="Calibri"/>
              <a:buNone/>
            </a:pPr>
            <a:r>
              <a:rPr b="0" i="0" lang="en" sz="850" u="none" cap="none" strike="noStrike">
                <a:solidFill>
                  <a:srgbClr val="334155"/>
                </a:solidFill>
                <a:latin typeface="Calibri"/>
                <a:ea typeface="Calibri"/>
                <a:cs typeface="Calibri"/>
                <a:sym typeface="Calibri"/>
              </a:rPr>
              <a:t>Operationally: apply age-band multiplier in scorecard; tighten approval LTV for &lt;2</a:t>
            </a:r>
            <a:r>
              <a:rPr lang="en" sz="850">
                <a:solidFill>
                  <a:srgbClr val="334155"/>
                </a:solidFill>
                <a:latin typeface="Calibri"/>
                <a:ea typeface="Calibri"/>
                <a:cs typeface="Calibri"/>
                <a:sym typeface="Calibri"/>
              </a:rPr>
              <a:t>6</a:t>
            </a:r>
            <a:r>
              <a:rPr b="0" i="0" lang="en" sz="850" u="none" cap="none" strike="noStrike">
                <a:solidFill>
                  <a:srgbClr val="334155"/>
                </a:solidFill>
                <a:latin typeface="Calibri"/>
                <a:ea typeface="Calibri"/>
                <a:cs typeface="Calibri"/>
                <a:sym typeface="Calibri"/>
              </a:rPr>
              <a:t> applicants</a:t>
            </a:r>
            <a:endParaRPr b="0" i="0" sz="850" u="none" cap="none" strike="noStrike">
              <a:solidFill>
                <a:schemeClr val="dk1"/>
              </a:solidFill>
              <a:latin typeface="Calibri"/>
              <a:ea typeface="Calibri"/>
              <a:cs typeface="Calibri"/>
              <a:sym typeface="Calibri"/>
            </a:endParaRPr>
          </a:p>
        </p:txBody>
      </p:sp>
      <p:sp>
        <p:nvSpPr>
          <p:cNvPr id="165" name="Google Shape;165;p18"/>
          <p:cNvSpPr/>
          <p:nvPr/>
        </p:nvSpPr>
        <p:spPr>
          <a:xfrm>
            <a:off x="274320" y="4114800"/>
            <a:ext cx="8595300" cy="822900"/>
          </a:xfrm>
          <a:prstGeom prst="rect">
            <a:avLst/>
          </a:prstGeom>
          <a:solidFill>
            <a:srgbClr val="FFF7ED"/>
          </a:solidFill>
          <a:ln cap="flat" cmpd="sng" w="12700">
            <a:solidFill>
              <a:srgbClr val="D977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8"/>
          <p:cNvSpPr/>
          <p:nvPr/>
        </p:nvSpPr>
        <p:spPr>
          <a:xfrm>
            <a:off x="457200" y="4151376"/>
            <a:ext cx="36576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900"/>
              <a:buFont typeface="Calibri"/>
              <a:buNone/>
            </a:pPr>
            <a:r>
              <a:rPr b="1" i="0" lang="en" sz="900" u="none" cap="none" strike="noStrike">
                <a:solidFill>
                  <a:srgbClr val="D97706"/>
                </a:solidFill>
                <a:latin typeface="Calibri"/>
                <a:ea typeface="Calibri"/>
                <a:cs typeface="Calibri"/>
                <a:sym typeface="Calibri"/>
              </a:rPr>
              <a:t> Operational Implication</a:t>
            </a:r>
            <a:endParaRPr b="0" i="0" sz="900" u="none" cap="none" strike="noStrike">
              <a:solidFill>
                <a:schemeClr val="dk1"/>
              </a:solidFill>
              <a:latin typeface="Calibri"/>
              <a:ea typeface="Calibri"/>
              <a:cs typeface="Calibri"/>
              <a:sym typeface="Calibri"/>
            </a:endParaRPr>
          </a:p>
        </p:txBody>
      </p:sp>
      <p:sp>
        <p:nvSpPr>
          <p:cNvPr id="167" name="Google Shape;167;p18"/>
          <p:cNvSpPr/>
          <p:nvPr/>
        </p:nvSpPr>
        <p:spPr>
          <a:xfrm>
            <a:off x="457200" y="4407408"/>
            <a:ext cx="83211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850"/>
              <a:buFont typeface="Calibri"/>
              <a:buNone/>
            </a:pPr>
            <a:r>
              <a:rPr i="0" lang="en" sz="850" u="none" cap="none" strike="noStrike">
                <a:solidFill>
                  <a:srgbClr val="334155"/>
                </a:solidFill>
                <a:latin typeface="Georgia"/>
                <a:ea typeface="Georgia"/>
                <a:cs typeface="Georgia"/>
                <a:sym typeface="Georgia"/>
              </a:rPr>
              <a:t>The 1</a:t>
            </a:r>
            <a:r>
              <a:rPr lang="en" sz="850">
                <a:solidFill>
                  <a:srgbClr val="334155"/>
                </a:solidFill>
                <a:latin typeface="Georgia"/>
                <a:ea typeface="Georgia"/>
                <a:cs typeface="Georgia"/>
                <a:sym typeface="Georgia"/>
              </a:rPr>
              <a:t>9</a:t>
            </a:r>
            <a:r>
              <a:rPr i="0" lang="en" sz="850" u="none" cap="none" strike="noStrike">
                <a:solidFill>
                  <a:srgbClr val="334155"/>
                </a:solidFill>
                <a:latin typeface="Georgia"/>
                <a:ea typeface="Georgia"/>
                <a:cs typeface="Georgia"/>
                <a:sym typeface="Georgia"/>
              </a:rPr>
              <a:t>–25 cohort likely has shorter credit histories, making default prediction harder with standard scorecards. Provisioning models that ignore age-band risk will understate expected credit loss. Recommend: (1) route &lt;2</a:t>
            </a:r>
            <a:r>
              <a:rPr lang="en" sz="850">
                <a:solidFill>
                  <a:srgbClr val="334155"/>
                </a:solidFill>
                <a:latin typeface="Georgia"/>
                <a:ea typeface="Georgia"/>
                <a:cs typeface="Georgia"/>
                <a:sym typeface="Georgia"/>
              </a:rPr>
              <a:t>6</a:t>
            </a:r>
            <a:r>
              <a:rPr i="0" lang="en" sz="850" u="none" cap="none" strike="noStrike">
                <a:solidFill>
                  <a:srgbClr val="334155"/>
                </a:solidFill>
                <a:latin typeface="Georgia"/>
                <a:ea typeface="Georgia"/>
                <a:cs typeface="Georgia"/>
                <a:sym typeface="Georgia"/>
              </a:rPr>
              <a:t> applications to enhanced underwriting, (2) increase deposit/downpayment for this segment.</a:t>
            </a:r>
            <a:endParaRPr i="0" sz="850" u="none" cap="none" strike="noStrike">
              <a:solidFill>
                <a:schemeClr val="dk1"/>
              </a:solidFill>
              <a:latin typeface="Georgia"/>
              <a:ea typeface="Georgia"/>
              <a:cs typeface="Georgia"/>
              <a:sym typeface="Georgia"/>
            </a:endParaRPr>
          </a:p>
        </p:txBody>
      </p:sp>
      <p:pic>
        <p:nvPicPr>
          <p:cNvPr id="168" name="Google Shape;168;p18"/>
          <p:cNvPicPr preferRelativeResize="0"/>
          <p:nvPr/>
        </p:nvPicPr>
        <p:blipFill>
          <a:blip r:embed="rId3">
            <a:alphaModFix/>
          </a:blip>
          <a:stretch>
            <a:fillRect/>
          </a:stretch>
        </p:blipFill>
        <p:spPr>
          <a:xfrm>
            <a:off x="152400" y="792600"/>
            <a:ext cx="5322467" cy="31698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73" name="Shape 173"/>
        <p:cNvGrpSpPr/>
        <p:nvPr/>
      </p:nvGrpSpPr>
      <p:grpSpPr>
        <a:xfrm>
          <a:off x="0" y="0"/>
          <a:ext cx="0" cy="0"/>
          <a:chOff x="0" y="0"/>
          <a:chExt cx="0" cy="0"/>
        </a:xfrm>
      </p:grpSpPr>
      <p:sp>
        <p:nvSpPr>
          <p:cNvPr id="174" name="Google Shape;174;p19"/>
          <p:cNvSpPr/>
          <p:nvPr/>
        </p:nvSpPr>
        <p:spPr>
          <a:xfrm>
            <a:off x="0" y="0"/>
            <a:ext cx="9144000" cy="640200"/>
          </a:xfrm>
          <a:prstGeom prst="rect">
            <a:avLst/>
          </a:prstGeom>
          <a:solidFill>
            <a:srgbClr val="0C1F3F"/>
          </a:solidFill>
          <a:ln cap="flat" cmpd="sng" w="12700">
            <a:solidFill>
              <a:srgbClr val="0C1F3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9"/>
          <p:cNvSpPr/>
          <p:nvPr/>
        </p:nvSpPr>
        <p:spPr>
          <a:xfrm>
            <a:off x="365760" y="0"/>
            <a:ext cx="77724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Georgia"/>
              <a:buNone/>
            </a:pPr>
            <a:r>
              <a:rPr b="1" i="0" lang="en" sz="2000" u="none" cap="none" strike="noStrike">
                <a:solidFill>
                  <a:srgbClr val="FFFFFF"/>
                </a:solidFill>
                <a:latin typeface="Georgia"/>
                <a:ea typeface="Georgia"/>
                <a:cs typeface="Georgia"/>
                <a:sym typeface="Georgia"/>
              </a:rPr>
              <a:t>Q1 — Portfolio Trend: Jan–Dec 202</a:t>
            </a:r>
            <a:r>
              <a:rPr b="1" lang="en" sz="2000">
                <a:solidFill>
                  <a:srgbClr val="FFFFFF"/>
                </a:solidFill>
                <a:latin typeface="Georgia"/>
                <a:ea typeface="Georgia"/>
                <a:cs typeface="Georgia"/>
                <a:sym typeface="Georgia"/>
              </a:rPr>
              <a:t>5</a:t>
            </a:r>
            <a:endParaRPr b="0" i="0" sz="2000" u="none" cap="none" strike="noStrike">
              <a:solidFill>
                <a:schemeClr val="dk1"/>
              </a:solidFill>
              <a:latin typeface="Calibri"/>
              <a:ea typeface="Calibri"/>
              <a:cs typeface="Calibri"/>
              <a:sym typeface="Calibri"/>
            </a:endParaRPr>
          </a:p>
        </p:txBody>
      </p:sp>
      <p:sp>
        <p:nvSpPr>
          <p:cNvPr id="176" name="Google Shape;176;p19"/>
          <p:cNvSpPr/>
          <p:nvPr/>
        </p:nvSpPr>
        <p:spPr>
          <a:xfrm>
            <a:off x="8229600" y="0"/>
            <a:ext cx="640200" cy="640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lang="en" sz="900">
                <a:solidFill>
                  <a:srgbClr val="64748B"/>
                </a:solidFill>
                <a:latin typeface="Calibri"/>
                <a:ea typeface="Calibri"/>
                <a:cs typeface="Calibri"/>
                <a:sym typeface="Calibri"/>
              </a:rPr>
              <a:t>4</a:t>
            </a:r>
            <a:r>
              <a:rPr b="0" i="0" lang="en" sz="900" u="none" cap="none" strike="noStrike">
                <a:solidFill>
                  <a:srgbClr val="64748B"/>
                </a:solidFill>
                <a:latin typeface="Calibri"/>
                <a:ea typeface="Calibri"/>
                <a:cs typeface="Calibri"/>
                <a:sym typeface="Calibri"/>
              </a:rPr>
              <a:t> / 12</a:t>
            </a:r>
            <a:endParaRPr b="0" i="0" sz="900" u="none" cap="none" strike="noStrike">
              <a:solidFill>
                <a:schemeClr val="dk1"/>
              </a:solidFill>
              <a:latin typeface="Calibri"/>
              <a:ea typeface="Calibri"/>
              <a:cs typeface="Calibri"/>
              <a:sym typeface="Calibri"/>
            </a:endParaRPr>
          </a:p>
        </p:txBody>
      </p:sp>
      <p:sp>
        <p:nvSpPr>
          <p:cNvPr id="177" name="Google Shape;177;p19"/>
          <p:cNvSpPr/>
          <p:nvPr/>
        </p:nvSpPr>
        <p:spPr>
          <a:xfrm>
            <a:off x="274320" y="3822192"/>
            <a:ext cx="2743200" cy="1005900"/>
          </a:xfrm>
          <a:prstGeom prst="rect">
            <a:avLst/>
          </a:prstGeom>
          <a:solidFill>
            <a:srgbClr val="FEF3C7"/>
          </a:solidFill>
          <a:ln cap="flat" cmpd="sng" w="12700">
            <a:solidFill>
              <a:srgbClr val="E2E8F0"/>
            </a:solidFill>
            <a:prstDash val="solid"/>
            <a:round/>
            <a:headEnd len="sm" w="sm" type="none"/>
            <a:tailEnd len="sm" w="sm" type="none"/>
          </a:ln>
          <a:effectLst>
            <a:outerShdw blurRad="101600" rotWithShape="0" algn="bl" dir="81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9"/>
          <p:cNvSpPr/>
          <p:nvPr/>
        </p:nvSpPr>
        <p:spPr>
          <a:xfrm>
            <a:off x="274320" y="3886200"/>
            <a:ext cx="5487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800"/>
              <a:buFont typeface="Calibri"/>
              <a:buNone/>
            </a:pPr>
            <a:r>
              <a:t/>
            </a:r>
            <a:endParaRPr sz="1800">
              <a:latin typeface="Calibri"/>
              <a:ea typeface="Calibri"/>
              <a:cs typeface="Calibri"/>
              <a:sym typeface="Calibri"/>
            </a:endParaRPr>
          </a:p>
          <a:p>
            <a:pPr indent="0" lvl="0" marL="0" marR="0" rtl="0" algn="l">
              <a:spcBef>
                <a:spcPts val="0"/>
              </a:spcBef>
              <a:spcAft>
                <a:spcPts val="0"/>
              </a:spcAft>
              <a:buClr>
                <a:srgbClr val="000000"/>
              </a:buClr>
              <a:buSzPts val="1800"/>
              <a:buFont typeface="Calibri"/>
              <a:buNone/>
            </a:pPr>
            <a:r>
              <a:t/>
            </a:r>
            <a:endParaRPr sz="1800">
              <a:latin typeface="Calibri"/>
              <a:ea typeface="Calibri"/>
              <a:cs typeface="Calibri"/>
              <a:sym typeface="Calibri"/>
            </a:endParaRPr>
          </a:p>
        </p:txBody>
      </p:sp>
      <p:sp>
        <p:nvSpPr>
          <p:cNvPr id="179" name="Google Shape;179;p19"/>
          <p:cNvSpPr/>
          <p:nvPr/>
        </p:nvSpPr>
        <p:spPr>
          <a:xfrm>
            <a:off x="274435" y="3849818"/>
            <a:ext cx="2103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1F3F"/>
              </a:buClr>
              <a:buSzPts val="900"/>
              <a:buFont typeface="Calibri"/>
              <a:buNone/>
            </a:pPr>
            <a:r>
              <a:rPr b="1" i="0" lang="en" sz="900" u="none" cap="none" strike="noStrike">
                <a:solidFill>
                  <a:srgbClr val="0C1F3F"/>
                </a:solidFill>
                <a:latin typeface="Calibri"/>
                <a:ea typeface="Calibri"/>
                <a:cs typeface="Calibri"/>
                <a:sym typeface="Calibri"/>
              </a:rPr>
              <a:t>NPE </a:t>
            </a:r>
            <a:r>
              <a:rPr b="1" lang="en" sz="900">
                <a:solidFill>
                  <a:srgbClr val="0C1F3F"/>
                </a:solidFill>
                <a:latin typeface="Calibri"/>
                <a:ea typeface="Calibri"/>
                <a:cs typeface="Calibri"/>
                <a:sym typeface="Calibri"/>
              </a:rPr>
              <a:t>Rate</a:t>
            </a:r>
            <a:endParaRPr b="0" i="0" sz="900" u="none" cap="none" strike="noStrike">
              <a:solidFill>
                <a:schemeClr val="dk1"/>
              </a:solidFill>
              <a:latin typeface="Calibri"/>
              <a:ea typeface="Calibri"/>
              <a:cs typeface="Calibri"/>
              <a:sym typeface="Calibri"/>
            </a:endParaRPr>
          </a:p>
        </p:txBody>
      </p:sp>
      <p:sp>
        <p:nvSpPr>
          <p:cNvPr id="180" name="Google Shape;180;p19"/>
          <p:cNvSpPr/>
          <p:nvPr/>
        </p:nvSpPr>
        <p:spPr>
          <a:xfrm>
            <a:off x="594360" y="4133088"/>
            <a:ext cx="2103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400"/>
              <a:buFont typeface="Georgia"/>
              <a:buNone/>
            </a:pPr>
            <a:r>
              <a:rPr b="1" lang="en">
                <a:solidFill>
                  <a:srgbClr val="D97706"/>
                </a:solidFill>
                <a:latin typeface="Georgia"/>
                <a:ea typeface="Georgia"/>
                <a:cs typeface="Georgia"/>
                <a:sym typeface="Georgia"/>
              </a:rPr>
              <a:t>45.69%</a:t>
            </a:r>
            <a:endParaRPr b="0" i="0" sz="1400" u="none" cap="none" strike="noStrike">
              <a:solidFill>
                <a:schemeClr val="dk1"/>
              </a:solidFill>
              <a:latin typeface="Calibri"/>
              <a:ea typeface="Calibri"/>
              <a:cs typeface="Calibri"/>
              <a:sym typeface="Calibri"/>
            </a:endParaRPr>
          </a:p>
        </p:txBody>
      </p:sp>
      <p:sp>
        <p:nvSpPr>
          <p:cNvPr id="181" name="Google Shape;181;p19"/>
          <p:cNvSpPr/>
          <p:nvPr/>
        </p:nvSpPr>
        <p:spPr>
          <a:xfrm>
            <a:off x="594360" y="4462272"/>
            <a:ext cx="21030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00"/>
              <a:buFont typeface="Calibri"/>
              <a:buNone/>
            </a:pPr>
            <a:r>
              <a:rPr i="0" lang="en" sz="900" u="none" cap="none" strike="noStrike">
                <a:solidFill>
                  <a:srgbClr val="434343"/>
                </a:solidFill>
                <a:latin typeface="Georgia"/>
                <a:ea typeface="Georgia"/>
                <a:cs typeface="Georgia"/>
                <a:sym typeface="Georgia"/>
              </a:rPr>
              <a:t>Jan to Dec 202</a:t>
            </a:r>
            <a:r>
              <a:rPr lang="en" sz="900">
                <a:solidFill>
                  <a:srgbClr val="434343"/>
                </a:solidFill>
                <a:latin typeface="Georgia"/>
                <a:ea typeface="Georgia"/>
                <a:cs typeface="Georgia"/>
                <a:sym typeface="Georgia"/>
              </a:rPr>
              <a:t>5</a:t>
            </a:r>
            <a:endParaRPr i="0" sz="900" u="none" cap="none" strike="noStrike">
              <a:solidFill>
                <a:srgbClr val="434343"/>
              </a:solidFill>
              <a:latin typeface="Georgia"/>
              <a:ea typeface="Georgia"/>
              <a:cs typeface="Georgia"/>
              <a:sym typeface="Georgia"/>
            </a:endParaRPr>
          </a:p>
        </p:txBody>
      </p:sp>
      <p:sp>
        <p:nvSpPr>
          <p:cNvPr id="182" name="Google Shape;182;p19"/>
          <p:cNvSpPr/>
          <p:nvPr/>
        </p:nvSpPr>
        <p:spPr>
          <a:xfrm>
            <a:off x="3200400" y="3822192"/>
            <a:ext cx="2743200" cy="1005900"/>
          </a:xfrm>
          <a:prstGeom prst="rect">
            <a:avLst/>
          </a:prstGeom>
          <a:solidFill>
            <a:srgbClr val="FEE2E2"/>
          </a:solidFill>
          <a:ln cap="flat" cmpd="sng" w="12700">
            <a:solidFill>
              <a:srgbClr val="E2E8F0"/>
            </a:solidFill>
            <a:prstDash val="solid"/>
            <a:round/>
            <a:headEnd len="sm" w="sm" type="none"/>
            <a:tailEnd len="sm" w="sm" type="none"/>
          </a:ln>
          <a:effectLst>
            <a:outerShdw blurRad="101600" rotWithShape="0" algn="bl" dir="81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9"/>
          <p:cNvSpPr/>
          <p:nvPr/>
        </p:nvSpPr>
        <p:spPr>
          <a:xfrm>
            <a:off x="3200400" y="3886200"/>
            <a:ext cx="5487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800"/>
              <a:buFont typeface="Calibri"/>
              <a:buNone/>
            </a:pPr>
            <a:r>
              <a:t/>
            </a:r>
            <a:endParaRPr sz="1800">
              <a:latin typeface="Calibri"/>
              <a:ea typeface="Calibri"/>
              <a:cs typeface="Calibri"/>
              <a:sym typeface="Calibri"/>
            </a:endParaRPr>
          </a:p>
          <a:p>
            <a:pPr indent="0" lvl="0" marL="0" marR="0" rtl="0" algn="l">
              <a:spcBef>
                <a:spcPts val="0"/>
              </a:spcBef>
              <a:spcAft>
                <a:spcPts val="0"/>
              </a:spcAft>
              <a:buClr>
                <a:srgbClr val="000000"/>
              </a:buClr>
              <a:buSzPts val="1800"/>
              <a:buFont typeface="Calibri"/>
              <a:buNone/>
            </a:pPr>
            <a:r>
              <a:t/>
            </a:r>
            <a:endParaRPr sz="1800">
              <a:latin typeface="Calibri"/>
              <a:ea typeface="Calibri"/>
              <a:cs typeface="Calibri"/>
              <a:sym typeface="Calibri"/>
            </a:endParaRPr>
          </a:p>
          <a:p>
            <a:pPr indent="0" lvl="0" marL="0" marR="0" rtl="0" algn="l">
              <a:spcBef>
                <a:spcPts val="0"/>
              </a:spcBef>
              <a:spcAft>
                <a:spcPts val="0"/>
              </a:spcAft>
              <a:buClr>
                <a:srgbClr val="000000"/>
              </a:buClr>
              <a:buSzPts val="1800"/>
              <a:buFont typeface="Calibri"/>
              <a:buNone/>
            </a:pPr>
            <a:r>
              <a:t/>
            </a:r>
            <a:endParaRPr sz="1800">
              <a:latin typeface="Calibri"/>
              <a:ea typeface="Calibri"/>
              <a:cs typeface="Calibri"/>
              <a:sym typeface="Calibri"/>
            </a:endParaRPr>
          </a:p>
        </p:txBody>
      </p:sp>
      <p:sp>
        <p:nvSpPr>
          <p:cNvPr id="184" name="Google Shape;184;p19"/>
          <p:cNvSpPr/>
          <p:nvPr/>
        </p:nvSpPr>
        <p:spPr>
          <a:xfrm>
            <a:off x="3200440" y="3849818"/>
            <a:ext cx="2103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1F3F"/>
              </a:buClr>
              <a:buSzPts val="900"/>
              <a:buFont typeface="Calibri"/>
              <a:buNone/>
            </a:pPr>
            <a:r>
              <a:rPr b="1" i="0" lang="en" sz="900" u="none" cap="none" strike="noStrike">
                <a:solidFill>
                  <a:srgbClr val="0C1F3F"/>
                </a:solidFill>
                <a:latin typeface="Georgia"/>
                <a:ea typeface="Georgia"/>
                <a:cs typeface="Georgia"/>
                <a:sym typeface="Georgia"/>
              </a:rPr>
              <a:t>Default Rate</a:t>
            </a:r>
            <a:endParaRPr i="0" sz="900" u="none" cap="none" strike="noStrike">
              <a:solidFill>
                <a:schemeClr val="dk1"/>
              </a:solidFill>
              <a:latin typeface="Georgia"/>
              <a:ea typeface="Georgia"/>
              <a:cs typeface="Georgia"/>
              <a:sym typeface="Georgia"/>
            </a:endParaRPr>
          </a:p>
        </p:txBody>
      </p:sp>
      <p:sp>
        <p:nvSpPr>
          <p:cNvPr id="185" name="Google Shape;185;p19"/>
          <p:cNvSpPr/>
          <p:nvPr/>
        </p:nvSpPr>
        <p:spPr>
          <a:xfrm>
            <a:off x="3520440" y="4133088"/>
            <a:ext cx="2103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400"/>
              <a:buFont typeface="Georgia"/>
              <a:buNone/>
            </a:pPr>
            <a:r>
              <a:rPr b="1" lang="en">
                <a:solidFill>
                  <a:srgbClr val="DC2626"/>
                </a:solidFill>
                <a:latin typeface="Georgia"/>
                <a:ea typeface="Georgia"/>
                <a:cs typeface="Georgia"/>
                <a:sym typeface="Georgia"/>
              </a:rPr>
              <a:t>49.51%</a:t>
            </a:r>
            <a:endParaRPr b="0" i="0" sz="1400" u="none" cap="none" strike="noStrike">
              <a:solidFill>
                <a:schemeClr val="dk1"/>
              </a:solidFill>
              <a:latin typeface="Calibri"/>
              <a:ea typeface="Calibri"/>
              <a:cs typeface="Calibri"/>
              <a:sym typeface="Calibri"/>
            </a:endParaRPr>
          </a:p>
        </p:txBody>
      </p:sp>
      <p:sp>
        <p:nvSpPr>
          <p:cNvPr id="186" name="Google Shape;186;p19"/>
          <p:cNvSpPr/>
          <p:nvPr/>
        </p:nvSpPr>
        <p:spPr>
          <a:xfrm>
            <a:off x="3520440" y="4462272"/>
            <a:ext cx="21030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00"/>
              <a:buFont typeface="Calibri"/>
              <a:buNone/>
            </a:pPr>
            <a:r>
              <a:rPr i="0" lang="en" sz="900" u="none" cap="none" strike="noStrike">
                <a:solidFill>
                  <a:srgbClr val="64748B"/>
                </a:solidFill>
                <a:latin typeface="Georgia"/>
                <a:ea typeface="Georgia"/>
                <a:cs typeface="Georgia"/>
                <a:sym typeface="Georgia"/>
              </a:rPr>
              <a:t>S</a:t>
            </a:r>
            <a:r>
              <a:rPr lang="en" sz="900">
                <a:solidFill>
                  <a:srgbClr val="64748B"/>
                </a:solidFill>
                <a:latin typeface="Georgia"/>
                <a:ea typeface="Georgia"/>
                <a:cs typeface="Georgia"/>
                <a:sym typeface="Georgia"/>
              </a:rPr>
              <a:t>XYZGHGJG</a:t>
            </a:r>
            <a:endParaRPr i="0" sz="900" u="none" cap="none" strike="noStrike">
              <a:solidFill>
                <a:schemeClr val="dk1"/>
              </a:solidFill>
              <a:latin typeface="Georgia"/>
              <a:ea typeface="Georgia"/>
              <a:cs typeface="Georgia"/>
              <a:sym typeface="Georgia"/>
            </a:endParaRPr>
          </a:p>
        </p:txBody>
      </p:sp>
      <p:sp>
        <p:nvSpPr>
          <p:cNvPr id="187" name="Google Shape;187;p19"/>
          <p:cNvSpPr/>
          <p:nvPr/>
        </p:nvSpPr>
        <p:spPr>
          <a:xfrm>
            <a:off x="6126480" y="3822192"/>
            <a:ext cx="2743200" cy="1005900"/>
          </a:xfrm>
          <a:prstGeom prst="rect">
            <a:avLst/>
          </a:prstGeom>
          <a:solidFill>
            <a:srgbClr val="DBEAFE"/>
          </a:solidFill>
          <a:ln cap="flat" cmpd="sng" w="12700">
            <a:solidFill>
              <a:srgbClr val="E2E8F0"/>
            </a:solidFill>
            <a:prstDash val="solid"/>
            <a:round/>
            <a:headEnd len="sm" w="sm" type="none"/>
            <a:tailEnd len="sm" w="sm" type="none"/>
          </a:ln>
          <a:effectLst>
            <a:outerShdw blurRad="101600" rotWithShape="0" algn="bl" dir="81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9"/>
          <p:cNvSpPr/>
          <p:nvPr/>
        </p:nvSpPr>
        <p:spPr>
          <a:xfrm>
            <a:off x="6126480" y="3886200"/>
            <a:ext cx="5487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89" name="Google Shape;189;p19"/>
          <p:cNvSpPr/>
          <p:nvPr/>
        </p:nvSpPr>
        <p:spPr>
          <a:xfrm>
            <a:off x="6126470" y="3849818"/>
            <a:ext cx="2103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1F3F"/>
              </a:buClr>
              <a:buSzPts val="900"/>
              <a:buFont typeface="Calibri"/>
              <a:buNone/>
            </a:pPr>
            <a:r>
              <a:rPr b="1" i="0" lang="en" sz="900" u="none" cap="none" strike="noStrike">
                <a:solidFill>
                  <a:srgbClr val="0C1F3F"/>
                </a:solidFill>
                <a:latin typeface="Georgia"/>
                <a:ea typeface="Georgia"/>
                <a:cs typeface="Georgia"/>
                <a:sym typeface="Georgia"/>
              </a:rPr>
              <a:t>PAR30 Watch</a:t>
            </a:r>
            <a:endParaRPr i="0" sz="900" u="none" cap="none" strike="noStrike">
              <a:solidFill>
                <a:schemeClr val="dk1"/>
              </a:solidFill>
              <a:latin typeface="Georgia"/>
              <a:ea typeface="Georgia"/>
              <a:cs typeface="Georgia"/>
              <a:sym typeface="Georgia"/>
            </a:endParaRPr>
          </a:p>
        </p:txBody>
      </p:sp>
      <p:sp>
        <p:nvSpPr>
          <p:cNvPr id="190" name="Google Shape;190;p19"/>
          <p:cNvSpPr/>
          <p:nvPr/>
        </p:nvSpPr>
        <p:spPr>
          <a:xfrm>
            <a:off x="6446520" y="4133088"/>
            <a:ext cx="2103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400"/>
              <a:buFont typeface="Georgia"/>
              <a:buNone/>
            </a:pPr>
            <a:r>
              <a:rPr b="1" lang="en">
                <a:solidFill>
                  <a:srgbClr val="0891B2"/>
                </a:solidFill>
                <a:latin typeface="Georgia"/>
                <a:ea typeface="Georgia"/>
                <a:cs typeface="Georgia"/>
                <a:sym typeface="Georgia"/>
              </a:rPr>
              <a:t>53.96%</a:t>
            </a:r>
            <a:endParaRPr i="0" sz="1400" u="none" cap="none" strike="noStrike">
              <a:solidFill>
                <a:schemeClr val="dk1"/>
              </a:solidFill>
              <a:latin typeface="Georgia"/>
              <a:ea typeface="Georgia"/>
              <a:cs typeface="Georgia"/>
              <a:sym typeface="Georgia"/>
            </a:endParaRPr>
          </a:p>
        </p:txBody>
      </p:sp>
      <p:sp>
        <p:nvSpPr>
          <p:cNvPr id="191" name="Google Shape;191;p19"/>
          <p:cNvSpPr/>
          <p:nvPr/>
        </p:nvSpPr>
        <p:spPr>
          <a:xfrm>
            <a:off x="6446520" y="4462272"/>
            <a:ext cx="21030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00"/>
              <a:buFont typeface="Calibri"/>
              <a:buNone/>
            </a:pPr>
            <a:r>
              <a:rPr b="0" i="0" lang="en" sz="800" u="none" cap="none" strike="noStrike">
                <a:solidFill>
                  <a:srgbClr val="64748B"/>
                </a:solidFill>
                <a:latin typeface="Calibri"/>
                <a:ea typeface="Calibri"/>
                <a:cs typeface="Calibri"/>
                <a:sym typeface="Calibri"/>
              </a:rPr>
              <a:t>Approaching 10% threshold</a:t>
            </a:r>
            <a:endParaRPr b="0" i="0" sz="800" u="none" cap="none" strike="noStrike">
              <a:solidFill>
                <a:schemeClr val="dk1"/>
              </a:solidFill>
              <a:latin typeface="Calibri"/>
              <a:ea typeface="Calibri"/>
              <a:cs typeface="Calibri"/>
              <a:sym typeface="Calibri"/>
            </a:endParaRPr>
          </a:p>
        </p:txBody>
      </p:sp>
      <p:pic>
        <p:nvPicPr>
          <p:cNvPr id="192" name="Google Shape;192;p19"/>
          <p:cNvPicPr preferRelativeResize="0"/>
          <p:nvPr/>
        </p:nvPicPr>
        <p:blipFill>
          <a:blip r:embed="rId3">
            <a:alphaModFix/>
          </a:blip>
          <a:stretch>
            <a:fillRect/>
          </a:stretch>
        </p:blipFill>
        <p:spPr>
          <a:xfrm>
            <a:off x="152400" y="792600"/>
            <a:ext cx="3596700" cy="2718975"/>
          </a:xfrm>
          <a:prstGeom prst="rect">
            <a:avLst/>
          </a:prstGeom>
          <a:noFill/>
          <a:ln>
            <a:noFill/>
          </a:ln>
        </p:spPr>
      </p:pic>
      <p:pic>
        <p:nvPicPr>
          <p:cNvPr id="193" name="Google Shape;193;p19"/>
          <p:cNvPicPr preferRelativeResize="0"/>
          <p:nvPr/>
        </p:nvPicPr>
        <p:blipFill>
          <a:blip r:embed="rId4">
            <a:alphaModFix/>
          </a:blip>
          <a:stretch>
            <a:fillRect/>
          </a:stretch>
        </p:blipFill>
        <p:spPr>
          <a:xfrm>
            <a:off x="3901500" y="792600"/>
            <a:ext cx="4565471" cy="271897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98" name="Shape 198"/>
        <p:cNvGrpSpPr/>
        <p:nvPr/>
      </p:nvGrpSpPr>
      <p:grpSpPr>
        <a:xfrm>
          <a:off x="0" y="0"/>
          <a:ext cx="0" cy="0"/>
          <a:chOff x="0" y="0"/>
          <a:chExt cx="0" cy="0"/>
        </a:xfrm>
      </p:grpSpPr>
      <p:sp>
        <p:nvSpPr>
          <p:cNvPr id="199" name="Google Shape;199;p20"/>
          <p:cNvSpPr/>
          <p:nvPr/>
        </p:nvSpPr>
        <p:spPr>
          <a:xfrm>
            <a:off x="0" y="0"/>
            <a:ext cx="9144000" cy="640200"/>
          </a:xfrm>
          <a:prstGeom prst="rect">
            <a:avLst/>
          </a:prstGeom>
          <a:solidFill>
            <a:srgbClr val="0C1F3F"/>
          </a:solidFill>
          <a:ln cap="flat" cmpd="sng" w="12700">
            <a:solidFill>
              <a:srgbClr val="0C1F3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0"/>
          <p:cNvSpPr/>
          <p:nvPr/>
        </p:nvSpPr>
        <p:spPr>
          <a:xfrm>
            <a:off x="365760" y="0"/>
            <a:ext cx="77724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Georgia"/>
              <a:buNone/>
            </a:pPr>
            <a:r>
              <a:rPr b="1" i="0" lang="en" sz="1800" u="none" cap="none" strike="noStrike">
                <a:solidFill>
                  <a:srgbClr val="FFFFFF"/>
                </a:solidFill>
                <a:latin typeface="Georgia"/>
                <a:ea typeface="Georgia"/>
                <a:cs typeface="Georgia"/>
                <a:sym typeface="Georgia"/>
              </a:rPr>
              <a:t>Q2 — NPS × Credit Performance</a:t>
            </a:r>
            <a:endParaRPr b="0" i="0" sz="1800" u="none" cap="none" strike="noStrike">
              <a:solidFill>
                <a:schemeClr val="dk1"/>
              </a:solidFill>
              <a:latin typeface="Calibri"/>
              <a:ea typeface="Calibri"/>
              <a:cs typeface="Calibri"/>
              <a:sym typeface="Calibri"/>
            </a:endParaRPr>
          </a:p>
        </p:txBody>
      </p:sp>
      <p:sp>
        <p:nvSpPr>
          <p:cNvPr id="201" name="Google Shape;201;p20"/>
          <p:cNvSpPr/>
          <p:nvPr/>
        </p:nvSpPr>
        <p:spPr>
          <a:xfrm>
            <a:off x="8229600" y="0"/>
            <a:ext cx="640200" cy="640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lang="en" sz="900">
                <a:solidFill>
                  <a:srgbClr val="64748B"/>
                </a:solidFill>
                <a:latin typeface="Calibri"/>
                <a:ea typeface="Calibri"/>
                <a:cs typeface="Calibri"/>
                <a:sym typeface="Calibri"/>
              </a:rPr>
              <a:t>5</a:t>
            </a:r>
            <a:r>
              <a:rPr b="0" i="0" lang="en" sz="900" u="none" cap="none" strike="noStrike">
                <a:solidFill>
                  <a:srgbClr val="64748B"/>
                </a:solidFill>
                <a:latin typeface="Calibri"/>
                <a:ea typeface="Calibri"/>
                <a:cs typeface="Calibri"/>
                <a:sym typeface="Calibri"/>
              </a:rPr>
              <a:t> / 12</a:t>
            </a:r>
            <a:endParaRPr b="0" i="0" sz="900" u="none" cap="none" strike="noStrike">
              <a:solidFill>
                <a:schemeClr val="dk1"/>
              </a:solidFill>
              <a:latin typeface="Calibri"/>
              <a:ea typeface="Calibri"/>
              <a:cs typeface="Calibri"/>
              <a:sym typeface="Calibri"/>
            </a:endParaRPr>
          </a:p>
        </p:txBody>
      </p:sp>
      <p:sp>
        <p:nvSpPr>
          <p:cNvPr id="202" name="Google Shape;202;p20"/>
          <p:cNvSpPr/>
          <p:nvPr/>
        </p:nvSpPr>
        <p:spPr>
          <a:xfrm>
            <a:off x="274320" y="3794760"/>
            <a:ext cx="2743200" cy="10515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20"/>
          <p:cNvSpPr/>
          <p:nvPr/>
        </p:nvSpPr>
        <p:spPr>
          <a:xfrm>
            <a:off x="274320" y="3794760"/>
            <a:ext cx="2743200" cy="54900"/>
          </a:xfrm>
          <a:prstGeom prst="rect">
            <a:avLst/>
          </a:prstGeom>
          <a:solidFill>
            <a:srgbClr val="0A7C3E"/>
          </a:solidFill>
          <a:ln cap="flat" cmpd="sng" w="12700">
            <a:solidFill>
              <a:srgbClr val="0A7C3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20"/>
          <p:cNvSpPr/>
          <p:nvPr/>
        </p:nvSpPr>
        <p:spPr>
          <a:xfrm>
            <a:off x="411480" y="3895344"/>
            <a:ext cx="2469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1F3F"/>
              </a:buClr>
              <a:buSzPts val="950"/>
              <a:buFont typeface="Calibri"/>
              <a:buNone/>
            </a:pPr>
            <a:r>
              <a:rPr b="1" lang="en" sz="950">
                <a:solidFill>
                  <a:srgbClr val="0C1F3F"/>
                </a:solidFill>
                <a:latin typeface="Calibri"/>
                <a:ea typeface="Calibri"/>
                <a:cs typeface="Calibri"/>
                <a:sym typeface="Calibri"/>
              </a:rPr>
              <a:t>Correlation between Arrears Status and NPS Score:</a:t>
            </a:r>
            <a:endParaRPr b="0" i="0" sz="950" u="none" cap="none" strike="noStrike">
              <a:solidFill>
                <a:schemeClr val="dk1"/>
              </a:solidFill>
              <a:latin typeface="Calibri"/>
              <a:ea typeface="Calibri"/>
              <a:cs typeface="Calibri"/>
              <a:sym typeface="Calibri"/>
            </a:endParaRPr>
          </a:p>
        </p:txBody>
      </p:sp>
      <p:sp>
        <p:nvSpPr>
          <p:cNvPr id="205" name="Google Shape;205;p20"/>
          <p:cNvSpPr/>
          <p:nvPr/>
        </p:nvSpPr>
        <p:spPr>
          <a:xfrm>
            <a:off x="411480" y="4169664"/>
            <a:ext cx="1371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00"/>
              <a:buFont typeface="Calibri"/>
              <a:buNone/>
            </a:pPr>
            <a:r>
              <a:rPr lang="en" sz="800">
                <a:solidFill>
                  <a:srgbClr val="64748B"/>
                </a:solidFill>
                <a:latin typeface="Calibri"/>
                <a:ea typeface="Calibri"/>
                <a:cs typeface="Calibri"/>
                <a:sym typeface="Calibri"/>
              </a:rPr>
              <a:t>Relationship</a:t>
            </a:r>
            <a:endParaRPr b="0" i="0" sz="800" u="none" cap="none" strike="noStrike">
              <a:solidFill>
                <a:schemeClr val="dk1"/>
              </a:solidFill>
              <a:latin typeface="Calibri"/>
              <a:ea typeface="Calibri"/>
              <a:cs typeface="Calibri"/>
              <a:sym typeface="Calibri"/>
            </a:endParaRPr>
          </a:p>
        </p:txBody>
      </p:sp>
      <p:sp>
        <p:nvSpPr>
          <p:cNvPr id="206" name="Google Shape;206;p20"/>
          <p:cNvSpPr/>
          <p:nvPr/>
        </p:nvSpPr>
        <p:spPr>
          <a:xfrm>
            <a:off x="1828800" y="4059936"/>
            <a:ext cx="914400" cy="457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A7C3E"/>
              </a:buClr>
              <a:buSzPts val="2800"/>
              <a:buFont typeface="Georgia"/>
              <a:buNone/>
            </a:pPr>
            <a:r>
              <a:rPr b="1" lang="en" sz="2800">
                <a:solidFill>
                  <a:srgbClr val="0A7C3E"/>
                </a:solidFill>
                <a:latin typeface="Georgia"/>
                <a:ea typeface="Georgia"/>
                <a:cs typeface="Georgia"/>
                <a:sym typeface="Georgia"/>
              </a:rPr>
              <a:t>0</a:t>
            </a:r>
            <a:r>
              <a:rPr b="1" i="0" lang="en" sz="2800" u="none" cap="none" strike="noStrike">
                <a:solidFill>
                  <a:srgbClr val="0A7C3E"/>
                </a:solidFill>
                <a:latin typeface="Georgia"/>
                <a:ea typeface="Georgia"/>
                <a:cs typeface="Georgia"/>
                <a:sym typeface="Georgia"/>
              </a:rPr>
              <a:t>.</a:t>
            </a:r>
            <a:r>
              <a:rPr b="1" lang="en" sz="2800">
                <a:solidFill>
                  <a:srgbClr val="0A7C3E"/>
                </a:solidFill>
                <a:latin typeface="Georgia"/>
                <a:ea typeface="Georgia"/>
                <a:cs typeface="Georgia"/>
                <a:sym typeface="Georgia"/>
              </a:rPr>
              <a:t>04</a:t>
            </a:r>
            <a:endParaRPr b="0" i="0" sz="2800" u="none" cap="none" strike="noStrike">
              <a:solidFill>
                <a:schemeClr val="dk1"/>
              </a:solidFill>
              <a:latin typeface="Calibri"/>
              <a:ea typeface="Calibri"/>
              <a:cs typeface="Calibri"/>
              <a:sym typeface="Calibri"/>
            </a:endParaRPr>
          </a:p>
        </p:txBody>
      </p:sp>
      <p:sp>
        <p:nvSpPr>
          <p:cNvPr id="207" name="Google Shape;207;p20"/>
          <p:cNvSpPr/>
          <p:nvPr/>
        </p:nvSpPr>
        <p:spPr>
          <a:xfrm>
            <a:off x="3200400" y="3794760"/>
            <a:ext cx="2743200" cy="10515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0"/>
          <p:cNvSpPr/>
          <p:nvPr/>
        </p:nvSpPr>
        <p:spPr>
          <a:xfrm>
            <a:off x="3200400" y="3794760"/>
            <a:ext cx="2743200" cy="54900"/>
          </a:xfrm>
          <a:prstGeom prst="rect">
            <a:avLst/>
          </a:prstGeom>
          <a:solidFill>
            <a:srgbClr val="D97706"/>
          </a:solidFill>
          <a:ln cap="flat" cmpd="sng" w="12700">
            <a:solidFill>
              <a:srgbClr val="D977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0"/>
          <p:cNvSpPr/>
          <p:nvPr/>
        </p:nvSpPr>
        <p:spPr>
          <a:xfrm>
            <a:off x="3337560" y="3895344"/>
            <a:ext cx="2469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1F3F"/>
              </a:buClr>
              <a:buSzPts val="950"/>
              <a:buFont typeface="Calibri"/>
              <a:buNone/>
            </a:pPr>
            <a:r>
              <a:rPr b="1" lang="en" sz="950">
                <a:solidFill>
                  <a:srgbClr val="0C1F3F"/>
                </a:solidFill>
                <a:latin typeface="Calibri"/>
                <a:ea typeface="Calibri"/>
                <a:cs typeface="Calibri"/>
                <a:sym typeface="Calibri"/>
              </a:rPr>
              <a:t>NPS Score</a:t>
            </a:r>
            <a:endParaRPr b="0" i="0" sz="950" u="none" cap="none" strike="noStrike">
              <a:solidFill>
                <a:schemeClr val="dk1"/>
              </a:solidFill>
              <a:latin typeface="Calibri"/>
              <a:ea typeface="Calibri"/>
              <a:cs typeface="Calibri"/>
              <a:sym typeface="Calibri"/>
            </a:endParaRPr>
          </a:p>
        </p:txBody>
      </p:sp>
      <p:sp>
        <p:nvSpPr>
          <p:cNvPr id="210" name="Google Shape;210;p20"/>
          <p:cNvSpPr/>
          <p:nvPr/>
        </p:nvSpPr>
        <p:spPr>
          <a:xfrm>
            <a:off x="3337560" y="4169664"/>
            <a:ext cx="1371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00"/>
              <a:buFont typeface="Calibri"/>
              <a:buNone/>
            </a:pPr>
            <a:r>
              <a:rPr b="0" i="0" lang="en" sz="800" u="none" cap="none" strike="noStrike">
                <a:solidFill>
                  <a:srgbClr val="64748B"/>
                </a:solidFill>
                <a:latin typeface="Calibri"/>
                <a:ea typeface="Calibri"/>
                <a:cs typeface="Calibri"/>
                <a:sym typeface="Calibri"/>
              </a:rPr>
              <a:t>Avg NPS Score</a:t>
            </a:r>
            <a:endParaRPr b="0" i="0" sz="800" u="none" cap="none" strike="noStrike">
              <a:solidFill>
                <a:schemeClr val="dk1"/>
              </a:solidFill>
              <a:latin typeface="Calibri"/>
              <a:ea typeface="Calibri"/>
              <a:cs typeface="Calibri"/>
              <a:sym typeface="Calibri"/>
            </a:endParaRPr>
          </a:p>
        </p:txBody>
      </p:sp>
      <p:sp>
        <p:nvSpPr>
          <p:cNvPr id="211" name="Google Shape;211;p20"/>
          <p:cNvSpPr/>
          <p:nvPr/>
        </p:nvSpPr>
        <p:spPr>
          <a:xfrm>
            <a:off x="4571999" y="4059925"/>
            <a:ext cx="1097400" cy="457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D97706"/>
              </a:buClr>
              <a:buSzPts val="2800"/>
              <a:buFont typeface="Georgia"/>
              <a:buNone/>
            </a:pPr>
            <a:r>
              <a:rPr b="1" lang="en" sz="2700">
                <a:solidFill>
                  <a:srgbClr val="D97706"/>
                </a:solidFill>
                <a:latin typeface="Georgia"/>
                <a:ea typeface="Georgia"/>
                <a:cs typeface="Georgia"/>
                <a:sym typeface="Georgia"/>
              </a:rPr>
              <a:t>33</a:t>
            </a:r>
            <a:r>
              <a:rPr b="1" i="0" lang="en" sz="2700" u="none" cap="none" strike="noStrike">
                <a:solidFill>
                  <a:srgbClr val="D97706"/>
                </a:solidFill>
                <a:latin typeface="Georgia"/>
                <a:ea typeface="Georgia"/>
                <a:cs typeface="Georgia"/>
                <a:sym typeface="Georgia"/>
              </a:rPr>
              <a:t>.06</a:t>
            </a:r>
            <a:endParaRPr b="0" i="0" sz="2700" u="none" cap="none" strike="noStrike">
              <a:solidFill>
                <a:schemeClr val="dk1"/>
              </a:solidFill>
              <a:latin typeface="Calibri"/>
              <a:ea typeface="Calibri"/>
              <a:cs typeface="Calibri"/>
              <a:sym typeface="Calibri"/>
            </a:endParaRPr>
          </a:p>
        </p:txBody>
      </p:sp>
      <p:sp>
        <p:nvSpPr>
          <p:cNvPr id="212" name="Google Shape;212;p20"/>
          <p:cNvSpPr/>
          <p:nvPr/>
        </p:nvSpPr>
        <p:spPr>
          <a:xfrm>
            <a:off x="6126480" y="3794760"/>
            <a:ext cx="2743200" cy="10515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20"/>
          <p:cNvSpPr/>
          <p:nvPr/>
        </p:nvSpPr>
        <p:spPr>
          <a:xfrm>
            <a:off x="6126480" y="3794760"/>
            <a:ext cx="2743200" cy="54900"/>
          </a:xfrm>
          <a:prstGeom prst="rect">
            <a:avLst/>
          </a:prstGeom>
          <a:solidFill>
            <a:srgbClr val="DC2626"/>
          </a:solidFill>
          <a:ln cap="flat" cmpd="sng" w="12700">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0"/>
          <p:cNvSpPr/>
          <p:nvPr/>
        </p:nvSpPr>
        <p:spPr>
          <a:xfrm>
            <a:off x="6263640" y="3895344"/>
            <a:ext cx="2469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1F3F"/>
              </a:buClr>
              <a:buSzPts val="950"/>
              <a:buFont typeface="Calibri"/>
              <a:buNone/>
            </a:pPr>
            <a:r>
              <a:rPr b="1" lang="en" sz="950">
                <a:solidFill>
                  <a:srgbClr val="0C1F3F"/>
                </a:solidFill>
                <a:latin typeface="Calibri"/>
                <a:ea typeface="Calibri"/>
                <a:cs typeface="Calibri"/>
                <a:sym typeface="Calibri"/>
              </a:rPr>
              <a:t>Correlation</a:t>
            </a:r>
            <a:endParaRPr b="0" i="0" sz="950" u="none" cap="none" strike="noStrike">
              <a:solidFill>
                <a:schemeClr val="dk1"/>
              </a:solidFill>
              <a:latin typeface="Calibri"/>
              <a:ea typeface="Calibri"/>
              <a:cs typeface="Calibri"/>
              <a:sym typeface="Calibri"/>
            </a:endParaRPr>
          </a:p>
        </p:txBody>
      </p:sp>
      <p:sp>
        <p:nvSpPr>
          <p:cNvPr id="215" name="Google Shape;215;p20"/>
          <p:cNvSpPr/>
          <p:nvPr/>
        </p:nvSpPr>
        <p:spPr>
          <a:xfrm>
            <a:off x="6263653" y="4169673"/>
            <a:ext cx="17268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00"/>
              <a:buFont typeface="Calibri"/>
              <a:buNone/>
            </a:pPr>
            <a:r>
              <a:rPr lang="en" sz="800">
                <a:solidFill>
                  <a:srgbClr val="666666"/>
                </a:solidFill>
                <a:latin typeface="Georgia"/>
                <a:ea typeface="Georgia"/>
                <a:cs typeface="Georgia"/>
                <a:sym typeface="Georgia"/>
              </a:rPr>
              <a:t>Correlation between NPS and Default Rate:</a:t>
            </a:r>
            <a:endParaRPr i="0" sz="800" u="none" cap="none" strike="noStrike">
              <a:solidFill>
                <a:srgbClr val="666666"/>
              </a:solidFill>
              <a:latin typeface="Georgia"/>
              <a:ea typeface="Georgia"/>
              <a:cs typeface="Georgia"/>
              <a:sym typeface="Georgia"/>
            </a:endParaRPr>
          </a:p>
        </p:txBody>
      </p:sp>
      <p:sp>
        <p:nvSpPr>
          <p:cNvPr id="216" name="Google Shape;216;p20"/>
          <p:cNvSpPr/>
          <p:nvPr/>
        </p:nvSpPr>
        <p:spPr>
          <a:xfrm>
            <a:off x="7680960" y="4215261"/>
            <a:ext cx="914400" cy="457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DC2626"/>
              </a:buClr>
              <a:buSzPts val="2800"/>
              <a:buFont typeface="Georgia"/>
              <a:buNone/>
            </a:pPr>
            <a:r>
              <a:rPr b="1" lang="en" sz="2800">
                <a:solidFill>
                  <a:srgbClr val="DC2626"/>
                </a:solidFill>
                <a:latin typeface="Georgia"/>
                <a:ea typeface="Georgia"/>
                <a:cs typeface="Georgia"/>
                <a:sym typeface="Georgia"/>
              </a:rPr>
              <a:t>-0.91</a:t>
            </a:r>
            <a:endParaRPr b="0" i="0" sz="2800" u="none" cap="none" strike="noStrike">
              <a:solidFill>
                <a:schemeClr val="dk1"/>
              </a:solidFill>
              <a:latin typeface="Calibri"/>
              <a:ea typeface="Calibri"/>
              <a:cs typeface="Calibri"/>
              <a:sym typeface="Calibri"/>
            </a:endParaRPr>
          </a:p>
        </p:txBody>
      </p:sp>
      <p:pic>
        <p:nvPicPr>
          <p:cNvPr id="217" name="Google Shape;217;p20"/>
          <p:cNvPicPr preferRelativeResize="0"/>
          <p:nvPr/>
        </p:nvPicPr>
        <p:blipFill>
          <a:blip r:embed="rId3">
            <a:alphaModFix/>
          </a:blip>
          <a:stretch>
            <a:fillRect/>
          </a:stretch>
        </p:blipFill>
        <p:spPr>
          <a:xfrm>
            <a:off x="152400" y="792600"/>
            <a:ext cx="8580250" cy="28497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22" name="Shape 222"/>
        <p:cNvGrpSpPr/>
        <p:nvPr/>
      </p:nvGrpSpPr>
      <p:grpSpPr>
        <a:xfrm>
          <a:off x="0" y="0"/>
          <a:ext cx="0" cy="0"/>
          <a:chOff x="0" y="0"/>
          <a:chExt cx="0" cy="0"/>
        </a:xfrm>
      </p:grpSpPr>
      <p:sp>
        <p:nvSpPr>
          <p:cNvPr id="223" name="Google Shape;223;p21"/>
          <p:cNvSpPr/>
          <p:nvPr/>
        </p:nvSpPr>
        <p:spPr>
          <a:xfrm>
            <a:off x="0" y="0"/>
            <a:ext cx="9144000" cy="640200"/>
          </a:xfrm>
          <a:prstGeom prst="rect">
            <a:avLst/>
          </a:prstGeom>
          <a:solidFill>
            <a:srgbClr val="0C1F3F"/>
          </a:solidFill>
          <a:ln cap="flat" cmpd="sng" w="12700">
            <a:solidFill>
              <a:srgbClr val="0C1F3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1"/>
          <p:cNvSpPr/>
          <p:nvPr/>
        </p:nvSpPr>
        <p:spPr>
          <a:xfrm>
            <a:off x="365760" y="0"/>
            <a:ext cx="77724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Georgia"/>
              <a:buNone/>
            </a:pPr>
            <a:r>
              <a:rPr b="1" i="0" lang="en" sz="1800" u="none" cap="none" strike="noStrike">
                <a:solidFill>
                  <a:srgbClr val="FFFFFF"/>
                </a:solidFill>
                <a:latin typeface="Georgia"/>
                <a:ea typeface="Georgia"/>
                <a:cs typeface="Georgia"/>
                <a:sym typeface="Georgia"/>
              </a:rPr>
              <a:t>Q2 — Collections vs CX: </a:t>
            </a:r>
            <a:r>
              <a:rPr b="1" lang="en" sz="1800">
                <a:solidFill>
                  <a:srgbClr val="FFFFFF"/>
                </a:solidFill>
                <a:latin typeface="Georgia"/>
                <a:ea typeface="Georgia"/>
                <a:cs typeface="Georgia"/>
                <a:sym typeface="Georgia"/>
              </a:rPr>
              <a:t>Insights</a:t>
            </a:r>
            <a:endParaRPr b="0" i="0" sz="1800" u="none" cap="none" strike="noStrike">
              <a:solidFill>
                <a:schemeClr val="dk1"/>
              </a:solidFill>
              <a:latin typeface="Calibri"/>
              <a:ea typeface="Calibri"/>
              <a:cs typeface="Calibri"/>
              <a:sym typeface="Calibri"/>
            </a:endParaRPr>
          </a:p>
        </p:txBody>
      </p:sp>
      <p:sp>
        <p:nvSpPr>
          <p:cNvPr id="225" name="Google Shape;225;p21"/>
          <p:cNvSpPr/>
          <p:nvPr/>
        </p:nvSpPr>
        <p:spPr>
          <a:xfrm>
            <a:off x="8229600" y="0"/>
            <a:ext cx="640200" cy="640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lang="en" sz="900">
                <a:solidFill>
                  <a:srgbClr val="64748B"/>
                </a:solidFill>
                <a:latin typeface="Calibri"/>
                <a:ea typeface="Calibri"/>
                <a:cs typeface="Calibri"/>
                <a:sym typeface="Calibri"/>
              </a:rPr>
              <a:t>6</a:t>
            </a:r>
            <a:r>
              <a:rPr b="0" i="0" lang="en" sz="900" u="none" cap="none" strike="noStrike">
                <a:solidFill>
                  <a:srgbClr val="64748B"/>
                </a:solidFill>
                <a:latin typeface="Calibri"/>
                <a:ea typeface="Calibri"/>
                <a:cs typeface="Calibri"/>
                <a:sym typeface="Calibri"/>
              </a:rPr>
              <a:t> / 12</a:t>
            </a:r>
            <a:endParaRPr b="0" i="0" sz="900" u="none" cap="none" strike="noStrike">
              <a:solidFill>
                <a:schemeClr val="dk1"/>
              </a:solidFill>
              <a:latin typeface="Calibri"/>
              <a:ea typeface="Calibri"/>
              <a:cs typeface="Calibri"/>
              <a:sym typeface="Calibri"/>
            </a:endParaRPr>
          </a:p>
        </p:txBody>
      </p:sp>
      <p:sp>
        <p:nvSpPr>
          <p:cNvPr id="226" name="Google Shape;226;p21"/>
          <p:cNvSpPr/>
          <p:nvPr/>
        </p:nvSpPr>
        <p:spPr>
          <a:xfrm>
            <a:off x="365760" y="777240"/>
            <a:ext cx="8412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000"/>
              <a:buFont typeface="Calibri"/>
              <a:buNone/>
            </a:pPr>
            <a:r>
              <a:rPr b="1" lang="en" sz="1000">
                <a:solidFill>
                  <a:srgbClr val="DC2626"/>
                </a:solidFill>
                <a:latin typeface="Calibri"/>
                <a:ea typeface="Calibri"/>
                <a:cs typeface="Calibri"/>
                <a:sym typeface="Calibri"/>
              </a:rPr>
              <a:t>Insighs</a:t>
            </a:r>
            <a:endParaRPr b="0" i="0" sz="1000" u="none" cap="none" strike="noStrike">
              <a:solidFill>
                <a:schemeClr val="dk1"/>
              </a:solidFill>
              <a:latin typeface="Calibri"/>
              <a:ea typeface="Calibri"/>
              <a:cs typeface="Calibri"/>
              <a:sym typeface="Calibri"/>
            </a:endParaRPr>
          </a:p>
        </p:txBody>
      </p:sp>
      <p:sp>
        <p:nvSpPr>
          <p:cNvPr id="227" name="Google Shape;227;p21"/>
          <p:cNvSpPr/>
          <p:nvPr/>
        </p:nvSpPr>
        <p:spPr>
          <a:xfrm>
            <a:off x="365760" y="777240"/>
            <a:ext cx="8412600" cy="27300"/>
          </a:xfrm>
          <a:prstGeom prst="rect">
            <a:avLst/>
          </a:prstGeom>
          <a:solidFill>
            <a:srgbClr val="DC2626"/>
          </a:solidFill>
          <a:ln cap="flat" cmpd="sng" w="12700">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1"/>
          <p:cNvSpPr/>
          <p:nvPr/>
        </p:nvSpPr>
        <p:spPr>
          <a:xfrm>
            <a:off x="548640" y="3703320"/>
            <a:ext cx="2606100" cy="10515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1"/>
          <p:cNvSpPr/>
          <p:nvPr/>
        </p:nvSpPr>
        <p:spPr>
          <a:xfrm>
            <a:off x="3291840" y="3703320"/>
            <a:ext cx="2606100" cy="10515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1"/>
          <p:cNvSpPr/>
          <p:nvPr/>
        </p:nvSpPr>
        <p:spPr>
          <a:xfrm>
            <a:off x="6035040" y="3703320"/>
            <a:ext cx="2606100" cy="10515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21"/>
          <p:cNvSpPr txBox="1"/>
          <p:nvPr/>
        </p:nvSpPr>
        <p:spPr>
          <a:xfrm>
            <a:off x="800200" y="941600"/>
            <a:ext cx="7338000" cy="1996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lang="en" sz="1100">
                <a:solidFill>
                  <a:srgbClr val="434343"/>
                </a:solidFill>
                <a:latin typeface="Georgia"/>
                <a:ea typeface="Georgia"/>
                <a:cs typeface="Georgia"/>
                <a:sym typeface="Georgia"/>
              </a:rPr>
              <a:t>T</a:t>
            </a:r>
            <a:r>
              <a:rPr lang="en" sz="1100">
                <a:solidFill>
                  <a:srgbClr val="434343"/>
                </a:solidFill>
                <a:latin typeface="Georgia"/>
                <a:ea typeface="Georgia"/>
                <a:cs typeface="Georgia"/>
                <a:sym typeface="Georgia"/>
              </a:rPr>
              <a:t>heme frequency in open-text feedback</a:t>
            </a:r>
            <a:endParaRPr sz="1100">
              <a:solidFill>
                <a:srgbClr val="434343"/>
              </a:solidFill>
              <a:latin typeface="Georgia"/>
              <a:ea typeface="Georgia"/>
              <a:cs typeface="Georgia"/>
              <a:sym typeface="Georgia"/>
            </a:endParaRPr>
          </a:p>
          <a:p>
            <a:pPr indent="0" lvl="0" marL="0" rtl="0" algn="l">
              <a:lnSpc>
                <a:spcPct val="115000"/>
              </a:lnSpc>
              <a:spcBef>
                <a:spcPts val="700"/>
              </a:spcBef>
              <a:spcAft>
                <a:spcPts val="0"/>
              </a:spcAft>
              <a:buNone/>
            </a:pPr>
            <a:r>
              <a:rPr lang="en" sz="1100">
                <a:solidFill>
                  <a:srgbClr val="434343"/>
                </a:solidFill>
                <a:latin typeface="Georgia"/>
                <a:ea typeface="Georgia"/>
                <a:cs typeface="Georgia"/>
                <a:sym typeface="Georgia"/>
              </a:rPr>
              <a:t>Device / quality issues                                          </a:t>
            </a:r>
            <a:r>
              <a:rPr lang="en" sz="1000">
                <a:solidFill>
                  <a:srgbClr val="434343"/>
                </a:solidFill>
                <a:latin typeface="Georgia"/>
                <a:ea typeface="Georgia"/>
                <a:cs typeface="Georgia"/>
                <a:sym typeface="Georgia"/>
              </a:rPr>
              <a:t>192 mentions · avg 5.9</a:t>
            </a:r>
            <a:endParaRPr sz="1000">
              <a:solidFill>
                <a:srgbClr val="434343"/>
              </a:solidFill>
              <a:latin typeface="Georgia"/>
              <a:ea typeface="Georgia"/>
              <a:cs typeface="Georgia"/>
              <a:sym typeface="Georgia"/>
            </a:endParaRPr>
          </a:p>
          <a:p>
            <a:pPr indent="0" lvl="0" marL="0" rtl="0" algn="l">
              <a:lnSpc>
                <a:spcPct val="115000"/>
              </a:lnSpc>
              <a:spcBef>
                <a:spcPts val="600"/>
              </a:spcBef>
              <a:spcAft>
                <a:spcPts val="0"/>
              </a:spcAft>
              <a:buNone/>
            </a:pPr>
            <a:r>
              <a:rPr lang="en" sz="1100">
                <a:solidFill>
                  <a:srgbClr val="434343"/>
                </a:solidFill>
                <a:latin typeface="Georgia"/>
                <a:ea typeface="Georgia"/>
                <a:cs typeface="Georgia"/>
                <a:sym typeface="Georgia"/>
              </a:rPr>
              <a:t>Payment terms / cost				</a:t>
            </a:r>
            <a:r>
              <a:rPr lang="en" sz="1000">
                <a:solidFill>
                  <a:srgbClr val="434343"/>
                </a:solidFill>
                <a:latin typeface="Georgia"/>
                <a:ea typeface="Georgia"/>
                <a:cs typeface="Georgia"/>
                <a:sym typeface="Georgia"/>
              </a:rPr>
              <a:t>81 mentions · avg 6.7</a:t>
            </a:r>
            <a:endParaRPr sz="1000">
              <a:solidFill>
                <a:srgbClr val="434343"/>
              </a:solidFill>
              <a:latin typeface="Georgia"/>
              <a:ea typeface="Georgia"/>
              <a:cs typeface="Georgia"/>
              <a:sym typeface="Georgia"/>
            </a:endParaRPr>
          </a:p>
          <a:p>
            <a:pPr indent="0" lvl="0" marL="0" rtl="0" algn="l">
              <a:lnSpc>
                <a:spcPct val="115000"/>
              </a:lnSpc>
              <a:spcBef>
                <a:spcPts val="600"/>
              </a:spcBef>
              <a:spcAft>
                <a:spcPts val="0"/>
              </a:spcAft>
              <a:buNone/>
            </a:pPr>
            <a:r>
              <a:rPr lang="en" sz="1100">
                <a:solidFill>
                  <a:srgbClr val="434343"/>
                </a:solidFill>
                <a:latin typeface="Georgia"/>
                <a:ea typeface="Georgia"/>
                <a:cs typeface="Georgia"/>
                <a:sym typeface="Georgia"/>
              </a:rPr>
              <a:t>Phone locking / unlocking			</a:t>
            </a:r>
            <a:r>
              <a:rPr lang="en" sz="1000">
                <a:solidFill>
                  <a:srgbClr val="434343"/>
                </a:solidFill>
                <a:latin typeface="Georgia"/>
                <a:ea typeface="Georgia"/>
                <a:cs typeface="Georgia"/>
                <a:sym typeface="Georgia"/>
              </a:rPr>
              <a:t>75 mentions · avg 6.4</a:t>
            </a:r>
            <a:endParaRPr sz="1000">
              <a:solidFill>
                <a:srgbClr val="434343"/>
              </a:solidFill>
              <a:latin typeface="Georgia"/>
              <a:ea typeface="Georgia"/>
              <a:cs typeface="Georgia"/>
              <a:sym typeface="Georgia"/>
            </a:endParaRPr>
          </a:p>
          <a:p>
            <a:pPr indent="0" lvl="0" marL="0" rtl="0" algn="l">
              <a:lnSpc>
                <a:spcPct val="115000"/>
              </a:lnSpc>
              <a:spcBef>
                <a:spcPts val="600"/>
              </a:spcBef>
              <a:spcAft>
                <a:spcPts val="0"/>
              </a:spcAft>
              <a:buNone/>
            </a:pPr>
            <a:r>
              <a:rPr lang="en" sz="1100">
                <a:solidFill>
                  <a:srgbClr val="434343"/>
                </a:solidFill>
                <a:latin typeface="Georgia"/>
                <a:ea typeface="Georgia"/>
                <a:cs typeface="Georgia"/>
                <a:sym typeface="Georgia"/>
              </a:rPr>
              <a:t>Customer support failures			</a:t>
            </a:r>
            <a:r>
              <a:rPr lang="en" sz="1000">
                <a:solidFill>
                  <a:srgbClr val="434343"/>
                </a:solidFill>
                <a:latin typeface="Georgia"/>
                <a:ea typeface="Georgia"/>
                <a:cs typeface="Georgia"/>
                <a:sym typeface="Georgia"/>
              </a:rPr>
              <a:t>66 mentions · avg 6.7</a:t>
            </a:r>
            <a:endParaRPr sz="1000">
              <a:solidFill>
                <a:srgbClr val="434343"/>
              </a:solidFill>
              <a:latin typeface="Georgia"/>
              <a:ea typeface="Georgia"/>
              <a:cs typeface="Georgia"/>
              <a:sym typeface="Georgia"/>
            </a:endParaRPr>
          </a:p>
          <a:p>
            <a:pPr indent="0" lvl="0" marL="0" rtl="0" algn="l">
              <a:lnSpc>
                <a:spcPct val="115000"/>
              </a:lnSpc>
              <a:spcBef>
                <a:spcPts val="600"/>
              </a:spcBef>
              <a:spcAft>
                <a:spcPts val="0"/>
              </a:spcAft>
              <a:buNone/>
            </a:pPr>
            <a:r>
              <a:rPr lang="en" sz="1100">
                <a:solidFill>
                  <a:srgbClr val="434343"/>
                </a:solidFill>
                <a:latin typeface="Georgia"/>
                <a:ea typeface="Georgia"/>
                <a:cs typeface="Georgia"/>
                <a:sym typeface="Georgia"/>
              </a:rPr>
              <a:t>Grace period requests				</a:t>
            </a:r>
            <a:r>
              <a:rPr lang="en" sz="1000">
                <a:solidFill>
                  <a:srgbClr val="434343"/>
                </a:solidFill>
                <a:latin typeface="Georgia"/>
                <a:ea typeface="Georgia"/>
                <a:cs typeface="Georgia"/>
                <a:sym typeface="Georgia"/>
              </a:rPr>
              <a:t>30 mentions · avg 6.4</a:t>
            </a:r>
            <a:endParaRPr sz="1000">
              <a:solidFill>
                <a:srgbClr val="434343"/>
              </a:solidFill>
              <a:latin typeface="Georgia"/>
              <a:ea typeface="Georgia"/>
              <a:cs typeface="Georgia"/>
              <a:sym typeface="Georgia"/>
            </a:endParaRPr>
          </a:p>
          <a:p>
            <a:pPr indent="0" lvl="0" marL="0" rtl="0" algn="l">
              <a:lnSpc>
                <a:spcPct val="115000"/>
              </a:lnSpc>
              <a:spcBef>
                <a:spcPts val="600"/>
              </a:spcBef>
              <a:spcAft>
                <a:spcPts val="600"/>
              </a:spcAft>
              <a:buNone/>
            </a:pPr>
            <a:r>
              <a:rPr lang="en" sz="1100">
                <a:solidFill>
                  <a:srgbClr val="434343"/>
                </a:solidFill>
                <a:latin typeface="Georgia"/>
                <a:ea typeface="Georgia"/>
                <a:cs typeface="Georgia"/>
                <a:sym typeface="Georgia"/>
              </a:rPr>
              <a:t>Payment not reflecting			</a:t>
            </a:r>
            <a:r>
              <a:rPr lang="en" sz="1000">
                <a:solidFill>
                  <a:srgbClr val="434343"/>
                </a:solidFill>
                <a:latin typeface="Georgia"/>
                <a:ea typeface="Georgia"/>
                <a:cs typeface="Georgia"/>
                <a:sym typeface="Georgia"/>
              </a:rPr>
              <a:t>14 mentions · avg 7.</a:t>
            </a:r>
            <a:endParaRPr sz="1000">
              <a:solidFill>
                <a:srgbClr val="434343"/>
              </a:solidFill>
              <a:latin typeface="Georgia"/>
              <a:ea typeface="Georgia"/>
              <a:cs typeface="Georgia"/>
              <a:sym typeface="Georgia"/>
            </a:endParaRPr>
          </a:p>
        </p:txBody>
      </p:sp>
      <p:sp>
        <p:nvSpPr>
          <p:cNvPr id="232" name="Google Shape;232;p21"/>
          <p:cNvSpPr/>
          <p:nvPr/>
        </p:nvSpPr>
        <p:spPr>
          <a:xfrm>
            <a:off x="548650" y="3853400"/>
            <a:ext cx="2538900" cy="80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950"/>
              <a:buFont typeface="Calibri"/>
              <a:buNone/>
            </a:pPr>
            <a:r>
              <a:rPr b="1" lang="en" sz="1650">
                <a:solidFill>
                  <a:srgbClr val="E24B4A"/>
                </a:solidFill>
                <a:latin typeface="Merriweather"/>
                <a:ea typeface="Merriweather"/>
                <a:cs typeface="Merriweather"/>
                <a:sym typeface="Merriweather"/>
              </a:rPr>
              <a:t>563 ~Locked despite payment</a:t>
            </a:r>
            <a:endParaRPr b="1" i="0" sz="950" u="none" cap="none" strike="noStrike">
              <a:solidFill>
                <a:schemeClr val="dk1"/>
              </a:solidFill>
              <a:latin typeface="Merriweather"/>
              <a:ea typeface="Merriweather"/>
              <a:cs typeface="Merriweather"/>
              <a:sym typeface="Merriweather"/>
            </a:endParaRPr>
          </a:p>
        </p:txBody>
      </p:sp>
      <p:sp>
        <p:nvSpPr>
          <p:cNvPr id="233" name="Google Shape;233;p21"/>
          <p:cNvSpPr/>
          <p:nvPr/>
        </p:nvSpPr>
        <p:spPr>
          <a:xfrm>
            <a:off x="3325450" y="3765175"/>
            <a:ext cx="2538900" cy="80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950"/>
              <a:buFont typeface="Calibri"/>
              <a:buNone/>
            </a:pPr>
            <a:r>
              <a:rPr b="1" lang="en" sz="1650">
                <a:solidFill>
                  <a:srgbClr val="E24B4A"/>
                </a:solidFill>
                <a:latin typeface="Merriweather"/>
                <a:ea typeface="Merriweather"/>
                <a:cs typeface="Merriweather"/>
                <a:sym typeface="Merriweather"/>
              </a:rPr>
              <a:t>722</a:t>
            </a:r>
            <a:r>
              <a:rPr b="1" lang="en" sz="1650">
                <a:solidFill>
                  <a:srgbClr val="E24B4A"/>
                </a:solidFill>
                <a:latin typeface="Merriweather"/>
                <a:ea typeface="Merriweather"/>
                <a:cs typeface="Merriweather"/>
                <a:sym typeface="Merriweather"/>
              </a:rPr>
              <a:t> ~</a:t>
            </a:r>
            <a:r>
              <a:rPr b="1" lang="en" sz="1650">
                <a:solidFill>
                  <a:srgbClr val="E24B4A"/>
                </a:solidFill>
                <a:latin typeface="Merriweather"/>
                <a:ea typeface="Merriweather"/>
                <a:cs typeface="Merriweather"/>
                <a:sym typeface="Merriweather"/>
              </a:rPr>
              <a:t>Payment delay experienced</a:t>
            </a:r>
            <a:endParaRPr b="1" i="0" sz="950" u="none" cap="none" strike="noStrike">
              <a:solidFill>
                <a:schemeClr val="dk1"/>
              </a:solidFill>
              <a:latin typeface="Merriweather"/>
              <a:ea typeface="Merriweather"/>
              <a:cs typeface="Merriweather"/>
              <a:sym typeface="Merriweather"/>
            </a:endParaRPr>
          </a:p>
        </p:txBody>
      </p:sp>
      <p:sp>
        <p:nvSpPr>
          <p:cNvPr id="234" name="Google Shape;234;p21"/>
          <p:cNvSpPr/>
          <p:nvPr/>
        </p:nvSpPr>
        <p:spPr>
          <a:xfrm>
            <a:off x="6035050" y="3827825"/>
            <a:ext cx="2538900" cy="80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950"/>
              <a:buFont typeface="Calibri"/>
              <a:buNone/>
            </a:pPr>
            <a:r>
              <a:rPr b="1" lang="en" sz="1650">
                <a:solidFill>
                  <a:srgbClr val="E24B4A"/>
                </a:solidFill>
                <a:latin typeface="Merriweather"/>
                <a:ea typeface="Merriweather"/>
                <a:cs typeface="Merriweather"/>
                <a:sym typeface="Merriweather"/>
              </a:rPr>
              <a:t>19</a:t>
            </a:r>
            <a:r>
              <a:rPr b="1" lang="en" sz="1650">
                <a:solidFill>
                  <a:srgbClr val="E24B4A"/>
                </a:solidFill>
                <a:latin typeface="Merriweather"/>
                <a:ea typeface="Merriweather"/>
                <a:cs typeface="Merriweather"/>
                <a:sym typeface="Merriweather"/>
              </a:rPr>
              <a:t>2 ~Device Quality</a:t>
            </a:r>
            <a:endParaRPr b="1" i="0" sz="950" u="none" cap="none" strike="noStrike">
              <a:solidFill>
                <a:schemeClr val="dk1"/>
              </a:solidFill>
              <a:latin typeface="Merriweather"/>
              <a:ea typeface="Merriweather"/>
              <a:cs typeface="Merriweather"/>
              <a:sym typeface="Merriweath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39" name="Shape 239"/>
        <p:cNvGrpSpPr/>
        <p:nvPr/>
      </p:nvGrpSpPr>
      <p:grpSpPr>
        <a:xfrm>
          <a:off x="0" y="0"/>
          <a:ext cx="0" cy="0"/>
          <a:chOff x="0" y="0"/>
          <a:chExt cx="0" cy="0"/>
        </a:xfrm>
      </p:grpSpPr>
      <p:sp>
        <p:nvSpPr>
          <p:cNvPr id="240" name="Google Shape;240;p22"/>
          <p:cNvSpPr/>
          <p:nvPr/>
        </p:nvSpPr>
        <p:spPr>
          <a:xfrm>
            <a:off x="0" y="0"/>
            <a:ext cx="9144000" cy="640200"/>
          </a:xfrm>
          <a:prstGeom prst="rect">
            <a:avLst/>
          </a:prstGeom>
          <a:solidFill>
            <a:srgbClr val="0C1F3F"/>
          </a:solidFill>
          <a:ln cap="flat" cmpd="sng" w="12700">
            <a:solidFill>
              <a:srgbClr val="0C1F3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2"/>
          <p:cNvSpPr/>
          <p:nvPr/>
        </p:nvSpPr>
        <p:spPr>
          <a:xfrm>
            <a:off x="365760" y="0"/>
            <a:ext cx="77724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Georgia"/>
              <a:buNone/>
            </a:pPr>
            <a:r>
              <a:rPr b="1" i="0" lang="en" sz="1800" u="none" cap="none" strike="noStrike">
                <a:solidFill>
                  <a:srgbClr val="FFFFFF"/>
                </a:solidFill>
                <a:latin typeface="Georgia"/>
                <a:ea typeface="Georgia"/>
                <a:cs typeface="Georgia"/>
                <a:sym typeface="Georgia"/>
              </a:rPr>
              <a:t>Q2 — Collections vs CX: Where the Tension Lives</a:t>
            </a:r>
            <a:endParaRPr b="0" i="0" sz="1800" u="none" cap="none" strike="noStrike">
              <a:solidFill>
                <a:schemeClr val="dk1"/>
              </a:solidFill>
              <a:latin typeface="Calibri"/>
              <a:ea typeface="Calibri"/>
              <a:cs typeface="Calibri"/>
              <a:sym typeface="Calibri"/>
            </a:endParaRPr>
          </a:p>
        </p:txBody>
      </p:sp>
      <p:sp>
        <p:nvSpPr>
          <p:cNvPr id="242" name="Google Shape;242;p22"/>
          <p:cNvSpPr/>
          <p:nvPr/>
        </p:nvSpPr>
        <p:spPr>
          <a:xfrm>
            <a:off x="8229600" y="0"/>
            <a:ext cx="640200" cy="640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lang="en" sz="900">
                <a:solidFill>
                  <a:srgbClr val="64748B"/>
                </a:solidFill>
                <a:latin typeface="Calibri"/>
                <a:ea typeface="Calibri"/>
                <a:cs typeface="Calibri"/>
                <a:sym typeface="Calibri"/>
              </a:rPr>
              <a:t>7</a:t>
            </a:r>
            <a:r>
              <a:rPr b="0" i="0" lang="en" sz="900" u="none" cap="none" strike="noStrike">
                <a:solidFill>
                  <a:srgbClr val="64748B"/>
                </a:solidFill>
                <a:latin typeface="Calibri"/>
                <a:ea typeface="Calibri"/>
                <a:cs typeface="Calibri"/>
                <a:sym typeface="Calibri"/>
              </a:rPr>
              <a:t> / 12</a:t>
            </a:r>
            <a:endParaRPr b="0" i="0" sz="900" u="none" cap="none" strike="noStrike">
              <a:solidFill>
                <a:schemeClr val="dk1"/>
              </a:solidFill>
              <a:latin typeface="Calibri"/>
              <a:ea typeface="Calibri"/>
              <a:cs typeface="Calibri"/>
              <a:sym typeface="Calibri"/>
            </a:endParaRPr>
          </a:p>
        </p:txBody>
      </p:sp>
      <p:sp>
        <p:nvSpPr>
          <p:cNvPr id="243" name="Google Shape;243;p22"/>
          <p:cNvSpPr/>
          <p:nvPr/>
        </p:nvSpPr>
        <p:spPr>
          <a:xfrm>
            <a:off x="365760" y="777240"/>
            <a:ext cx="8412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000"/>
              <a:buFont typeface="Calibri"/>
              <a:buNone/>
            </a:pPr>
            <a:r>
              <a:rPr b="1" i="0" lang="en" sz="1000" u="none" cap="none" strike="noStrike">
                <a:solidFill>
                  <a:srgbClr val="DC2626"/>
                </a:solidFill>
                <a:latin typeface="Calibri"/>
                <a:ea typeface="Calibri"/>
                <a:cs typeface="Calibri"/>
                <a:sym typeface="Calibri"/>
              </a:rPr>
              <a:t>THE TENSION</a:t>
            </a:r>
            <a:endParaRPr b="0" i="0" sz="1000" u="none" cap="none" strike="noStrike">
              <a:solidFill>
                <a:schemeClr val="dk1"/>
              </a:solidFill>
              <a:latin typeface="Calibri"/>
              <a:ea typeface="Calibri"/>
              <a:cs typeface="Calibri"/>
              <a:sym typeface="Calibri"/>
            </a:endParaRPr>
          </a:p>
        </p:txBody>
      </p:sp>
      <p:sp>
        <p:nvSpPr>
          <p:cNvPr id="244" name="Google Shape;244;p22"/>
          <p:cNvSpPr/>
          <p:nvPr/>
        </p:nvSpPr>
        <p:spPr>
          <a:xfrm>
            <a:off x="365760" y="777240"/>
            <a:ext cx="8412600" cy="27300"/>
          </a:xfrm>
          <a:prstGeom prst="rect">
            <a:avLst/>
          </a:prstGeom>
          <a:solidFill>
            <a:srgbClr val="DC2626"/>
          </a:solidFill>
          <a:ln cap="flat" cmpd="sng" w="12700">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22"/>
          <p:cNvSpPr/>
          <p:nvPr/>
        </p:nvSpPr>
        <p:spPr>
          <a:xfrm>
            <a:off x="214850" y="969300"/>
            <a:ext cx="8563500" cy="14589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22"/>
          <p:cNvSpPr/>
          <p:nvPr/>
        </p:nvSpPr>
        <p:spPr>
          <a:xfrm>
            <a:off x="365750" y="1060700"/>
            <a:ext cx="8275200" cy="1143900"/>
          </a:xfrm>
          <a:prstGeom prst="rect">
            <a:avLst/>
          </a:prstGeom>
          <a:noFill/>
          <a:ln>
            <a:noFill/>
          </a:ln>
        </p:spPr>
        <p:txBody>
          <a:bodyPr anchorCtr="0" anchor="ctr" bIns="0" lIns="0" spcFirstLastPara="1" rIns="0" wrap="square" tIns="0">
            <a:noAutofit/>
          </a:bodyPr>
          <a:lstStyle/>
          <a:p>
            <a:pPr indent="-288925" lvl="0" marL="457200" marR="0" rtl="0" algn="l">
              <a:spcBef>
                <a:spcPts val="0"/>
              </a:spcBef>
              <a:spcAft>
                <a:spcPts val="0"/>
              </a:spcAft>
              <a:buClr>
                <a:srgbClr val="334155"/>
              </a:buClr>
              <a:buSzPts val="950"/>
              <a:buFont typeface="Georgia"/>
              <a:buChar char="●"/>
            </a:pPr>
            <a:r>
              <a:rPr lang="en" sz="950">
                <a:solidFill>
                  <a:srgbClr val="334155"/>
                </a:solidFill>
                <a:latin typeface="Georgia"/>
                <a:ea typeface="Georgia"/>
                <a:cs typeface="Georgia"/>
                <a:sym typeface="Georgia"/>
              </a:rPr>
              <a:t>False locks. The most emotionally charged complaints involve phones locking on the same day a grace period was granted, or locking even though payment was made before the due date. Customers feel deceived — they did the right thing and still got punished. Several NPS 0–2 respondents describe sending formal emails and getting no reply.</a:t>
            </a:r>
            <a:endParaRPr sz="950">
              <a:solidFill>
                <a:srgbClr val="334155"/>
              </a:solidFill>
              <a:latin typeface="Georgia"/>
              <a:ea typeface="Georgia"/>
              <a:cs typeface="Georgia"/>
              <a:sym typeface="Georgia"/>
            </a:endParaRPr>
          </a:p>
          <a:p>
            <a:pPr indent="0" lvl="0" marL="457200" marR="0" rtl="0" algn="l">
              <a:spcBef>
                <a:spcPts val="0"/>
              </a:spcBef>
              <a:spcAft>
                <a:spcPts val="0"/>
              </a:spcAft>
              <a:buNone/>
            </a:pPr>
            <a:r>
              <a:t/>
            </a:r>
            <a:endParaRPr sz="950">
              <a:solidFill>
                <a:srgbClr val="334155"/>
              </a:solidFill>
              <a:latin typeface="Georgia"/>
              <a:ea typeface="Georgia"/>
              <a:cs typeface="Georgia"/>
              <a:sym typeface="Georgia"/>
            </a:endParaRPr>
          </a:p>
          <a:p>
            <a:pPr indent="-288925" lvl="0" marL="457200" marR="0" rtl="0" algn="l">
              <a:spcBef>
                <a:spcPts val="0"/>
              </a:spcBef>
              <a:spcAft>
                <a:spcPts val="0"/>
              </a:spcAft>
              <a:buClr>
                <a:srgbClr val="334155"/>
              </a:buClr>
              <a:buSzPts val="950"/>
              <a:buFont typeface="Georgia"/>
              <a:buChar char="●"/>
            </a:pPr>
            <a:r>
              <a:rPr lang="en" sz="950">
                <a:solidFill>
                  <a:srgbClr val="334155"/>
                </a:solidFill>
                <a:latin typeface="Georgia"/>
                <a:ea typeface="Georgia"/>
                <a:cs typeface="Georgia"/>
                <a:sym typeface="Georgia"/>
              </a:rPr>
              <a:t>Slow unlocking after valid payment. Even justified locks become a CX problem when the unlock takes hours. Customers expect near-instant unlocking; anything longer requires them to contact support, which is often unavailable.</a:t>
            </a:r>
            <a:endParaRPr sz="950">
              <a:solidFill>
                <a:srgbClr val="334155"/>
              </a:solidFill>
              <a:latin typeface="Georgia"/>
              <a:ea typeface="Georgia"/>
              <a:cs typeface="Georgia"/>
              <a:sym typeface="Georgia"/>
            </a:endParaRPr>
          </a:p>
        </p:txBody>
      </p:sp>
      <p:sp>
        <p:nvSpPr>
          <p:cNvPr id="247" name="Google Shape;247;p22"/>
          <p:cNvSpPr/>
          <p:nvPr/>
        </p:nvSpPr>
        <p:spPr>
          <a:xfrm>
            <a:off x="139700" y="2655550"/>
            <a:ext cx="8563500" cy="14589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2"/>
          <p:cNvSpPr/>
          <p:nvPr/>
        </p:nvSpPr>
        <p:spPr>
          <a:xfrm>
            <a:off x="299575" y="2805950"/>
            <a:ext cx="8217000" cy="1188000"/>
          </a:xfrm>
          <a:prstGeom prst="rect">
            <a:avLst/>
          </a:prstGeom>
          <a:noFill/>
          <a:ln>
            <a:noFill/>
          </a:ln>
        </p:spPr>
        <p:txBody>
          <a:bodyPr anchorCtr="0" anchor="ctr" bIns="0" lIns="0" spcFirstLastPara="1" rIns="0" wrap="square" tIns="0">
            <a:noAutofit/>
          </a:bodyPr>
          <a:lstStyle/>
          <a:p>
            <a:pPr indent="-288925" lvl="0" marL="457200" marR="0" rtl="0" algn="l">
              <a:spcBef>
                <a:spcPts val="0"/>
              </a:spcBef>
              <a:spcAft>
                <a:spcPts val="0"/>
              </a:spcAft>
              <a:buClr>
                <a:srgbClr val="334155"/>
              </a:buClr>
              <a:buSzPts val="950"/>
              <a:buFont typeface="Georgia"/>
              <a:buChar char="●"/>
            </a:pPr>
            <a:r>
              <a:rPr lang="en" sz="950">
                <a:solidFill>
                  <a:srgbClr val="334155"/>
                </a:solidFill>
                <a:latin typeface="Georgia"/>
                <a:ea typeface="Georgia"/>
                <a:cs typeface="Georgia"/>
                <a:sym typeface="Georgia"/>
              </a:rPr>
              <a:t>Support unreachable during a lock event. The moments when customers most need support — when locked and uncertain why — are precisely when support is hardest to reach (after hours, weekends). Several customers note the phones line goes unanswered and WhatsApp responses take a day.</a:t>
            </a:r>
            <a:endParaRPr sz="950">
              <a:solidFill>
                <a:srgbClr val="334155"/>
              </a:solidFill>
              <a:latin typeface="Georgia"/>
              <a:ea typeface="Georgia"/>
              <a:cs typeface="Georgia"/>
              <a:sym typeface="Georgia"/>
            </a:endParaRPr>
          </a:p>
          <a:p>
            <a:pPr indent="0" lvl="0" marL="457200" marR="0" rtl="0" algn="l">
              <a:spcBef>
                <a:spcPts val="0"/>
              </a:spcBef>
              <a:spcAft>
                <a:spcPts val="0"/>
              </a:spcAft>
              <a:buNone/>
            </a:pPr>
            <a:r>
              <a:t/>
            </a:r>
            <a:endParaRPr sz="950">
              <a:solidFill>
                <a:srgbClr val="334155"/>
              </a:solidFill>
              <a:latin typeface="Georgia"/>
              <a:ea typeface="Georgia"/>
              <a:cs typeface="Georgia"/>
              <a:sym typeface="Georgia"/>
            </a:endParaRPr>
          </a:p>
          <a:p>
            <a:pPr indent="-288925" lvl="0" marL="457200" marR="0" rtl="0" algn="l">
              <a:spcBef>
                <a:spcPts val="0"/>
              </a:spcBef>
              <a:spcAft>
                <a:spcPts val="0"/>
              </a:spcAft>
              <a:buClr>
                <a:srgbClr val="334155"/>
              </a:buClr>
              <a:buSzPts val="950"/>
              <a:buFont typeface="Georgia"/>
              <a:buChar char="●"/>
            </a:pPr>
            <a:r>
              <a:rPr lang="en" sz="950">
                <a:solidFill>
                  <a:srgbClr val="334155"/>
                </a:solidFill>
                <a:latin typeface="Georgia"/>
                <a:ea typeface="Georgia"/>
                <a:cs typeface="Georgia"/>
                <a:sym typeface="Georgia"/>
              </a:rPr>
              <a:t>Charging during lockout. A subset of customers feel the loan accumulates while the device is unusable, which they consider deeply unfair. One respondent put it clearly: "why is it that I pay for a locked phone?"</a:t>
            </a:r>
            <a:endParaRPr sz="950">
              <a:solidFill>
                <a:srgbClr val="334155"/>
              </a:solidFill>
              <a:latin typeface="Georgia"/>
              <a:ea typeface="Georgia"/>
              <a:cs typeface="Georgia"/>
              <a:sym typeface="Georgia"/>
            </a:endParaRPr>
          </a:p>
        </p:txBody>
      </p:sp>
      <p:sp>
        <p:nvSpPr>
          <p:cNvPr id="249" name="Google Shape;249;p22"/>
          <p:cNvSpPr/>
          <p:nvPr/>
        </p:nvSpPr>
        <p:spPr>
          <a:xfrm>
            <a:off x="-25" y="4343450"/>
            <a:ext cx="9144000" cy="795300"/>
          </a:xfrm>
          <a:prstGeom prst="rect">
            <a:avLst/>
          </a:prstGeom>
          <a:solidFill>
            <a:srgbClr val="134F5C"/>
          </a:solidFill>
          <a:ln>
            <a:noFill/>
          </a:ln>
        </p:spPr>
        <p:txBody>
          <a:bodyPr anchorCtr="0" anchor="ctr" bIns="0" lIns="0" spcFirstLastPara="1" rIns="0" wrap="square" tIns="0">
            <a:noAutofit/>
          </a:bodyPr>
          <a:lstStyle/>
          <a:p>
            <a:pPr indent="0" lvl="0" marL="0" rtl="0" algn="l">
              <a:spcBef>
                <a:spcPts val="0"/>
              </a:spcBef>
              <a:spcAft>
                <a:spcPts val="0"/>
              </a:spcAft>
              <a:buClr>
                <a:srgbClr val="DC2626"/>
              </a:buClr>
              <a:buSzPts val="1000"/>
              <a:buFont typeface="Calibri"/>
              <a:buNone/>
            </a:pPr>
            <a:r>
              <a:rPr b="1" lang="en" sz="1100">
                <a:solidFill>
                  <a:srgbClr val="DC2626"/>
                </a:solidFill>
                <a:latin typeface="Calibri"/>
                <a:ea typeface="Calibri"/>
                <a:cs typeface="Calibri"/>
                <a:sym typeface="Calibri"/>
              </a:rPr>
              <a:t>THE PAIN POINT:</a:t>
            </a:r>
            <a:endParaRPr sz="1100">
              <a:solidFill>
                <a:schemeClr val="lt1"/>
              </a:solidFill>
              <a:latin typeface="Calibri"/>
              <a:ea typeface="Calibri"/>
              <a:cs typeface="Calibri"/>
              <a:sym typeface="Calibri"/>
            </a:endParaRPr>
          </a:p>
          <a:p>
            <a:pPr indent="0" lvl="0" marL="0" marR="0" rtl="0" algn="l">
              <a:spcBef>
                <a:spcPts val="0"/>
              </a:spcBef>
              <a:spcAft>
                <a:spcPts val="0"/>
              </a:spcAft>
              <a:buClr>
                <a:srgbClr val="64748B"/>
              </a:buClr>
              <a:buSzPts val="800"/>
              <a:buFont typeface="Calibri"/>
              <a:buNone/>
            </a:pPr>
            <a:r>
              <a:rPr lang="en" sz="1100">
                <a:solidFill>
                  <a:schemeClr val="lt1"/>
                </a:solidFill>
                <a:latin typeface="Calibri"/>
                <a:ea typeface="Calibri"/>
                <a:cs typeface="Calibri"/>
                <a:sym typeface="Calibri"/>
              </a:rPr>
              <a:t>MoPhones relies on device locking to enforce repayments, which is standard in PAYG financing. However, the locking system works faster and more reliably than payment updates and customer support responses. This gap creates customer frustration, as users may get locked out even after paying or before issues are resolved.</a:t>
            </a:r>
            <a:endParaRPr b="0" i="0" sz="1100" u="none" cap="none" strike="noStrike">
              <a:solidFill>
                <a:schemeClr val="lt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54" name="Shape 254"/>
        <p:cNvGrpSpPr/>
        <p:nvPr/>
      </p:nvGrpSpPr>
      <p:grpSpPr>
        <a:xfrm>
          <a:off x="0" y="0"/>
          <a:ext cx="0" cy="0"/>
          <a:chOff x="0" y="0"/>
          <a:chExt cx="0" cy="0"/>
        </a:xfrm>
      </p:grpSpPr>
      <p:sp>
        <p:nvSpPr>
          <p:cNvPr id="255" name="Google Shape;255;p23"/>
          <p:cNvSpPr/>
          <p:nvPr/>
        </p:nvSpPr>
        <p:spPr>
          <a:xfrm>
            <a:off x="0" y="0"/>
            <a:ext cx="9144000" cy="640200"/>
          </a:xfrm>
          <a:prstGeom prst="rect">
            <a:avLst/>
          </a:prstGeom>
          <a:solidFill>
            <a:srgbClr val="0C1F3F"/>
          </a:solidFill>
          <a:ln cap="flat" cmpd="sng" w="12700">
            <a:solidFill>
              <a:srgbClr val="0C1F3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3"/>
          <p:cNvSpPr/>
          <p:nvPr/>
        </p:nvSpPr>
        <p:spPr>
          <a:xfrm>
            <a:off x="365760" y="0"/>
            <a:ext cx="77724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Georgia"/>
              <a:buNone/>
            </a:pPr>
            <a:r>
              <a:rPr b="1" i="0" lang="en" sz="1800" u="none" cap="none" strike="noStrike">
                <a:solidFill>
                  <a:srgbClr val="FFFFFF"/>
                </a:solidFill>
                <a:latin typeface="Georgia"/>
                <a:ea typeface="Georgia"/>
                <a:cs typeface="Georgia"/>
                <a:sym typeface="Georgia"/>
              </a:rPr>
              <a:t>Q2 — Collections vs CX: </a:t>
            </a:r>
            <a:r>
              <a:rPr b="1" lang="en" sz="1800">
                <a:solidFill>
                  <a:srgbClr val="FFFFFF"/>
                </a:solidFill>
                <a:latin typeface="Georgia"/>
                <a:ea typeface="Georgia"/>
                <a:cs typeface="Georgia"/>
                <a:sym typeface="Georgia"/>
              </a:rPr>
              <a:t>Recommendations</a:t>
            </a:r>
            <a:endParaRPr b="0" i="0" sz="1800" u="none" cap="none" strike="noStrike">
              <a:solidFill>
                <a:schemeClr val="dk1"/>
              </a:solidFill>
              <a:latin typeface="Calibri"/>
              <a:ea typeface="Calibri"/>
              <a:cs typeface="Calibri"/>
              <a:sym typeface="Calibri"/>
            </a:endParaRPr>
          </a:p>
        </p:txBody>
      </p:sp>
      <p:sp>
        <p:nvSpPr>
          <p:cNvPr id="257" name="Google Shape;257;p23"/>
          <p:cNvSpPr/>
          <p:nvPr/>
        </p:nvSpPr>
        <p:spPr>
          <a:xfrm>
            <a:off x="8229600" y="0"/>
            <a:ext cx="640200" cy="640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b="0" i="0" lang="en" sz="900" u="none" cap="none" strike="noStrike">
                <a:solidFill>
                  <a:srgbClr val="64748B"/>
                </a:solidFill>
                <a:latin typeface="Calibri"/>
                <a:ea typeface="Calibri"/>
                <a:cs typeface="Calibri"/>
                <a:sym typeface="Calibri"/>
              </a:rPr>
              <a:t>8 / 12</a:t>
            </a:r>
            <a:endParaRPr b="0" i="0" sz="900" u="none" cap="none" strike="noStrike">
              <a:solidFill>
                <a:schemeClr val="dk1"/>
              </a:solidFill>
              <a:latin typeface="Calibri"/>
              <a:ea typeface="Calibri"/>
              <a:cs typeface="Calibri"/>
              <a:sym typeface="Calibri"/>
            </a:endParaRPr>
          </a:p>
        </p:txBody>
      </p:sp>
      <p:sp>
        <p:nvSpPr>
          <p:cNvPr id="258" name="Google Shape;258;p23"/>
          <p:cNvSpPr/>
          <p:nvPr/>
        </p:nvSpPr>
        <p:spPr>
          <a:xfrm>
            <a:off x="365750" y="777247"/>
            <a:ext cx="84126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000"/>
              <a:buFont typeface="Calibri"/>
              <a:buNone/>
            </a:pPr>
            <a:r>
              <a:rPr b="1" i="0" lang="en" sz="1000" u="none" cap="none" strike="noStrike">
                <a:solidFill>
                  <a:srgbClr val="DC2626"/>
                </a:solidFill>
                <a:latin typeface="Calibri"/>
                <a:ea typeface="Calibri"/>
                <a:cs typeface="Calibri"/>
                <a:sym typeface="Calibri"/>
              </a:rPr>
              <a:t>THE </a:t>
            </a:r>
            <a:r>
              <a:rPr b="1" lang="en" sz="1000">
                <a:solidFill>
                  <a:srgbClr val="DC2626"/>
                </a:solidFill>
                <a:latin typeface="Calibri"/>
                <a:ea typeface="Calibri"/>
                <a:cs typeface="Calibri"/>
                <a:sym typeface="Calibri"/>
              </a:rPr>
              <a:t>RECOMMENDATIONS</a:t>
            </a:r>
            <a:endParaRPr b="0" i="0" sz="1000" u="none" cap="none" strike="noStrike">
              <a:solidFill>
                <a:schemeClr val="dk1"/>
              </a:solidFill>
              <a:latin typeface="Calibri"/>
              <a:ea typeface="Calibri"/>
              <a:cs typeface="Calibri"/>
              <a:sym typeface="Calibri"/>
            </a:endParaRPr>
          </a:p>
        </p:txBody>
      </p:sp>
      <p:sp>
        <p:nvSpPr>
          <p:cNvPr id="259" name="Google Shape;259;p23"/>
          <p:cNvSpPr/>
          <p:nvPr/>
        </p:nvSpPr>
        <p:spPr>
          <a:xfrm>
            <a:off x="365760" y="777240"/>
            <a:ext cx="8412600" cy="27300"/>
          </a:xfrm>
          <a:prstGeom prst="rect">
            <a:avLst/>
          </a:prstGeom>
          <a:solidFill>
            <a:srgbClr val="DC2626"/>
          </a:solidFill>
          <a:ln cap="flat" cmpd="sng" w="12700">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3"/>
          <p:cNvSpPr/>
          <p:nvPr/>
        </p:nvSpPr>
        <p:spPr>
          <a:xfrm>
            <a:off x="214850" y="969300"/>
            <a:ext cx="8563500" cy="21825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23"/>
          <p:cNvSpPr/>
          <p:nvPr/>
        </p:nvSpPr>
        <p:spPr>
          <a:xfrm>
            <a:off x="365750" y="1060700"/>
            <a:ext cx="8275200" cy="1955700"/>
          </a:xfrm>
          <a:prstGeom prst="rect">
            <a:avLst/>
          </a:prstGeom>
          <a:noFill/>
          <a:ln>
            <a:noFill/>
          </a:ln>
        </p:spPr>
        <p:txBody>
          <a:bodyPr anchorCtr="0" anchor="ctr" bIns="0" lIns="0" spcFirstLastPara="1" rIns="0" wrap="square" tIns="0">
            <a:noAutofit/>
          </a:bodyPr>
          <a:lstStyle/>
          <a:p>
            <a:pPr indent="-288925" lvl="0" marL="457200" marR="0" rtl="0" algn="l">
              <a:spcBef>
                <a:spcPts val="0"/>
              </a:spcBef>
              <a:spcAft>
                <a:spcPts val="0"/>
              </a:spcAft>
              <a:buClr>
                <a:srgbClr val="334155"/>
              </a:buClr>
              <a:buSzPts val="950"/>
              <a:buFont typeface="Georgia"/>
              <a:buChar char="●"/>
            </a:pPr>
            <a:r>
              <a:rPr lang="en" sz="950">
                <a:solidFill>
                  <a:srgbClr val="334155"/>
                </a:solidFill>
                <a:latin typeface="Georgia"/>
                <a:ea typeface="Georgia"/>
                <a:cs typeface="Georgia"/>
                <a:sym typeface="Georgia"/>
              </a:rPr>
              <a:t>Introduce a pre-lock validation step to reduce false device locks:</a:t>
            </a:r>
            <a:endParaRPr sz="950">
              <a:solidFill>
                <a:srgbClr val="334155"/>
              </a:solidFill>
              <a:latin typeface="Georgia"/>
              <a:ea typeface="Georgia"/>
              <a:cs typeface="Georgia"/>
              <a:sym typeface="Georgia"/>
            </a:endParaRPr>
          </a:p>
          <a:p>
            <a:pPr indent="0" lvl="0" marL="457200" marR="0" rtl="0" algn="l">
              <a:spcBef>
                <a:spcPts val="0"/>
              </a:spcBef>
              <a:spcAft>
                <a:spcPts val="0"/>
              </a:spcAft>
              <a:buNone/>
            </a:pPr>
            <a:r>
              <a:t/>
            </a:r>
            <a:endParaRPr sz="950">
              <a:solidFill>
                <a:srgbClr val="334155"/>
              </a:solidFill>
              <a:latin typeface="Georgia"/>
              <a:ea typeface="Georgia"/>
              <a:cs typeface="Georgia"/>
              <a:sym typeface="Georgia"/>
            </a:endParaRPr>
          </a:p>
          <a:p>
            <a:pPr indent="-288925" lvl="1" marL="914400" marR="0" rtl="0" algn="l">
              <a:spcBef>
                <a:spcPts val="0"/>
              </a:spcBef>
              <a:spcAft>
                <a:spcPts val="0"/>
              </a:spcAft>
              <a:buClr>
                <a:srgbClr val="334155"/>
              </a:buClr>
              <a:buSzPts val="950"/>
              <a:buFont typeface="Georgia"/>
              <a:buChar char="○"/>
            </a:pPr>
            <a:r>
              <a:rPr lang="en" sz="950">
                <a:solidFill>
                  <a:srgbClr val="334155"/>
                </a:solidFill>
                <a:latin typeface="Georgia"/>
                <a:ea typeface="Georgia"/>
                <a:cs typeface="Georgia"/>
                <a:sym typeface="Georgia"/>
              </a:rPr>
              <a:t>Send an automated SMS/WhatsApp confirming payment status before any lock action</a:t>
            </a:r>
            <a:endParaRPr sz="950">
              <a:solidFill>
                <a:srgbClr val="334155"/>
              </a:solidFill>
              <a:latin typeface="Georgia"/>
              <a:ea typeface="Georgia"/>
              <a:cs typeface="Georgia"/>
              <a:sym typeface="Georgia"/>
            </a:endParaRPr>
          </a:p>
          <a:p>
            <a:pPr indent="-288925" lvl="1" marL="914400" marR="0" rtl="0" algn="l">
              <a:spcBef>
                <a:spcPts val="0"/>
              </a:spcBef>
              <a:spcAft>
                <a:spcPts val="0"/>
              </a:spcAft>
              <a:buClr>
                <a:srgbClr val="334155"/>
              </a:buClr>
              <a:buSzPts val="950"/>
              <a:buFont typeface="Georgia"/>
              <a:buChar char="○"/>
            </a:pPr>
            <a:r>
              <a:rPr lang="en" sz="950">
                <a:solidFill>
                  <a:srgbClr val="334155"/>
                </a:solidFill>
                <a:latin typeface="Georgia"/>
                <a:ea typeface="Georgia"/>
                <a:cs typeface="Georgia"/>
                <a:sym typeface="Georgia"/>
              </a:rPr>
              <a:t>If a payment was made within the last 24 hours, temporarily stop the lock</a:t>
            </a:r>
            <a:endParaRPr sz="950">
              <a:solidFill>
                <a:srgbClr val="334155"/>
              </a:solidFill>
              <a:latin typeface="Georgia"/>
              <a:ea typeface="Georgia"/>
              <a:cs typeface="Georgia"/>
              <a:sym typeface="Georgia"/>
            </a:endParaRPr>
          </a:p>
          <a:p>
            <a:pPr indent="-288925" lvl="1" marL="914400" marR="0" rtl="0" algn="l">
              <a:spcBef>
                <a:spcPts val="0"/>
              </a:spcBef>
              <a:spcAft>
                <a:spcPts val="0"/>
              </a:spcAft>
              <a:buClr>
                <a:srgbClr val="334155"/>
              </a:buClr>
              <a:buSzPts val="950"/>
              <a:buFont typeface="Georgia"/>
              <a:buChar char="○"/>
            </a:pPr>
            <a:r>
              <a:rPr lang="en" sz="950">
                <a:solidFill>
                  <a:srgbClr val="334155"/>
                </a:solidFill>
                <a:latin typeface="Georgia"/>
                <a:ea typeface="Georgia"/>
                <a:cs typeface="Georgia"/>
                <a:sym typeface="Georgia"/>
              </a:rPr>
              <a:t>Add a short delay (e.g., 2 hours) and recheck payment status before proceeding</a:t>
            </a:r>
            <a:endParaRPr sz="950">
              <a:solidFill>
                <a:srgbClr val="334155"/>
              </a:solidFill>
              <a:latin typeface="Georgia"/>
              <a:ea typeface="Georgia"/>
              <a:cs typeface="Georgia"/>
              <a:sym typeface="Georgia"/>
            </a:endParaRPr>
          </a:p>
          <a:p>
            <a:pPr indent="0" lvl="0" marL="0" marR="0" rtl="0" algn="l">
              <a:spcBef>
                <a:spcPts val="0"/>
              </a:spcBef>
              <a:spcAft>
                <a:spcPts val="0"/>
              </a:spcAft>
              <a:buNone/>
            </a:pPr>
            <a:r>
              <a:rPr lang="en" sz="950">
                <a:solidFill>
                  <a:srgbClr val="334155"/>
                </a:solidFill>
                <a:latin typeface="Georgia"/>
                <a:ea typeface="Georgia"/>
                <a:cs typeface="Georgia"/>
                <a:sym typeface="Georgia"/>
              </a:rPr>
              <a:t>This directly prevents cases where customers are locked out despite having already paid, addressing a major source of frustration.</a:t>
            </a:r>
            <a:endParaRPr sz="950">
              <a:solidFill>
                <a:srgbClr val="334155"/>
              </a:solidFill>
              <a:latin typeface="Georgia"/>
              <a:ea typeface="Georgia"/>
              <a:cs typeface="Georgia"/>
              <a:sym typeface="Georgia"/>
            </a:endParaRPr>
          </a:p>
          <a:p>
            <a:pPr indent="0" lvl="0" marL="457200" marR="0" rtl="0" algn="l">
              <a:spcBef>
                <a:spcPts val="0"/>
              </a:spcBef>
              <a:spcAft>
                <a:spcPts val="0"/>
              </a:spcAft>
              <a:buNone/>
            </a:pPr>
            <a:r>
              <a:t/>
            </a:r>
            <a:endParaRPr sz="950">
              <a:solidFill>
                <a:srgbClr val="334155"/>
              </a:solidFill>
              <a:latin typeface="Georgia"/>
              <a:ea typeface="Georgia"/>
              <a:cs typeface="Georgia"/>
              <a:sym typeface="Georgia"/>
            </a:endParaRPr>
          </a:p>
          <a:p>
            <a:pPr indent="0" lvl="0" marL="457200" marR="0" rtl="0" algn="l">
              <a:spcBef>
                <a:spcPts val="0"/>
              </a:spcBef>
              <a:spcAft>
                <a:spcPts val="0"/>
              </a:spcAft>
              <a:buNone/>
            </a:pPr>
            <a:r>
              <a:t/>
            </a:r>
            <a:endParaRPr sz="950">
              <a:solidFill>
                <a:srgbClr val="334155"/>
              </a:solidFill>
              <a:latin typeface="Georgia"/>
              <a:ea typeface="Georgia"/>
              <a:cs typeface="Georgia"/>
              <a:sym typeface="Georgia"/>
            </a:endParaRPr>
          </a:p>
          <a:p>
            <a:pPr indent="-288925" lvl="0" marL="457200" marR="0" rtl="0" algn="l">
              <a:spcBef>
                <a:spcPts val="0"/>
              </a:spcBef>
              <a:spcAft>
                <a:spcPts val="0"/>
              </a:spcAft>
              <a:buClr>
                <a:srgbClr val="334155"/>
              </a:buClr>
              <a:buSzPts val="950"/>
              <a:buFont typeface="Georgia"/>
              <a:buChar char="●"/>
            </a:pPr>
            <a:r>
              <a:rPr lang="en" sz="950">
                <a:solidFill>
                  <a:srgbClr val="334155"/>
                </a:solidFill>
                <a:latin typeface="Georgia"/>
                <a:ea typeface="Georgia"/>
                <a:cs typeface="Georgia"/>
                <a:sym typeface="Georgia"/>
              </a:rPr>
              <a:t>Make the grace period system-enforced, not just a manual promise:</a:t>
            </a:r>
            <a:endParaRPr sz="950">
              <a:solidFill>
                <a:srgbClr val="334155"/>
              </a:solidFill>
              <a:latin typeface="Georgia"/>
              <a:ea typeface="Georgia"/>
              <a:cs typeface="Georgia"/>
              <a:sym typeface="Georgia"/>
            </a:endParaRPr>
          </a:p>
          <a:p>
            <a:pPr indent="0" lvl="0" marL="457200" marR="0" rtl="0" algn="l">
              <a:spcBef>
                <a:spcPts val="0"/>
              </a:spcBef>
              <a:spcAft>
                <a:spcPts val="0"/>
              </a:spcAft>
              <a:buNone/>
            </a:pPr>
            <a:r>
              <a:t/>
            </a:r>
            <a:endParaRPr sz="950">
              <a:solidFill>
                <a:srgbClr val="334155"/>
              </a:solidFill>
              <a:latin typeface="Georgia"/>
              <a:ea typeface="Georgia"/>
              <a:cs typeface="Georgia"/>
              <a:sym typeface="Georgia"/>
            </a:endParaRPr>
          </a:p>
          <a:p>
            <a:pPr indent="-288925" lvl="1" marL="914400" marR="0" rtl="0" algn="l">
              <a:spcBef>
                <a:spcPts val="0"/>
              </a:spcBef>
              <a:spcAft>
                <a:spcPts val="0"/>
              </a:spcAft>
              <a:buClr>
                <a:srgbClr val="334155"/>
              </a:buClr>
              <a:buSzPts val="950"/>
              <a:buFont typeface="Georgia"/>
              <a:buChar char="○"/>
            </a:pPr>
            <a:r>
              <a:rPr lang="en" sz="950">
                <a:solidFill>
                  <a:srgbClr val="334155"/>
                </a:solidFill>
                <a:latin typeface="Georgia"/>
                <a:ea typeface="Georgia"/>
                <a:cs typeface="Georgia"/>
                <a:sym typeface="Georgia"/>
              </a:rPr>
              <a:t>Add a flag (e.g., grace_period_active = true) that blocks all lock triggers</a:t>
            </a:r>
            <a:endParaRPr sz="950">
              <a:solidFill>
                <a:srgbClr val="334155"/>
              </a:solidFill>
              <a:latin typeface="Georgia"/>
              <a:ea typeface="Georgia"/>
              <a:cs typeface="Georgia"/>
              <a:sym typeface="Georgia"/>
            </a:endParaRPr>
          </a:p>
          <a:p>
            <a:pPr indent="-288925" lvl="1" marL="914400" marR="0" rtl="0" algn="l">
              <a:spcBef>
                <a:spcPts val="0"/>
              </a:spcBef>
              <a:spcAft>
                <a:spcPts val="0"/>
              </a:spcAft>
              <a:buClr>
                <a:srgbClr val="334155"/>
              </a:buClr>
              <a:buSzPts val="950"/>
              <a:buFont typeface="Georgia"/>
              <a:buChar char="○"/>
            </a:pPr>
            <a:r>
              <a:rPr lang="en" sz="950">
                <a:solidFill>
                  <a:srgbClr val="334155"/>
                </a:solidFill>
                <a:latin typeface="Georgia"/>
                <a:ea typeface="Georgia"/>
                <a:cs typeface="Georgia"/>
                <a:sym typeface="Georgia"/>
              </a:rPr>
              <a:t>Include a grace_period_expiry field and require the lock system to check it before locking</a:t>
            </a:r>
            <a:endParaRPr sz="950">
              <a:solidFill>
                <a:srgbClr val="334155"/>
              </a:solidFill>
              <a:latin typeface="Georgia"/>
              <a:ea typeface="Georgia"/>
              <a:cs typeface="Georgia"/>
              <a:sym typeface="Georgia"/>
            </a:endParaRPr>
          </a:p>
          <a:p>
            <a:pPr indent="-288925" lvl="1" marL="914400" marR="0" rtl="0" algn="l">
              <a:spcBef>
                <a:spcPts val="0"/>
              </a:spcBef>
              <a:spcAft>
                <a:spcPts val="0"/>
              </a:spcAft>
              <a:buClr>
                <a:srgbClr val="334155"/>
              </a:buClr>
              <a:buSzPts val="950"/>
              <a:buFont typeface="Georgia"/>
              <a:buChar char="○"/>
            </a:pPr>
            <a:r>
              <a:rPr lang="en" sz="950">
                <a:solidFill>
                  <a:srgbClr val="334155"/>
                </a:solidFill>
                <a:latin typeface="Georgia"/>
                <a:ea typeface="Georgia"/>
                <a:cs typeface="Georgia"/>
                <a:sym typeface="Georgia"/>
              </a:rPr>
              <a:t>Send an SMS confirming the grace period window to the customer</a:t>
            </a:r>
            <a:endParaRPr sz="950">
              <a:solidFill>
                <a:srgbClr val="334155"/>
              </a:solidFill>
              <a:latin typeface="Georgia"/>
              <a:ea typeface="Georgia"/>
              <a:cs typeface="Georgia"/>
              <a:sym typeface="Georgia"/>
            </a:endParaRPr>
          </a:p>
          <a:p>
            <a:pPr indent="0" lvl="0" marL="457200" marR="0" rtl="0" algn="l">
              <a:spcBef>
                <a:spcPts val="0"/>
              </a:spcBef>
              <a:spcAft>
                <a:spcPts val="0"/>
              </a:spcAft>
              <a:buNone/>
            </a:pPr>
            <a:r>
              <a:t/>
            </a:r>
            <a:endParaRPr sz="950">
              <a:solidFill>
                <a:srgbClr val="334155"/>
              </a:solidFill>
              <a:latin typeface="Georgia"/>
              <a:ea typeface="Georgia"/>
              <a:cs typeface="Georgia"/>
              <a:sym typeface="Georgia"/>
            </a:endParaRPr>
          </a:p>
          <a:p>
            <a:pPr indent="0" lvl="0" marL="0" marR="0" rtl="0" algn="l">
              <a:spcBef>
                <a:spcPts val="0"/>
              </a:spcBef>
              <a:spcAft>
                <a:spcPts val="0"/>
              </a:spcAft>
              <a:buNone/>
            </a:pPr>
            <a:r>
              <a:rPr lang="en" sz="950">
                <a:solidFill>
                  <a:srgbClr val="334155"/>
                </a:solidFill>
                <a:latin typeface="Georgia"/>
                <a:ea typeface="Georgia"/>
                <a:cs typeface="Georgia"/>
                <a:sym typeface="Georgia"/>
              </a:rPr>
              <a:t>This ensures phones don’t lock during an agreed grace period, preventing trust breakdown and extremely low NPS scores.</a:t>
            </a:r>
            <a:endParaRPr sz="950">
              <a:solidFill>
                <a:srgbClr val="334155"/>
              </a:solidFill>
              <a:latin typeface="Georgia"/>
              <a:ea typeface="Georgia"/>
              <a:cs typeface="Georgia"/>
              <a:sym typeface="Georgia"/>
            </a:endParaRPr>
          </a:p>
        </p:txBody>
      </p:sp>
      <p:sp>
        <p:nvSpPr>
          <p:cNvPr id="262" name="Google Shape;262;p23"/>
          <p:cNvSpPr/>
          <p:nvPr/>
        </p:nvSpPr>
        <p:spPr>
          <a:xfrm>
            <a:off x="221600" y="3151850"/>
            <a:ext cx="8563500" cy="19557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3"/>
          <p:cNvSpPr/>
          <p:nvPr/>
        </p:nvSpPr>
        <p:spPr>
          <a:xfrm>
            <a:off x="254600" y="3316550"/>
            <a:ext cx="8497500" cy="1827000"/>
          </a:xfrm>
          <a:prstGeom prst="rect">
            <a:avLst/>
          </a:prstGeom>
          <a:noFill/>
          <a:ln>
            <a:noFill/>
          </a:ln>
        </p:spPr>
        <p:txBody>
          <a:bodyPr anchorCtr="0" anchor="ctr" bIns="0" lIns="0" spcFirstLastPara="1" rIns="0" wrap="square" tIns="0">
            <a:noAutofit/>
          </a:bodyPr>
          <a:lstStyle/>
          <a:p>
            <a:pPr indent="-288925" lvl="0" marL="457200" marR="0" rtl="0" algn="l">
              <a:spcBef>
                <a:spcPts val="0"/>
              </a:spcBef>
              <a:spcAft>
                <a:spcPts val="0"/>
              </a:spcAft>
              <a:buClr>
                <a:srgbClr val="334155"/>
              </a:buClr>
              <a:buSzPts val="950"/>
              <a:buFont typeface="Georgia"/>
              <a:buChar char="●"/>
            </a:pPr>
            <a:r>
              <a:rPr lang="en" sz="950">
                <a:solidFill>
                  <a:srgbClr val="334155"/>
                </a:solidFill>
                <a:latin typeface="Georgia"/>
                <a:ea typeface="Georgia"/>
                <a:cs typeface="Georgia"/>
                <a:sym typeface="Georgia"/>
              </a:rPr>
              <a:t>Fix the mismatch between 24/7 collections and limited support:</a:t>
            </a:r>
            <a:endParaRPr sz="950">
              <a:solidFill>
                <a:srgbClr val="334155"/>
              </a:solidFill>
              <a:latin typeface="Georgia"/>
              <a:ea typeface="Georgia"/>
              <a:cs typeface="Georgia"/>
              <a:sym typeface="Georgia"/>
            </a:endParaRPr>
          </a:p>
          <a:p>
            <a:pPr indent="-288925" lvl="1" marL="914400" marR="0" rtl="0" algn="l">
              <a:spcBef>
                <a:spcPts val="0"/>
              </a:spcBef>
              <a:spcAft>
                <a:spcPts val="0"/>
              </a:spcAft>
              <a:buClr>
                <a:srgbClr val="334155"/>
              </a:buClr>
              <a:buSzPts val="950"/>
              <a:buFont typeface="Georgia"/>
              <a:buChar char="○"/>
            </a:pPr>
            <a:r>
              <a:rPr lang="en" sz="950">
                <a:solidFill>
                  <a:srgbClr val="334155"/>
                </a:solidFill>
                <a:latin typeface="Georgia"/>
                <a:ea typeface="Georgia"/>
                <a:cs typeface="Georgia"/>
                <a:sym typeface="Georgia"/>
              </a:rPr>
              <a:t>Add weekend/after-hours coverage (e.g., a small Sat–Sun team) with authority to resolve lock disputes and issue same-day unlocks</a:t>
            </a:r>
            <a:endParaRPr sz="950">
              <a:solidFill>
                <a:srgbClr val="334155"/>
              </a:solidFill>
              <a:latin typeface="Georgia"/>
              <a:ea typeface="Georgia"/>
              <a:cs typeface="Georgia"/>
              <a:sym typeface="Georgia"/>
            </a:endParaRPr>
          </a:p>
          <a:p>
            <a:pPr indent="-288925" lvl="1" marL="914400" marR="0" rtl="0" algn="l">
              <a:spcBef>
                <a:spcPts val="0"/>
              </a:spcBef>
              <a:spcAft>
                <a:spcPts val="0"/>
              </a:spcAft>
              <a:buClr>
                <a:srgbClr val="334155"/>
              </a:buClr>
              <a:buSzPts val="950"/>
              <a:buFont typeface="Georgia"/>
              <a:buChar char="○"/>
            </a:pPr>
            <a:r>
              <a:rPr lang="en" sz="950">
                <a:solidFill>
                  <a:srgbClr val="334155"/>
                </a:solidFill>
                <a:latin typeface="Georgia"/>
                <a:ea typeface="Georgia"/>
                <a:cs typeface="Georgia"/>
                <a:sym typeface="Georgia"/>
              </a:rPr>
              <a:t>Introduce a WhatsApp bot that lets customers submit payment proof, verifies M-Pesa transaction IDs, and auto-unlocks when valid</a:t>
            </a:r>
            <a:endParaRPr sz="950">
              <a:solidFill>
                <a:srgbClr val="334155"/>
              </a:solidFill>
              <a:latin typeface="Georgia"/>
              <a:ea typeface="Georgia"/>
              <a:cs typeface="Georgia"/>
              <a:sym typeface="Georgia"/>
            </a:endParaRPr>
          </a:p>
          <a:p>
            <a:pPr indent="0" lvl="0" marL="0" marR="0" rtl="0" algn="l">
              <a:spcBef>
                <a:spcPts val="0"/>
              </a:spcBef>
              <a:spcAft>
                <a:spcPts val="0"/>
              </a:spcAft>
              <a:buNone/>
            </a:pPr>
            <a:r>
              <a:rPr lang="en" sz="950">
                <a:solidFill>
                  <a:srgbClr val="334155"/>
                </a:solidFill>
                <a:latin typeface="Georgia"/>
                <a:ea typeface="Georgia"/>
                <a:cs typeface="Georgia"/>
                <a:sym typeface="Georgia"/>
              </a:rPr>
              <a:t>This ensures customers can resolve lock issues immediately, even outside normal business hours.</a:t>
            </a:r>
            <a:endParaRPr sz="950">
              <a:solidFill>
                <a:srgbClr val="334155"/>
              </a:solidFill>
              <a:latin typeface="Georgia"/>
              <a:ea typeface="Georgia"/>
              <a:cs typeface="Georgia"/>
              <a:sym typeface="Georgia"/>
            </a:endParaRPr>
          </a:p>
          <a:p>
            <a:pPr indent="0" lvl="0" marL="457200" marR="0" rtl="0" algn="l">
              <a:spcBef>
                <a:spcPts val="0"/>
              </a:spcBef>
              <a:spcAft>
                <a:spcPts val="0"/>
              </a:spcAft>
              <a:buNone/>
            </a:pPr>
            <a:r>
              <a:t/>
            </a:r>
            <a:endParaRPr sz="950">
              <a:solidFill>
                <a:srgbClr val="334155"/>
              </a:solidFill>
              <a:latin typeface="Georgia"/>
              <a:ea typeface="Georgia"/>
              <a:cs typeface="Georgia"/>
              <a:sym typeface="Georgia"/>
            </a:endParaRPr>
          </a:p>
          <a:p>
            <a:pPr indent="-288925" lvl="0" marL="457200" marR="0" rtl="0" algn="l">
              <a:spcBef>
                <a:spcPts val="0"/>
              </a:spcBef>
              <a:spcAft>
                <a:spcPts val="0"/>
              </a:spcAft>
              <a:buClr>
                <a:srgbClr val="334155"/>
              </a:buClr>
              <a:buSzPts val="950"/>
              <a:buFont typeface="Georgia"/>
              <a:buChar char="●"/>
            </a:pPr>
            <a:r>
              <a:rPr lang="en" sz="950">
                <a:solidFill>
                  <a:srgbClr val="334155"/>
                </a:solidFill>
                <a:latin typeface="Georgia"/>
                <a:ea typeface="Georgia"/>
                <a:cs typeface="Georgia"/>
                <a:sym typeface="Georgia"/>
              </a:rPr>
              <a:t>Enable self-service unlocking to eliminate support delays:</a:t>
            </a:r>
            <a:endParaRPr sz="950">
              <a:solidFill>
                <a:srgbClr val="334155"/>
              </a:solidFill>
              <a:latin typeface="Georgia"/>
              <a:ea typeface="Georgia"/>
              <a:cs typeface="Georgia"/>
              <a:sym typeface="Georgia"/>
            </a:endParaRPr>
          </a:p>
          <a:p>
            <a:pPr indent="-288925" lvl="1" marL="914400" marR="0" rtl="0" algn="l">
              <a:spcBef>
                <a:spcPts val="0"/>
              </a:spcBef>
              <a:spcAft>
                <a:spcPts val="0"/>
              </a:spcAft>
              <a:buClr>
                <a:srgbClr val="334155"/>
              </a:buClr>
              <a:buSzPts val="950"/>
              <a:buFont typeface="Georgia"/>
              <a:buChar char="○"/>
            </a:pPr>
            <a:r>
              <a:rPr lang="en" sz="950">
                <a:solidFill>
                  <a:srgbClr val="334155"/>
                </a:solidFill>
                <a:latin typeface="Georgia"/>
                <a:ea typeface="Georgia"/>
                <a:cs typeface="Georgia"/>
                <a:sym typeface="Georgia"/>
              </a:rPr>
              <a:t>Show a USSD code (e.g., *384#) on the lock screen for customers to dial after payment</a:t>
            </a:r>
            <a:endParaRPr sz="950">
              <a:solidFill>
                <a:srgbClr val="334155"/>
              </a:solidFill>
              <a:latin typeface="Georgia"/>
              <a:ea typeface="Georgia"/>
              <a:cs typeface="Georgia"/>
              <a:sym typeface="Georgia"/>
            </a:endParaRPr>
          </a:p>
          <a:p>
            <a:pPr indent="-288925" lvl="1" marL="914400" marR="0" rtl="0" algn="l">
              <a:spcBef>
                <a:spcPts val="0"/>
              </a:spcBef>
              <a:spcAft>
                <a:spcPts val="0"/>
              </a:spcAft>
              <a:buClr>
                <a:srgbClr val="334155"/>
              </a:buClr>
              <a:buSzPts val="950"/>
              <a:buFont typeface="Georgia"/>
              <a:buChar char="○"/>
            </a:pPr>
            <a:r>
              <a:rPr lang="en" sz="950">
                <a:solidFill>
                  <a:srgbClr val="334155"/>
                </a:solidFill>
                <a:latin typeface="Georgia"/>
                <a:ea typeface="Georgia"/>
                <a:cs typeface="Georgia"/>
                <a:sym typeface="Georgia"/>
              </a:rPr>
              <a:t>Build a USSD endpoint that verifies payment and automatically triggers an unlock</a:t>
            </a:r>
            <a:endParaRPr sz="950">
              <a:solidFill>
                <a:srgbClr val="334155"/>
              </a:solidFill>
              <a:latin typeface="Georgia"/>
              <a:ea typeface="Georgia"/>
              <a:cs typeface="Georgia"/>
              <a:sym typeface="Georgia"/>
            </a:endParaRPr>
          </a:p>
          <a:p>
            <a:pPr indent="-288925" lvl="1" marL="914400" marR="0" rtl="0" algn="l">
              <a:spcBef>
                <a:spcPts val="0"/>
              </a:spcBef>
              <a:spcAft>
                <a:spcPts val="0"/>
              </a:spcAft>
              <a:buClr>
                <a:srgbClr val="334155"/>
              </a:buClr>
              <a:buSzPts val="950"/>
              <a:buFont typeface="Georgia"/>
              <a:buChar char="○"/>
            </a:pPr>
            <a:r>
              <a:rPr lang="en" sz="950">
                <a:solidFill>
                  <a:srgbClr val="334155"/>
                </a:solidFill>
                <a:latin typeface="Georgia"/>
                <a:ea typeface="Georgia"/>
                <a:cs typeface="Georgia"/>
                <a:sym typeface="Georgia"/>
              </a:rPr>
              <a:t>Update the lock screen with clear instructions for instant access</a:t>
            </a:r>
            <a:endParaRPr sz="950">
              <a:solidFill>
                <a:srgbClr val="334155"/>
              </a:solidFill>
              <a:latin typeface="Georgia"/>
              <a:ea typeface="Georgia"/>
              <a:cs typeface="Georgia"/>
              <a:sym typeface="Georgia"/>
            </a:endParaRPr>
          </a:p>
          <a:p>
            <a:pPr indent="0" lvl="0" marL="0" marR="0" rtl="0" algn="l">
              <a:spcBef>
                <a:spcPts val="0"/>
              </a:spcBef>
              <a:spcAft>
                <a:spcPts val="0"/>
              </a:spcAft>
              <a:buNone/>
            </a:pPr>
            <a:r>
              <a:rPr lang="en" sz="950">
                <a:solidFill>
                  <a:srgbClr val="334155"/>
                </a:solidFill>
                <a:latin typeface="Georgia"/>
                <a:ea typeface="Georgia"/>
                <a:cs typeface="Georgia"/>
                <a:sym typeface="Georgia"/>
              </a:rPr>
              <a:t>This removes the need for agent intervention and clears the unlock backlog.</a:t>
            </a:r>
            <a:endParaRPr sz="950">
              <a:solidFill>
                <a:srgbClr val="334155"/>
              </a:solidFill>
              <a:latin typeface="Georgia"/>
              <a:ea typeface="Georgia"/>
              <a:cs typeface="Georgia"/>
              <a:sym typeface="Georgi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68" name="Shape 268"/>
        <p:cNvGrpSpPr/>
        <p:nvPr/>
      </p:nvGrpSpPr>
      <p:grpSpPr>
        <a:xfrm>
          <a:off x="0" y="0"/>
          <a:ext cx="0" cy="0"/>
          <a:chOff x="0" y="0"/>
          <a:chExt cx="0" cy="0"/>
        </a:xfrm>
      </p:grpSpPr>
      <p:sp>
        <p:nvSpPr>
          <p:cNvPr id="269" name="Google Shape;269;p24"/>
          <p:cNvSpPr/>
          <p:nvPr/>
        </p:nvSpPr>
        <p:spPr>
          <a:xfrm>
            <a:off x="0" y="0"/>
            <a:ext cx="9144000" cy="640200"/>
          </a:xfrm>
          <a:prstGeom prst="rect">
            <a:avLst/>
          </a:prstGeom>
          <a:solidFill>
            <a:srgbClr val="134F5C"/>
          </a:solidFill>
          <a:ln cap="flat" cmpd="sng" w="12700">
            <a:solidFill>
              <a:srgbClr val="0C1F3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4"/>
          <p:cNvSpPr/>
          <p:nvPr/>
        </p:nvSpPr>
        <p:spPr>
          <a:xfrm>
            <a:off x="365760" y="0"/>
            <a:ext cx="77724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Georgia"/>
              <a:buNone/>
            </a:pPr>
            <a:r>
              <a:rPr b="1" i="0" lang="en" sz="2000" u="none" cap="none" strike="noStrike">
                <a:solidFill>
                  <a:srgbClr val="FFFFFF"/>
                </a:solidFill>
                <a:latin typeface="Georgia"/>
                <a:ea typeface="Georgia"/>
                <a:cs typeface="Georgia"/>
                <a:sym typeface="Georgia"/>
              </a:rPr>
              <a:t>Q3 — Data Quality: Issues Found</a:t>
            </a:r>
            <a:endParaRPr b="0" i="0" sz="2000" u="none" cap="none" strike="noStrike">
              <a:solidFill>
                <a:schemeClr val="dk1"/>
              </a:solidFill>
              <a:latin typeface="Calibri"/>
              <a:ea typeface="Calibri"/>
              <a:cs typeface="Calibri"/>
              <a:sym typeface="Calibri"/>
            </a:endParaRPr>
          </a:p>
        </p:txBody>
      </p:sp>
      <p:sp>
        <p:nvSpPr>
          <p:cNvPr id="271" name="Google Shape;271;p24"/>
          <p:cNvSpPr/>
          <p:nvPr/>
        </p:nvSpPr>
        <p:spPr>
          <a:xfrm>
            <a:off x="8229600" y="0"/>
            <a:ext cx="640200" cy="640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lang="en" sz="900">
                <a:solidFill>
                  <a:srgbClr val="64748B"/>
                </a:solidFill>
                <a:latin typeface="Calibri"/>
                <a:ea typeface="Calibri"/>
                <a:cs typeface="Calibri"/>
                <a:sym typeface="Calibri"/>
              </a:rPr>
              <a:t>9</a:t>
            </a:r>
            <a:r>
              <a:rPr b="0" i="0" lang="en" sz="900" u="none" cap="none" strike="noStrike">
                <a:solidFill>
                  <a:srgbClr val="64748B"/>
                </a:solidFill>
                <a:latin typeface="Calibri"/>
                <a:ea typeface="Calibri"/>
                <a:cs typeface="Calibri"/>
                <a:sym typeface="Calibri"/>
              </a:rPr>
              <a:t> / 12</a:t>
            </a:r>
            <a:endParaRPr b="0" i="0" sz="900" u="none" cap="none" strike="noStrike">
              <a:solidFill>
                <a:schemeClr val="dk1"/>
              </a:solidFill>
              <a:latin typeface="Calibri"/>
              <a:ea typeface="Calibri"/>
              <a:cs typeface="Calibri"/>
              <a:sym typeface="Calibri"/>
            </a:endParaRPr>
          </a:p>
        </p:txBody>
      </p:sp>
      <p:sp>
        <p:nvSpPr>
          <p:cNvPr id="272" name="Google Shape;272;p24"/>
          <p:cNvSpPr/>
          <p:nvPr/>
        </p:nvSpPr>
        <p:spPr>
          <a:xfrm>
            <a:off x="251445" y="917452"/>
            <a:ext cx="4206300" cy="12345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4"/>
          <p:cNvSpPr/>
          <p:nvPr/>
        </p:nvSpPr>
        <p:spPr>
          <a:xfrm>
            <a:off x="311090" y="917442"/>
            <a:ext cx="32919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1F3F"/>
              </a:buClr>
              <a:buSzPts val="950"/>
              <a:buFont typeface="Calibri"/>
              <a:buNone/>
            </a:pPr>
            <a:r>
              <a:rPr b="1" lang="en" sz="950">
                <a:solidFill>
                  <a:srgbClr val="0C1F3F"/>
                </a:solidFill>
                <a:latin typeface="Georgia"/>
                <a:ea typeface="Georgia"/>
                <a:cs typeface="Georgia"/>
                <a:sym typeface="Georgia"/>
              </a:rPr>
              <a:t>Customer_Age</a:t>
            </a:r>
            <a:endParaRPr i="0" sz="950" u="none" cap="none" strike="noStrike">
              <a:solidFill>
                <a:schemeClr val="dk1"/>
              </a:solidFill>
              <a:latin typeface="Georgia"/>
              <a:ea typeface="Georgia"/>
              <a:cs typeface="Georgia"/>
              <a:sym typeface="Georgia"/>
            </a:endParaRPr>
          </a:p>
        </p:txBody>
      </p:sp>
      <p:sp>
        <p:nvSpPr>
          <p:cNvPr id="274" name="Google Shape;274;p24"/>
          <p:cNvSpPr/>
          <p:nvPr/>
        </p:nvSpPr>
        <p:spPr>
          <a:xfrm>
            <a:off x="251445" y="2289378"/>
            <a:ext cx="4206300" cy="12345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4"/>
          <p:cNvSpPr/>
          <p:nvPr/>
        </p:nvSpPr>
        <p:spPr>
          <a:xfrm>
            <a:off x="311090" y="2429193"/>
            <a:ext cx="32919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1F3F"/>
              </a:buClr>
              <a:buSzPts val="950"/>
              <a:buFont typeface="Calibri"/>
              <a:buNone/>
            </a:pPr>
            <a:r>
              <a:rPr b="1" lang="en" sz="950">
                <a:solidFill>
                  <a:srgbClr val="0C1F3F"/>
                </a:solidFill>
                <a:latin typeface="Georgia"/>
                <a:ea typeface="Georgia"/>
                <a:cs typeface="Georgia"/>
                <a:sym typeface="Georgia"/>
              </a:rPr>
              <a:t>Account_Status_L2 = 'Active' with Arrears &gt; 0</a:t>
            </a:r>
            <a:endParaRPr i="0" sz="950" u="none" cap="none" strike="noStrike">
              <a:solidFill>
                <a:schemeClr val="dk1"/>
              </a:solidFill>
              <a:latin typeface="Georgia"/>
              <a:ea typeface="Georgia"/>
              <a:cs typeface="Georgia"/>
              <a:sym typeface="Georgia"/>
            </a:endParaRPr>
          </a:p>
        </p:txBody>
      </p:sp>
      <p:sp>
        <p:nvSpPr>
          <p:cNvPr id="276" name="Google Shape;276;p24"/>
          <p:cNvSpPr/>
          <p:nvPr/>
        </p:nvSpPr>
        <p:spPr>
          <a:xfrm>
            <a:off x="4663510" y="886490"/>
            <a:ext cx="4206300" cy="12345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4"/>
          <p:cNvSpPr/>
          <p:nvPr/>
        </p:nvSpPr>
        <p:spPr>
          <a:xfrm>
            <a:off x="4777705" y="917455"/>
            <a:ext cx="32919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1F3F"/>
              </a:buClr>
              <a:buSzPts val="950"/>
              <a:buFont typeface="Calibri"/>
              <a:buNone/>
            </a:pPr>
            <a:r>
              <a:rPr b="1" i="0" lang="en" sz="950" u="none" cap="none" strike="noStrike">
                <a:solidFill>
                  <a:srgbClr val="0C1F3F"/>
                </a:solidFill>
                <a:latin typeface="Georgia"/>
                <a:ea typeface="Georgia"/>
                <a:cs typeface="Georgia"/>
                <a:sym typeface="Georgia"/>
              </a:rPr>
              <a:t> </a:t>
            </a:r>
            <a:r>
              <a:rPr b="1" lang="en" sz="950">
                <a:solidFill>
                  <a:srgbClr val="0C1F3F"/>
                </a:solidFill>
                <a:latin typeface="Georgia"/>
                <a:ea typeface="Georgia"/>
                <a:cs typeface="Georgia"/>
                <a:sym typeface="Georgia"/>
              </a:rPr>
              <a:t>Income and DOB files have 98.9% missing Loan Id</a:t>
            </a:r>
            <a:endParaRPr i="0" sz="950" u="none" cap="none" strike="noStrike">
              <a:solidFill>
                <a:schemeClr val="dk1"/>
              </a:solidFill>
              <a:latin typeface="Georgia"/>
              <a:ea typeface="Georgia"/>
              <a:cs typeface="Georgia"/>
              <a:sym typeface="Georgia"/>
            </a:endParaRPr>
          </a:p>
        </p:txBody>
      </p:sp>
      <p:sp>
        <p:nvSpPr>
          <p:cNvPr id="278" name="Google Shape;278;p24"/>
          <p:cNvSpPr/>
          <p:nvPr/>
        </p:nvSpPr>
        <p:spPr>
          <a:xfrm>
            <a:off x="4663510" y="2289378"/>
            <a:ext cx="4206300" cy="12345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4"/>
          <p:cNvSpPr/>
          <p:nvPr/>
        </p:nvSpPr>
        <p:spPr>
          <a:xfrm>
            <a:off x="4777705" y="2275118"/>
            <a:ext cx="32919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1F3F"/>
              </a:buClr>
              <a:buSzPts val="950"/>
              <a:buFont typeface="Calibri"/>
              <a:buNone/>
            </a:pPr>
            <a:r>
              <a:rPr b="1" lang="en" sz="950">
                <a:solidFill>
                  <a:srgbClr val="0C1F3F"/>
                </a:solidFill>
                <a:latin typeface="Georgia"/>
                <a:ea typeface="Georgia"/>
                <a:cs typeface="Georgia"/>
                <a:sym typeface="Georgia"/>
              </a:rPr>
              <a:t>No payment-event level data</a:t>
            </a:r>
            <a:endParaRPr i="0" sz="950" u="none" cap="none" strike="noStrike">
              <a:solidFill>
                <a:schemeClr val="dk1"/>
              </a:solidFill>
              <a:latin typeface="Georgia"/>
              <a:ea typeface="Georgia"/>
              <a:cs typeface="Georgia"/>
              <a:sym typeface="Georgia"/>
            </a:endParaRPr>
          </a:p>
        </p:txBody>
      </p:sp>
      <p:sp>
        <p:nvSpPr>
          <p:cNvPr id="280" name="Google Shape;280;p24"/>
          <p:cNvSpPr/>
          <p:nvPr/>
        </p:nvSpPr>
        <p:spPr>
          <a:xfrm>
            <a:off x="4777800" y="2703425"/>
            <a:ext cx="3977700" cy="621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850"/>
              <a:buFont typeface="Calibri"/>
              <a:buNone/>
            </a:pPr>
            <a:r>
              <a:rPr lang="en" sz="850">
                <a:solidFill>
                  <a:schemeClr val="dk1"/>
                </a:solidFill>
                <a:latin typeface="Georgia"/>
                <a:ea typeface="Georgia"/>
                <a:cs typeface="Georgia"/>
                <a:sym typeface="Georgia"/>
              </a:rPr>
              <a:t>The credit snapshots show balances at a point in time but there is no table recording individual payment events (date, amount, method). Without this you cannot calculate cure rates, identify payment method preferences of good vs bad payers, or detect the payment reflection delays that the NPS data shows are a major CX problem.</a:t>
            </a:r>
            <a:endParaRPr i="0" sz="850" u="none" cap="none" strike="noStrike">
              <a:solidFill>
                <a:schemeClr val="dk1"/>
              </a:solidFill>
              <a:latin typeface="Georgia"/>
              <a:ea typeface="Georgia"/>
              <a:cs typeface="Georgia"/>
              <a:sym typeface="Georgia"/>
            </a:endParaRPr>
          </a:p>
        </p:txBody>
      </p:sp>
      <p:sp>
        <p:nvSpPr>
          <p:cNvPr id="281" name="Google Shape;281;p24"/>
          <p:cNvSpPr/>
          <p:nvPr/>
        </p:nvSpPr>
        <p:spPr>
          <a:xfrm>
            <a:off x="311110" y="1314505"/>
            <a:ext cx="3977700" cy="621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850"/>
              <a:buFont typeface="Calibri"/>
              <a:buNone/>
            </a:pPr>
            <a:r>
              <a:rPr lang="en" sz="850">
                <a:solidFill>
                  <a:srgbClr val="334155"/>
                </a:solidFill>
                <a:latin typeface="Georgia"/>
                <a:ea typeface="Georgia"/>
                <a:cs typeface="Georgia"/>
                <a:sym typeface="Georgia"/>
              </a:rPr>
              <a:t>The column is named CUSTOMER_AGE but it contains loan age in days (confirmed by perfect correlation with SALE_DATE offset). Any analysis using this column as customer age including age-band segmentation will be completely wrong.  Column should be renamed LOAN_AGE_DAYS</a:t>
            </a:r>
            <a:endParaRPr i="0" sz="850" u="none" cap="none" strike="noStrike">
              <a:solidFill>
                <a:schemeClr val="dk1"/>
              </a:solidFill>
              <a:latin typeface="Georgia"/>
              <a:ea typeface="Georgia"/>
              <a:cs typeface="Georgia"/>
              <a:sym typeface="Georgia"/>
            </a:endParaRPr>
          </a:p>
        </p:txBody>
      </p:sp>
      <p:sp>
        <p:nvSpPr>
          <p:cNvPr id="282" name="Google Shape;282;p24"/>
          <p:cNvSpPr/>
          <p:nvPr/>
        </p:nvSpPr>
        <p:spPr>
          <a:xfrm>
            <a:off x="4777700" y="1298450"/>
            <a:ext cx="4069200" cy="65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850"/>
              <a:buFont typeface="Calibri"/>
              <a:buNone/>
            </a:pPr>
            <a:r>
              <a:rPr lang="en" sz="850">
                <a:solidFill>
                  <a:srgbClr val="334155"/>
                </a:solidFill>
                <a:latin typeface="Georgia"/>
                <a:ea typeface="Georgia"/>
                <a:cs typeface="Georgia"/>
                <a:sym typeface="Georgia"/>
              </a:rPr>
              <a:t>There's</a:t>
            </a:r>
            <a:r>
              <a:rPr lang="en" sz="850">
                <a:solidFill>
                  <a:srgbClr val="334155"/>
                </a:solidFill>
                <a:latin typeface="Georgia"/>
                <a:ea typeface="Georgia"/>
                <a:cs typeface="Georgia"/>
                <a:sym typeface="Georgia"/>
              </a:rPr>
              <a:t> a major data integrity risk: most records are missing Loan IDs, which means demographic risk segmentation (income, age, gender) can only be performed on a very small subset of loans. This severely limits the reliability and representativeness of any risk analysis or credit decisioning based on this data.</a:t>
            </a:r>
            <a:endParaRPr sz="850">
              <a:solidFill>
                <a:srgbClr val="334155"/>
              </a:solidFill>
              <a:latin typeface="Georgia"/>
              <a:ea typeface="Georgia"/>
              <a:cs typeface="Georgia"/>
              <a:sym typeface="Georgia"/>
            </a:endParaRPr>
          </a:p>
          <a:p>
            <a:pPr indent="0" lvl="0" marL="0" marR="0" rtl="0" algn="l">
              <a:spcBef>
                <a:spcPts val="0"/>
              </a:spcBef>
              <a:spcAft>
                <a:spcPts val="0"/>
              </a:spcAft>
              <a:buClr>
                <a:srgbClr val="334155"/>
              </a:buClr>
              <a:buSzPts val="850"/>
              <a:buFont typeface="Calibri"/>
              <a:buNone/>
            </a:pPr>
            <a:r>
              <a:t/>
            </a:r>
            <a:endParaRPr sz="850">
              <a:solidFill>
                <a:srgbClr val="334155"/>
              </a:solidFill>
              <a:latin typeface="Georgia"/>
              <a:ea typeface="Georgia"/>
              <a:cs typeface="Georgia"/>
              <a:sym typeface="Georgia"/>
            </a:endParaRPr>
          </a:p>
        </p:txBody>
      </p:sp>
      <p:sp>
        <p:nvSpPr>
          <p:cNvPr id="283" name="Google Shape;283;p24"/>
          <p:cNvSpPr/>
          <p:nvPr/>
        </p:nvSpPr>
        <p:spPr>
          <a:xfrm>
            <a:off x="311100" y="2717062"/>
            <a:ext cx="3977700" cy="4101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1200"/>
              </a:spcBef>
              <a:spcAft>
                <a:spcPts val="1200"/>
              </a:spcAft>
              <a:buClr>
                <a:schemeClr val="dk1"/>
              </a:buClr>
              <a:buSzPts val="1100"/>
              <a:buFont typeface="Arial"/>
              <a:buNone/>
            </a:pPr>
            <a:r>
              <a:rPr lang="en" sz="850">
                <a:solidFill>
                  <a:srgbClr val="334155"/>
                </a:solidFill>
                <a:latin typeface="Georgia"/>
                <a:ea typeface="Georgia"/>
                <a:cs typeface="Georgia"/>
                <a:sym typeface="Georgia"/>
              </a:rPr>
              <a:t>Accounts marked as Active are carrying arrears, which understates true delinquency (PAR) exposure. </a:t>
            </a:r>
            <a:endParaRPr sz="850">
              <a:solidFill>
                <a:srgbClr val="334155"/>
              </a:solidFill>
              <a:latin typeface="Georgia"/>
              <a:ea typeface="Georgia"/>
              <a:cs typeface="Georgia"/>
              <a:sym typeface="Georgia"/>
            </a:endParaRPr>
          </a:p>
        </p:txBody>
      </p:sp>
      <p:sp>
        <p:nvSpPr>
          <p:cNvPr id="284" name="Google Shape;284;p24"/>
          <p:cNvSpPr/>
          <p:nvPr/>
        </p:nvSpPr>
        <p:spPr>
          <a:xfrm>
            <a:off x="251445" y="3692241"/>
            <a:ext cx="4206300" cy="12345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Clr>
                <a:srgbClr val="0C1F3F"/>
              </a:buClr>
              <a:buSzPts val="950"/>
              <a:buFont typeface="Calibri"/>
              <a:buNone/>
            </a:pPr>
            <a:r>
              <a:t/>
            </a:r>
            <a:endParaRPr/>
          </a:p>
        </p:txBody>
      </p:sp>
      <p:sp>
        <p:nvSpPr>
          <p:cNvPr id="285" name="Google Shape;285;p24"/>
          <p:cNvSpPr/>
          <p:nvPr/>
        </p:nvSpPr>
        <p:spPr>
          <a:xfrm>
            <a:off x="311090" y="3771843"/>
            <a:ext cx="3291900" cy="274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 sz="950">
                <a:solidFill>
                  <a:srgbClr val="0C1F3F"/>
                </a:solidFill>
                <a:latin typeface="Georgia"/>
                <a:ea typeface="Georgia"/>
                <a:cs typeface="Georgia"/>
                <a:sym typeface="Georgia"/>
              </a:rPr>
              <a:t>Missing Income Fields</a:t>
            </a:r>
            <a:endParaRPr i="0" sz="950" u="none" cap="none" strike="noStrike">
              <a:solidFill>
                <a:schemeClr val="dk1"/>
              </a:solidFill>
              <a:latin typeface="Georgia"/>
              <a:ea typeface="Georgia"/>
              <a:cs typeface="Georgia"/>
              <a:sym typeface="Georgia"/>
            </a:endParaRPr>
          </a:p>
        </p:txBody>
      </p:sp>
      <p:sp>
        <p:nvSpPr>
          <p:cNvPr id="286" name="Google Shape;286;p24"/>
          <p:cNvSpPr/>
          <p:nvPr/>
        </p:nvSpPr>
        <p:spPr>
          <a:xfrm>
            <a:off x="311110" y="4046056"/>
            <a:ext cx="3977700" cy="621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850"/>
              <a:buFont typeface="Calibri"/>
              <a:buNone/>
            </a:pPr>
            <a:r>
              <a:rPr i="0" lang="en" sz="950" u="none" cap="none" strike="noStrike">
                <a:solidFill>
                  <a:srgbClr val="334155"/>
                </a:solidFill>
                <a:latin typeface="Georgia"/>
                <a:ea typeface="Georgia"/>
                <a:cs typeface="Georgia"/>
                <a:sym typeface="Georgia"/>
              </a:rPr>
              <a:t>Income-band risk analysis is skewed. Excluded rows may be systematically different (e.g., informal workers), introducing bias.</a:t>
            </a:r>
            <a:endParaRPr i="0" sz="950" u="none" cap="none" strike="noStrike">
              <a:solidFill>
                <a:srgbClr val="000000"/>
              </a:solidFill>
              <a:latin typeface="Georgia"/>
              <a:ea typeface="Georgia"/>
              <a:cs typeface="Georgia"/>
              <a:sym typeface="Georgi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91" name="Shape 291"/>
        <p:cNvGrpSpPr/>
        <p:nvPr/>
      </p:nvGrpSpPr>
      <p:grpSpPr>
        <a:xfrm>
          <a:off x="0" y="0"/>
          <a:ext cx="0" cy="0"/>
          <a:chOff x="0" y="0"/>
          <a:chExt cx="0" cy="0"/>
        </a:xfrm>
      </p:grpSpPr>
      <p:sp>
        <p:nvSpPr>
          <p:cNvPr id="292" name="Google Shape;292;p25"/>
          <p:cNvSpPr/>
          <p:nvPr/>
        </p:nvSpPr>
        <p:spPr>
          <a:xfrm>
            <a:off x="0" y="0"/>
            <a:ext cx="9144000" cy="640200"/>
          </a:xfrm>
          <a:prstGeom prst="rect">
            <a:avLst/>
          </a:prstGeom>
          <a:solidFill>
            <a:srgbClr val="0C1F3F"/>
          </a:solidFill>
          <a:ln cap="flat" cmpd="sng" w="12700">
            <a:solidFill>
              <a:srgbClr val="0C1F3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25"/>
          <p:cNvSpPr/>
          <p:nvPr/>
        </p:nvSpPr>
        <p:spPr>
          <a:xfrm>
            <a:off x="365760" y="0"/>
            <a:ext cx="77724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Georgia"/>
              <a:buNone/>
            </a:pPr>
            <a:r>
              <a:rPr b="1" i="0" lang="en" sz="1800" u="none" cap="none" strike="noStrike">
                <a:solidFill>
                  <a:srgbClr val="FFFFFF"/>
                </a:solidFill>
                <a:latin typeface="Georgia"/>
                <a:ea typeface="Georgia"/>
                <a:cs typeface="Georgia"/>
                <a:sym typeface="Georgia"/>
              </a:rPr>
              <a:t>Q3 — Data Improvements: 3 Recommendations</a:t>
            </a:r>
            <a:endParaRPr b="0" i="0" sz="1800" u="none" cap="none" strike="noStrike">
              <a:solidFill>
                <a:schemeClr val="dk1"/>
              </a:solidFill>
              <a:latin typeface="Calibri"/>
              <a:ea typeface="Calibri"/>
              <a:cs typeface="Calibri"/>
              <a:sym typeface="Calibri"/>
            </a:endParaRPr>
          </a:p>
        </p:txBody>
      </p:sp>
      <p:sp>
        <p:nvSpPr>
          <p:cNvPr id="294" name="Google Shape;294;p25"/>
          <p:cNvSpPr/>
          <p:nvPr/>
        </p:nvSpPr>
        <p:spPr>
          <a:xfrm>
            <a:off x="8229600" y="0"/>
            <a:ext cx="640200" cy="640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4748B"/>
              </a:buClr>
              <a:buSzPts val="900"/>
              <a:buFont typeface="Calibri"/>
              <a:buNone/>
            </a:pPr>
            <a:r>
              <a:rPr lang="en" sz="900">
                <a:solidFill>
                  <a:srgbClr val="64748B"/>
                </a:solidFill>
                <a:latin typeface="Calibri"/>
                <a:ea typeface="Calibri"/>
                <a:cs typeface="Calibri"/>
                <a:sym typeface="Calibri"/>
              </a:rPr>
              <a:t>10</a:t>
            </a:r>
            <a:r>
              <a:rPr b="0" i="0" lang="en" sz="900" u="none" cap="none" strike="noStrike">
                <a:solidFill>
                  <a:srgbClr val="64748B"/>
                </a:solidFill>
                <a:latin typeface="Calibri"/>
                <a:ea typeface="Calibri"/>
                <a:cs typeface="Calibri"/>
                <a:sym typeface="Calibri"/>
              </a:rPr>
              <a:t> / 12</a:t>
            </a:r>
            <a:endParaRPr b="0" i="0" sz="900" u="none" cap="none" strike="noStrike">
              <a:solidFill>
                <a:schemeClr val="dk1"/>
              </a:solidFill>
              <a:latin typeface="Calibri"/>
              <a:ea typeface="Calibri"/>
              <a:cs typeface="Calibri"/>
              <a:sym typeface="Calibri"/>
            </a:endParaRPr>
          </a:p>
        </p:txBody>
      </p:sp>
      <p:sp>
        <p:nvSpPr>
          <p:cNvPr id="295" name="Google Shape;295;p25"/>
          <p:cNvSpPr/>
          <p:nvPr/>
        </p:nvSpPr>
        <p:spPr>
          <a:xfrm>
            <a:off x="274320" y="777240"/>
            <a:ext cx="8595300" cy="12345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5"/>
          <p:cNvSpPr/>
          <p:nvPr/>
        </p:nvSpPr>
        <p:spPr>
          <a:xfrm>
            <a:off x="457200" y="1188720"/>
            <a:ext cx="457200" cy="457200"/>
          </a:xfrm>
          <a:prstGeom prst="ellipse">
            <a:avLst/>
          </a:prstGeom>
          <a:solidFill>
            <a:srgbClr val="0A7C3E"/>
          </a:solidFill>
          <a:ln cap="flat" cmpd="sng" w="12700">
            <a:solidFill>
              <a:srgbClr val="0A7C3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25"/>
          <p:cNvSpPr/>
          <p:nvPr/>
        </p:nvSpPr>
        <p:spPr>
          <a:xfrm>
            <a:off x="457200" y="11887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01</a:t>
            </a:r>
            <a:endParaRPr b="0" i="0" sz="1000" u="none" cap="none" strike="noStrike">
              <a:solidFill>
                <a:schemeClr val="dk1"/>
              </a:solidFill>
              <a:latin typeface="Calibri"/>
              <a:ea typeface="Calibri"/>
              <a:cs typeface="Calibri"/>
              <a:sym typeface="Calibri"/>
            </a:endParaRPr>
          </a:p>
        </p:txBody>
      </p:sp>
      <p:sp>
        <p:nvSpPr>
          <p:cNvPr id="298" name="Google Shape;298;p25"/>
          <p:cNvSpPr/>
          <p:nvPr/>
        </p:nvSpPr>
        <p:spPr>
          <a:xfrm>
            <a:off x="1097280" y="850392"/>
            <a:ext cx="5029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1F3F"/>
              </a:buClr>
              <a:buSzPts val="1100"/>
              <a:buFont typeface="Georgia"/>
              <a:buNone/>
            </a:pPr>
            <a:r>
              <a:rPr b="1" lang="en" sz="1100">
                <a:solidFill>
                  <a:srgbClr val="0C1F3F"/>
                </a:solidFill>
                <a:latin typeface="Georgia"/>
                <a:ea typeface="Georgia"/>
                <a:cs typeface="Georgia"/>
                <a:sym typeface="Georgia"/>
              </a:rPr>
              <a:t>Build a mandatory Loan Id population check</a:t>
            </a:r>
            <a:endParaRPr i="0" sz="1100" u="none" cap="none" strike="noStrike">
              <a:solidFill>
                <a:schemeClr val="dk1"/>
              </a:solidFill>
              <a:latin typeface="Georgia"/>
              <a:ea typeface="Georgia"/>
              <a:cs typeface="Georgia"/>
              <a:sym typeface="Georgia"/>
            </a:endParaRPr>
          </a:p>
        </p:txBody>
      </p:sp>
      <p:sp>
        <p:nvSpPr>
          <p:cNvPr id="299" name="Google Shape;299;p25"/>
          <p:cNvSpPr/>
          <p:nvPr/>
        </p:nvSpPr>
        <p:spPr>
          <a:xfrm>
            <a:off x="1097275" y="1179575"/>
            <a:ext cx="72549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50"/>
              <a:buFont typeface="Calibri"/>
              <a:buNone/>
            </a:pPr>
            <a:r>
              <a:rPr i="0" lang="en" sz="950" u="none" cap="none" strike="noStrike">
                <a:solidFill>
                  <a:srgbClr val="64748B"/>
                </a:solidFill>
                <a:latin typeface="Georgia"/>
                <a:ea typeface="Georgia"/>
                <a:cs typeface="Georgia"/>
                <a:sym typeface="Georgia"/>
              </a:rPr>
              <a:t>WHAT: </a:t>
            </a:r>
            <a:r>
              <a:rPr lang="en" sz="950">
                <a:solidFill>
                  <a:srgbClr val="64748B"/>
                </a:solidFill>
                <a:latin typeface="Georgia"/>
                <a:ea typeface="Georgia"/>
                <a:cs typeface="Georgia"/>
                <a:sym typeface="Georgia"/>
              </a:rPr>
              <a:t>Enforce a mandatory Loan ID validation at the bureau API integration point—any incoming record without a resolvable Loan ID should either be rejected or assigned a traceable placeholder ID to ensure it can be linked later.</a:t>
            </a:r>
            <a:endParaRPr i="0" sz="950" u="none" cap="none" strike="noStrike">
              <a:solidFill>
                <a:schemeClr val="dk1"/>
              </a:solidFill>
              <a:latin typeface="Georgia"/>
              <a:ea typeface="Georgia"/>
              <a:cs typeface="Georgia"/>
              <a:sym typeface="Georgia"/>
            </a:endParaRPr>
          </a:p>
        </p:txBody>
      </p:sp>
      <p:sp>
        <p:nvSpPr>
          <p:cNvPr id="300" name="Google Shape;300;p25"/>
          <p:cNvSpPr/>
          <p:nvPr/>
        </p:nvSpPr>
        <p:spPr>
          <a:xfrm>
            <a:off x="1097273" y="1572775"/>
            <a:ext cx="73455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850"/>
              <a:buFont typeface="Calibri"/>
              <a:buNone/>
            </a:pPr>
            <a:r>
              <a:rPr i="0" lang="en" sz="950" u="none" cap="none" strike="noStrike">
                <a:solidFill>
                  <a:srgbClr val="334155"/>
                </a:solidFill>
                <a:latin typeface="Georgia"/>
                <a:ea typeface="Georgia"/>
                <a:cs typeface="Georgia"/>
                <a:sym typeface="Georgia"/>
              </a:rPr>
              <a:t>IMPACT:</a:t>
            </a:r>
            <a:r>
              <a:rPr lang="en" sz="950">
                <a:solidFill>
                  <a:srgbClr val="334155"/>
                </a:solidFill>
                <a:latin typeface="Georgia"/>
                <a:ea typeface="Georgia"/>
                <a:cs typeface="Georgia"/>
                <a:sym typeface="Georgia"/>
              </a:rPr>
              <a:t>Restores usability of demographic datasets (income, DOB, gender) by enabling linkage to loans, unlocking full portfolio-level segmentation and materially improving the accuracy and completeness of risk analysis and decision-making.</a:t>
            </a:r>
            <a:endParaRPr i="0" sz="950" u="none" cap="none" strike="noStrike">
              <a:solidFill>
                <a:schemeClr val="dk1"/>
              </a:solidFill>
              <a:latin typeface="Georgia"/>
              <a:ea typeface="Georgia"/>
              <a:cs typeface="Georgia"/>
              <a:sym typeface="Georgia"/>
            </a:endParaRPr>
          </a:p>
        </p:txBody>
      </p:sp>
      <p:sp>
        <p:nvSpPr>
          <p:cNvPr id="301" name="Google Shape;301;p25"/>
          <p:cNvSpPr/>
          <p:nvPr/>
        </p:nvSpPr>
        <p:spPr>
          <a:xfrm>
            <a:off x="274320" y="2167128"/>
            <a:ext cx="8595300" cy="12345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25"/>
          <p:cNvSpPr/>
          <p:nvPr/>
        </p:nvSpPr>
        <p:spPr>
          <a:xfrm>
            <a:off x="457200" y="2578608"/>
            <a:ext cx="457200" cy="457200"/>
          </a:xfrm>
          <a:prstGeom prst="ellipse">
            <a:avLst/>
          </a:prstGeom>
          <a:solidFill>
            <a:srgbClr val="0891B2"/>
          </a:solidFill>
          <a:ln cap="flat" cmpd="sng" w="12700">
            <a:solidFill>
              <a:srgbClr val="0891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25"/>
          <p:cNvSpPr/>
          <p:nvPr/>
        </p:nvSpPr>
        <p:spPr>
          <a:xfrm>
            <a:off x="457200" y="2578608"/>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02</a:t>
            </a:r>
            <a:endParaRPr b="0" i="0" sz="1000" u="none" cap="none" strike="noStrike">
              <a:solidFill>
                <a:schemeClr val="dk1"/>
              </a:solidFill>
              <a:latin typeface="Calibri"/>
              <a:ea typeface="Calibri"/>
              <a:cs typeface="Calibri"/>
              <a:sym typeface="Calibri"/>
            </a:endParaRPr>
          </a:p>
        </p:txBody>
      </p:sp>
      <p:sp>
        <p:nvSpPr>
          <p:cNvPr id="304" name="Google Shape;304;p25"/>
          <p:cNvSpPr/>
          <p:nvPr/>
        </p:nvSpPr>
        <p:spPr>
          <a:xfrm>
            <a:off x="1097280" y="2240280"/>
            <a:ext cx="5029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1F3F"/>
              </a:buClr>
              <a:buSzPts val="1100"/>
              <a:buFont typeface="Georgia"/>
              <a:buNone/>
            </a:pPr>
            <a:r>
              <a:rPr b="1" lang="en" sz="1100">
                <a:solidFill>
                  <a:srgbClr val="0C1F3F"/>
                </a:solidFill>
                <a:latin typeface="Georgia"/>
                <a:ea typeface="Georgia"/>
                <a:cs typeface="Georgia"/>
                <a:sym typeface="Georgia"/>
              </a:rPr>
              <a:t>Automate ACCOUNT_STATUS_L2 from DAYS_PAST_DUE.</a:t>
            </a:r>
            <a:endParaRPr b="0" i="0" sz="1100" u="none" cap="none" strike="noStrike">
              <a:solidFill>
                <a:schemeClr val="dk1"/>
              </a:solidFill>
              <a:latin typeface="Calibri"/>
              <a:ea typeface="Calibri"/>
              <a:cs typeface="Calibri"/>
              <a:sym typeface="Calibri"/>
            </a:endParaRPr>
          </a:p>
        </p:txBody>
      </p:sp>
      <p:sp>
        <p:nvSpPr>
          <p:cNvPr id="305" name="Google Shape;305;p25"/>
          <p:cNvSpPr/>
          <p:nvPr/>
        </p:nvSpPr>
        <p:spPr>
          <a:xfrm>
            <a:off x="1097272" y="2569475"/>
            <a:ext cx="77265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50"/>
              <a:buFont typeface="Calibri"/>
              <a:buNone/>
            </a:pPr>
            <a:r>
              <a:rPr i="0" lang="en" sz="950" u="none" cap="none" strike="noStrike">
                <a:solidFill>
                  <a:srgbClr val="64748B"/>
                </a:solidFill>
                <a:latin typeface="Georgia"/>
                <a:ea typeface="Georgia"/>
                <a:cs typeface="Georgia"/>
                <a:sym typeface="Georgia"/>
              </a:rPr>
              <a:t>WHAT: </a:t>
            </a:r>
            <a:r>
              <a:rPr lang="en" sz="950">
                <a:solidFill>
                  <a:srgbClr val="64748B"/>
                </a:solidFill>
                <a:latin typeface="Georgia"/>
                <a:ea typeface="Georgia"/>
                <a:cs typeface="Georgia"/>
                <a:sym typeface="Georgia"/>
              </a:rPr>
              <a:t>Replace the manual ACCOUNT_STATUS_L2 field with a system-derived status based on clear DAYS_PAST_DUE (DPD) rules (e.g., DPD = 0 → Active, DPD 1–7 → PAR 7, DPD 8–30 → PAR 30), with FPD/FMD handled using ACCOUNT_STATUS_L1 flags.</a:t>
            </a:r>
            <a:endParaRPr i="0" sz="950" u="none" cap="none" strike="noStrike">
              <a:solidFill>
                <a:schemeClr val="dk1"/>
              </a:solidFill>
              <a:latin typeface="Georgia"/>
              <a:ea typeface="Georgia"/>
              <a:cs typeface="Georgia"/>
              <a:sym typeface="Georgia"/>
            </a:endParaRPr>
          </a:p>
        </p:txBody>
      </p:sp>
      <p:sp>
        <p:nvSpPr>
          <p:cNvPr id="306" name="Google Shape;306;p25"/>
          <p:cNvSpPr/>
          <p:nvPr/>
        </p:nvSpPr>
        <p:spPr>
          <a:xfrm>
            <a:off x="1097273" y="2962650"/>
            <a:ext cx="74616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850"/>
              <a:buFont typeface="Calibri"/>
              <a:buNone/>
            </a:pPr>
            <a:r>
              <a:rPr i="0" lang="en" sz="950" u="none" cap="none" strike="noStrike">
                <a:solidFill>
                  <a:srgbClr val="334155"/>
                </a:solidFill>
                <a:latin typeface="Georgia"/>
                <a:ea typeface="Georgia"/>
                <a:cs typeface="Georgia"/>
                <a:sym typeface="Georgia"/>
              </a:rPr>
              <a:t>IMPACT: </a:t>
            </a:r>
            <a:r>
              <a:rPr lang="en" sz="950">
                <a:solidFill>
                  <a:srgbClr val="334155"/>
                </a:solidFill>
                <a:latin typeface="Georgia"/>
                <a:ea typeface="Georgia"/>
                <a:cs typeface="Georgia"/>
                <a:sym typeface="Georgia"/>
              </a:rPr>
              <a:t>Eliminates inconsistencies where Active accounts carry arrears, ensures accurate and auditable PAR classification, and provides a reliable view of true delinquency exposure for better risk monitoring and decision-making.</a:t>
            </a:r>
            <a:r>
              <a:rPr i="0" lang="en" sz="950" u="none" cap="none" strike="noStrike">
                <a:solidFill>
                  <a:srgbClr val="334155"/>
                </a:solidFill>
                <a:latin typeface="Georgia"/>
                <a:ea typeface="Georgia"/>
                <a:cs typeface="Georgia"/>
                <a:sym typeface="Georgia"/>
              </a:rPr>
              <a:t>.</a:t>
            </a:r>
            <a:endParaRPr i="0" sz="950" u="none" cap="none" strike="noStrike">
              <a:solidFill>
                <a:schemeClr val="dk1"/>
              </a:solidFill>
              <a:latin typeface="Georgia"/>
              <a:ea typeface="Georgia"/>
              <a:cs typeface="Georgia"/>
              <a:sym typeface="Georgia"/>
            </a:endParaRPr>
          </a:p>
        </p:txBody>
      </p:sp>
      <p:sp>
        <p:nvSpPr>
          <p:cNvPr id="307" name="Google Shape;307;p25"/>
          <p:cNvSpPr/>
          <p:nvPr/>
        </p:nvSpPr>
        <p:spPr>
          <a:xfrm>
            <a:off x="274320" y="3557016"/>
            <a:ext cx="8595300" cy="12345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25"/>
          <p:cNvSpPr/>
          <p:nvPr/>
        </p:nvSpPr>
        <p:spPr>
          <a:xfrm>
            <a:off x="457200" y="3968496"/>
            <a:ext cx="457200" cy="457200"/>
          </a:xfrm>
          <a:prstGeom prst="ellipse">
            <a:avLst/>
          </a:prstGeom>
          <a:solidFill>
            <a:srgbClr val="D97706"/>
          </a:solidFill>
          <a:ln cap="flat" cmpd="sng" w="12700">
            <a:solidFill>
              <a:srgbClr val="D977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25"/>
          <p:cNvSpPr/>
          <p:nvPr/>
        </p:nvSpPr>
        <p:spPr>
          <a:xfrm>
            <a:off x="457200" y="3968496"/>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03</a:t>
            </a:r>
            <a:endParaRPr b="0" i="0" sz="1000" u="none" cap="none" strike="noStrike">
              <a:solidFill>
                <a:schemeClr val="dk1"/>
              </a:solidFill>
              <a:latin typeface="Calibri"/>
              <a:ea typeface="Calibri"/>
              <a:cs typeface="Calibri"/>
              <a:sym typeface="Calibri"/>
            </a:endParaRPr>
          </a:p>
        </p:txBody>
      </p:sp>
      <p:sp>
        <p:nvSpPr>
          <p:cNvPr id="310" name="Google Shape;310;p25"/>
          <p:cNvSpPr/>
          <p:nvPr/>
        </p:nvSpPr>
        <p:spPr>
          <a:xfrm>
            <a:off x="1097280" y="3630168"/>
            <a:ext cx="5029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1F3F"/>
              </a:buClr>
              <a:buSzPts val="1100"/>
              <a:buFont typeface="Georgia"/>
              <a:buNone/>
            </a:pPr>
            <a:r>
              <a:rPr b="1" lang="en" sz="1100">
                <a:solidFill>
                  <a:srgbClr val="0C1F3F"/>
                </a:solidFill>
                <a:latin typeface="Georgia"/>
                <a:ea typeface="Georgia"/>
                <a:cs typeface="Georgia"/>
                <a:sym typeface="Georgia"/>
              </a:rPr>
              <a:t>Add a payment events table linked by LOAN_ID</a:t>
            </a:r>
            <a:endParaRPr b="0" i="0" sz="1100" u="none" cap="none" strike="noStrike">
              <a:solidFill>
                <a:schemeClr val="dk1"/>
              </a:solidFill>
              <a:latin typeface="Calibri"/>
              <a:ea typeface="Calibri"/>
              <a:cs typeface="Calibri"/>
              <a:sym typeface="Calibri"/>
            </a:endParaRPr>
          </a:p>
        </p:txBody>
      </p:sp>
      <p:sp>
        <p:nvSpPr>
          <p:cNvPr id="311" name="Google Shape;311;p25"/>
          <p:cNvSpPr/>
          <p:nvPr/>
        </p:nvSpPr>
        <p:spPr>
          <a:xfrm>
            <a:off x="1097273" y="3959350"/>
            <a:ext cx="74616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50"/>
              <a:buFont typeface="Calibri"/>
              <a:buNone/>
            </a:pPr>
            <a:r>
              <a:rPr i="0" lang="en" sz="950" u="none" cap="none" strike="noStrike">
                <a:solidFill>
                  <a:srgbClr val="64748B"/>
                </a:solidFill>
                <a:latin typeface="Georgia"/>
                <a:ea typeface="Georgia"/>
                <a:cs typeface="Georgia"/>
                <a:sym typeface="Georgia"/>
              </a:rPr>
              <a:t>WHAT: </a:t>
            </a:r>
            <a:r>
              <a:rPr lang="en" sz="950">
                <a:solidFill>
                  <a:srgbClr val="64748B"/>
                </a:solidFill>
                <a:latin typeface="Georgia"/>
                <a:ea typeface="Georgia"/>
                <a:cs typeface="Georgia"/>
                <a:sym typeface="Georgia"/>
              </a:rPr>
              <a:t>Implement a structured payments table capturing at minimum: payment_date, amount_kes, payment_method, reflected_date, and loan_id.</a:t>
            </a:r>
            <a:endParaRPr i="0" sz="950" u="none" cap="none" strike="noStrike">
              <a:solidFill>
                <a:schemeClr val="dk1"/>
              </a:solidFill>
              <a:latin typeface="Georgia"/>
              <a:ea typeface="Georgia"/>
              <a:cs typeface="Georgia"/>
              <a:sym typeface="Georgia"/>
            </a:endParaRPr>
          </a:p>
        </p:txBody>
      </p:sp>
      <p:sp>
        <p:nvSpPr>
          <p:cNvPr id="312" name="Google Shape;312;p25"/>
          <p:cNvSpPr/>
          <p:nvPr/>
        </p:nvSpPr>
        <p:spPr>
          <a:xfrm>
            <a:off x="1097272" y="4352550"/>
            <a:ext cx="77265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850"/>
              <a:buFont typeface="Calibri"/>
              <a:buNone/>
            </a:pPr>
            <a:r>
              <a:rPr i="0" lang="en" sz="950" u="none" cap="none" strike="noStrike">
                <a:solidFill>
                  <a:srgbClr val="334155"/>
                </a:solidFill>
                <a:latin typeface="Georgia"/>
                <a:ea typeface="Georgia"/>
                <a:cs typeface="Georgia"/>
                <a:sym typeface="Georgia"/>
              </a:rPr>
              <a:t>IMPACT:</a:t>
            </a:r>
            <a:r>
              <a:rPr lang="en" sz="950">
                <a:solidFill>
                  <a:srgbClr val="334155"/>
                </a:solidFill>
                <a:latin typeface="Georgia"/>
                <a:ea typeface="Georgia"/>
                <a:cs typeface="Georgia"/>
                <a:sym typeface="Georgia"/>
              </a:rPr>
              <a:t>Enables measurement of payment processing delays (payment vs. reflection gap), making it possible to diagnose and resolve issues causing customer friction (e.g., phone locking), ultimately improving operational efficiency and NPS.</a:t>
            </a:r>
            <a:endParaRPr i="0" sz="950" u="none" cap="none" strike="noStrike">
              <a:solidFill>
                <a:schemeClr val="dk1"/>
              </a:solidFill>
              <a:latin typeface="Georgia"/>
              <a:ea typeface="Georgia"/>
              <a:cs typeface="Georgia"/>
              <a:sym typeface="Georgi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17" name="Shape 317"/>
        <p:cNvGrpSpPr/>
        <p:nvPr/>
      </p:nvGrpSpPr>
      <p:grpSpPr>
        <a:xfrm>
          <a:off x="0" y="0"/>
          <a:ext cx="0" cy="0"/>
          <a:chOff x="0" y="0"/>
          <a:chExt cx="0" cy="0"/>
        </a:xfrm>
      </p:grpSpPr>
      <p:sp>
        <p:nvSpPr>
          <p:cNvPr id="318" name="Google Shape;318;p26"/>
          <p:cNvSpPr/>
          <p:nvPr/>
        </p:nvSpPr>
        <p:spPr>
          <a:xfrm>
            <a:off x="0" y="0"/>
            <a:ext cx="9144000" cy="640200"/>
          </a:xfrm>
          <a:prstGeom prst="rect">
            <a:avLst/>
          </a:prstGeom>
          <a:solidFill>
            <a:srgbClr val="0C1F3F"/>
          </a:solidFill>
          <a:ln cap="flat" cmpd="sng" w="12700">
            <a:solidFill>
              <a:srgbClr val="0C1F3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6"/>
          <p:cNvSpPr/>
          <p:nvPr/>
        </p:nvSpPr>
        <p:spPr>
          <a:xfrm>
            <a:off x="365760" y="0"/>
            <a:ext cx="77724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Georgia"/>
              <a:buNone/>
            </a:pPr>
            <a:r>
              <a:rPr b="1" i="0" lang="en" sz="1800" u="none" cap="none" strike="noStrike">
                <a:solidFill>
                  <a:srgbClr val="FFFFFF"/>
                </a:solidFill>
                <a:latin typeface="Georgia"/>
                <a:ea typeface="Georgia"/>
                <a:cs typeface="Georgia"/>
                <a:sym typeface="Georgia"/>
              </a:rPr>
              <a:t>Proposed Data Model for Repeatable Reporting</a:t>
            </a:r>
            <a:endParaRPr b="0" i="0" sz="1800" u="none" cap="none" strike="noStrike">
              <a:solidFill>
                <a:schemeClr val="dk1"/>
              </a:solidFill>
              <a:latin typeface="Calibri"/>
              <a:ea typeface="Calibri"/>
              <a:cs typeface="Calibri"/>
              <a:sym typeface="Calibri"/>
            </a:endParaRPr>
          </a:p>
        </p:txBody>
      </p:sp>
      <p:sp>
        <p:nvSpPr>
          <p:cNvPr id="320" name="Google Shape;320;p26"/>
          <p:cNvSpPr/>
          <p:nvPr/>
        </p:nvSpPr>
        <p:spPr>
          <a:xfrm>
            <a:off x="8229600" y="0"/>
            <a:ext cx="640200" cy="64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900"/>
              <a:buFont typeface="Calibri"/>
              <a:buNone/>
            </a:pPr>
            <a:r>
              <a:rPr lang="en" sz="900">
                <a:solidFill>
                  <a:srgbClr val="64748B"/>
                </a:solidFill>
                <a:latin typeface="Calibri"/>
                <a:ea typeface="Calibri"/>
                <a:cs typeface="Calibri"/>
                <a:sym typeface="Calibri"/>
              </a:rPr>
              <a:t>11/1</a:t>
            </a:r>
            <a:r>
              <a:rPr b="0" i="0" lang="en" sz="900" u="none" cap="none" strike="noStrike">
                <a:solidFill>
                  <a:srgbClr val="64748B"/>
                </a:solidFill>
                <a:latin typeface="Calibri"/>
                <a:ea typeface="Calibri"/>
                <a:cs typeface="Calibri"/>
                <a:sym typeface="Calibri"/>
              </a:rPr>
              <a:t>2</a:t>
            </a:r>
            <a:endParaRPr b="0" i="0" sz="900" u="none" cap="none" strike="noStrike">
              <a:solidFill>
                <a:schemeClr val="dk1"/>
              </a:solidFill>
              <a:latin typeface="Calibri"/>
              <a:ea typeface="Calibri"/>
              <a:cs typeface="Calibri"/>
              <a:sym typeface="Calibri"/>
            </a:endParaRPr>
          </a:p>
        </p:txBody>
      </p:sp>
      <p:sp>
        <p:nvSpPr>
          <p:cNvPr id="321" name="Google Shape;321;p26"/>
          <p:cNvSpPr/>
          <p:nvPr/>
        </p:nvSpPr>
        <p:spPr>
          <a:xfrm>
            <a:off x="182875" y="777249"/>
            <a:ext cx="2286000" cy="12684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26"/>
          <p:cNvSpPr/>
          <p:nvPr/>
        </p:nvSpPr>
        <p:spPr>
          <a:xfrm>
            <a:off x="182880" y="777240"/>
            <a:ext cx="2286000" cy="347400"/>
          </a:xfrm>
          <a:prstGeom prst="rect">
            <a:avLst/>
          </a:prstGeom>
          <a:solidFill>
            <a:srgbClr val="0C1F3F"/>
          </a:solidFill>
          <a:ln cap="flat" cmpd="sng" w="12700">
            <a:solidFill>
              <a:srgbClr val="0C1F3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26"/>
          <p:cNvSpPr/>
          <p:nvPr/>
        </p:nvSpPr>
        <p:spPr>
          <a:xfrm>
            <a:off x="192432" y="777240"/>
            <a:ext cx="21945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b="1" i="0" lang="en" sz="900" u="none" cap="none" strike="noStrike">
                <a:solidFill>
                  <a:srgbClr val="FFFFFF"/>
                </a:solidFill>
                <a:latin typeface="Calibri"/>
                <a:ea typeface="Calibri"/>
                <a:cs typeface="Calibri"/>
                <a:sym typeface="Calibri"/>
              </a:rPr>
              <a:t>dim_customer</a:t>
            </a:r>
            <a:endParaRPr b="0" i="0" sz="900" u="none" cap="none" strike="noStrike">
              <a:solidFill>
                <a:schemeClr val="dk1"/>
              </a:solidFill>
              <a:latin typeface="Calibri"/>
              <a:ea typeface="Calibri"/>
              <a:cs typeface="Calibri"/>
              <a:sym typeface="Calibri"/>
            </a:endParaRPr>
          </a:p>
        </p:txBody>
      </p:sp>
      <p:sp>
        <p:nvSpPr>
          <p:cNvPr id="324" name="Google Shape;324;p26"/>
          <p:cNvSpPr/>
          <p:nvPr/>
        </p:nvSpPr>
        <p:spPr>
          <a:xfrm>
            <a:off x="256025" y="1161299"/>
            <a:ext cx="2148900" cy="8994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334155"/>
              </a:buClr>
              <a:buSzPts val="750"/>
              <a:buFont typeface="Calibri"/>
              <a:buNone/>
            </a:pPr>
            <a:r>
              <a:rPr lang="en" sz="750">
                <a:solidFill>
                  <a:srgbClr val="334155"/>
                </a:solidFill>
                <a:latin typeface="Lato"/>
                <a:ea typeface="Lato"/>
                <a:cs typeface="Lato"/>
                <a:sym typeface="Lato"/>
              </a:rPr>
              <a:t>customer_id </a:t>
            </a:r>
            <a:endParaRPr sz="750">
              <a:solidFill>
                <a:srgbClr val="334155"/>
              </a:solidFill>
              <a:latin typeface="Lato"/>
              <a:ea typeface="Lato"/>
              <a:cs typeface="Lato"/>
              <a:sym typeface="Lato"/>
            </a:endParaRPr>
          </a:p>
          <a:p>
            <a:pPr indent="0" lvl="0" marL="0" marR="0" rtl="0" algn="l">
              <a:lnSpc>
                <a:spcPct val="120000"/>
              </a:lnSpc>
              <a:spcBef>
                <a:spcPts val="0"/>
              </a:spcBef>
              <a:spcAft>
                <a:spcPts val="0"/>
              </a:spcAft>
              <a:buClr>
                <a:srgbClr val="334155"/>
              </a:buClr>
              <a:buSzPts val="750"/>
              <a:buFont typeface="Calibri"/>
              <a:buNone/>
            </a:pPr>
            <a:r>
              <a:rPr lang="en" sz="750">
                <a:solidFill>
                  <a:srgbClr val="334155"/>
                </a:solidFill>
                <a:latin typeface="Lato"/>
                <a:ea typeface="Lato"/>
                <a:cs typeface="Lato"/>
                <a:sym typeface="Lato"/>
              </a:rPr>
              <a:t>loan_id (FK )</a:t>
            </a:r>
            <a:endParaRPr sz="750">
              <a:solidFill>
                <a:srgbClr val="334155"/>
              </a:solidFill>
              <a:latin typeface="Lato"/>
              <a:ea typeface="Lato"/>
              <a:cs typeface="Lato"/>
              <a:sym typeface="Lato"/>
            </a:endParaRPr>
          </a:p>
          <a:p>
            <a:pPr indent="0" lvl="0" marL="0" marR="0" rtl="0" algn="l">
              <a:lnSpc>
                <a:spcPct val="120000"/>
              </a:lnSpc>
              <a:spcBef>
                <a:spcPts val="0"/>
              </a:spcBef>
              <a:spcAft>
                <a:spcPts val="0"/>
              </a:spcAft>
              <a:buClr>
                <a:srgbClr val="334155"/>
              </a:buClr>
              <a:buSzPts val="750"/>
              <a:buFont typeface="Calibri"/>
              <a:buNone/>
            </a:pPr>
            <a:r>
              <a:rPr lang="en" sz="750">
                <a:solidFill>
                  <a:srgbClr val="334155"/>
                </a:solidFill>
                <a:latin typeface="Lato"/>
                <a:ea typeface="Lato"/>
                <a:cs typeface="Lato"/>
                <a:sym typeface="Lato"/>
              </a:rPr>
              <a:t>gender</a:t>
            </a:r>
            <a:endParaRPr sz="750">
              <a:solidFill>
                <a:srgbClr val="334155"/>
              </a:solidFill>
              <a:latin typeface="Lato"/>
              <a:ea typeface="Lato"/>
              <a:cs typeface="Lato"/>
              <a:sym typeface="Lato"/>
            </a:endParaRPr>
          </a:p>
          <a:p>
            <a:pPr indent="0" lvl="0" marL="0" marR="0" rtl="0" algn="l">
              <a:lnSpc>
                <a:spcPct val="120000"/>
              </a:lnSpc>
              <a:spcBef>
                <a:spcPts val="0"/>
              </a:spcBef>
              <a:spcAft>
                <a:spcPts val="0"/>
              </a:spcAft>
              <a:buClr>
                <a:srgbClr val="334155"/>
              </a:buClr>
              <a:buSzPts val="750"/>
              <a:buFont typeface="Calibri"/>
              <a:buNone/>
            </a:pPr>
            <a:r>
              <a:rPr lang="en" sz="750">
                <a:solidFill>
                  <a:srgbClr val="334155"/>
                </a:solidFill>
                <a:latin typeface="Lato"/>
                <a:ea typeface="Lato"/>
                <a:cs typeface="Lato"/>
                <a:sym typeface="Lato"/>
              </a:rPr>
              <a:t>citizenship</a:t>
            </a:r>
            <a:endParaRPr sz="750">
              <a:solidFill>
                <a:srgbClr val="334155"/>
              </a:solidFill>
              <a:latin typeface="Lato"/>
              <a:ea typeface="Lato"/>
              <a:cs typeface="Lato"/>
              <a:sym typeface="Lato"/>
            </a:endParaRPr>
          </a:p>
          <a:p>
            <a:pPr indent="0" lvl="0" marL="0" marR="0" rtl="0" algn="l">
              <a:lnSpc>
                <a:spcPct val="120000"/>
              </a:lnSpc>
              <a:spcBef>
                <a:spcPts val="0"/>
              </a:spcBef>
              <a:spcAft>
                <a:spcPts val="0"/>
              </a:spcAft>
              <a:buClr>
                <a:srgbClr val="334155"/>
              </a:buClr>
              <a:buSzPts val="750"/>
              <a:buFont typeface="Calibri"/>
              <a:buNone/>
            </a:pPr>
            <a:r>
              <a:rPr lang="en" sz="750">
                <a:solidFill>
                  <a:srgbClr val="334155"/>
                </a:solidFill>
                <a:latin typeface="Lato"/>
                <a:ea typeface="Lato"/>
                <a:cs typeface="Lato"/>
                <a:sym typeface="Lato"/>
              </a:rPr>
              <a:t>date_of_birth</a:t>
            </a:r>
            <a:endParaRPr sz="750">
              <a:solidFill>
                <a:srgbClr val="334155"/>
              </a:solidFill>
              <a:latin typeface="Lato"/>
              <a:ea typeface="Lato"/>
              <a:cs typeface="Lato"/>
              <a:sym typeface="Lato"/>
            </a:endParaRPr>
          </a:p>
          <a:p>
            <a:pPr indent="0" lvl="0" marL="0" marR="0" rtl="0" algn="l">
              <a:lnSpc>
                <a:spcPct val="120000"/>
              </a:lnSpc>
              <a:spcBef>
                <a:spcPts val="0"/>
              </a:spcBef>
              <a:spcAft>
                <a:spcPts val="0"/>
              </a:spcAft>
              <a:buClr>
                <a:srgbClr val="334155"/>
              </a:buClr>
              <a:buSzPts val="750"/>
              <a:buFont typeface="Calibri"/>
              <a:buNone/>
            </a:pPr>
            <a:r>
              <a:rPr lang="en" sz="750">
                <a:solidFill>
                  <a:srgbClr val="334155"/>
                </a:solidFill>
                <a:latin typeface="Lato"/>
                <a:ea typeface="Lato"/>
                <a:cs typeface="Lato"/>
                <a:sym typeface="Lato"/>
              </a:rPr>
              <a:t>age (derived)</a:t>
            </a:r>
            <a:endParaRPr sz="750">
              <a:solidFill>
                <a:srgbClr val="334155"/>
              </a:solidFill>
              <a:latin typeface="Lato"/>
              <a:ea typeface="Lato"/>
              <a:cs typeface="Lato"/>
              <a:sym typeface="Lato"/>
            </a:endParaRPr>
          </a:p>
        </p:txBody>
      </p:sp>
      <p:sp>
        <p:nvSpPr>
          <p:cNvPr id="325" name="Google Shape;325;p26"/>
          <p:cNvSpPr/>
          <p:nvPr/>
        </p:nvSpPr>
        <p:spPr>
          <a:xfrm>
            <a:off x="6675125" y="777250"/>
            <a:ext cx="2286000" cy="20118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326" name="Google Shape;326;p26"/>
          <p:cNvSpPr/>
          <p:nvPr/>
        </p:nvSpPr>
        <p:spPr>
          <a:xfrm>
            <a:off x="146675" y="3826547"/>
            <a:ext cx="2286000" cy="507600"/>
          </a:xfrm>
          <a:prstGeom prst="rect">
            <a:avLst/>
          </a:prstGeom>
          <a:solidFill>
            <a:srgbClr val="0C1F3F"/>
          </a:solidFill>
          <a:ln cap="flat" cmpd="sng" w="12700">
            <a:solidFill>
              <a:srgbClr val="0C1F3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7" name="Google Shape;327;p26"/>
          <p:cNvGrpSpPr/>
          <p:nvPr/>
        </p:nvGrpSpPr>
        <p:grpSpPr>
          <a:xfrm>
            <a:off x="146675" y="3875167"/>
            <a:ext cx="2286000" cy="1268340"/>
            <a:chOff x="146675" y="3605210"/>
            <a:chExt cx="2286000" cy="1268340"/>
          </a:xfrm>
        </p:grpSpPr>
        <p:sp>
          <p:nvSpPr>
            <p:cNvPr id="328" name="Google Shape;328;p26"/>
            <p:cNvSpPr/>
            <p:nvPr/>
          </p:nvSpPr>
          <p:spPr>
            <a:xfrm>
              <a:off x="146675" y="3913550"/>
              <a:ext cx="2286000" cy="9600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lang="en" sz="800"/>
                <a:t>product_id (PK)</a:t>
              </a:r>
              <a:endParaRPr sz="800"/>
            </a:p>
            <a:p>
              <a:pPr indent="0" lvl="0" marL="0" rtl="0" algn="l">
                <a:spcBef>
                  <a:spcPts val="0"/>
                </a:spcBef>
                <a:spcAft>
                  <a:spcPts val="0"/>
                </a:spcAft>
                <a:buNone/>
              </a:pPr>
              <a:r>
                <a:rPr lang="en" sz="800"/>
                <a:t>product_name</a:t>
              </a:r>
              <a:endParaRPr sz="800"/>
            </a:p>
            <a:p>
              <a:pPr indent="0" lvl="0" marL="0" rtl="0" algn="l">
                <a:spcBef>
                  <a:spcPts val="0"/>
                </a:spcBef>
                <a:spcAft>
                  <a:spcPts val="0"/>
                </a:spcAft>
                <a:buNone/>
              </a:pPr>
              <a:r>
                <a:rPr lang="en" sz="800"/>
                <a:t>model</a:t>
              </a:r>
              <a:endParaRPr sz="800"/>
            </a:p>
            <a:p>
              <a:pPr indent="0" lvl="0" marL="0" rtl="0" algn="l">
                <a:spcBef>
                  <a:spcPts val="0"/>
                </a:spcBef>
                <a:spcAft>
                  <a:spcPts val="0"/>
                </a:spcAft>
                <a:buNone/>
              </a:pPr>
              <a:r>
                <a:rPr lang="en" sz="800"/>
                <a:t>client_model</a:t>
              </a:r>
              <a:endParaRPr sz="800"/>
            </a:p>
            <a:p>
              <a:pPr indent="0" lvl="0" marL="0" rtl="0" algn="l">
                <a:spcBef>
                  <a:spcPts val="0"/>
                </a:spcBef>
                <a:spcAft>
                  <a:spcPts val="0"/>
                </a:spcAft>
                <a:buNone/>
              </a:pPr>
              <a:r>
                <a:rPr lang="en" sz="800"/>
                <a:t>business_model</a:t>
              </a:r>
              <a:endParaRPr sz="800"/>
            </a:p>
          </p:txBody>
        </p:sp>
        <p:sp>
          <p:nvSpPr>
            <p:cNvPr id="329" name="Google Shape;329;p26"/>
            <p:cNvSpPr/>
            <p:nvPr/>
          </p:nvSpPr>
          <p:spPr>
            <a:xfrm>
              <a:off x="192432" y="3605210"/>
              <a:ext cx="21945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b="1" i="0" lang="en" sz="900" u="none" cap="none" strike="noStrike">
                  <a:solidFill>
                    <a:srgbClr val="FFFFFF"/>
                  </a:solidFill>
                  <a:latin typeface="Calibri"/>
                  <a:ea typeface="Calibri"/>
                  <a:cs typeface="Calibri"/>
                  <a:sym typeface="Calibri"/>
                </a:rPr>
                <a:t>dim_</a:t>
              </a:r>
              <a:r>
                <a:rPr b="1" lang="en" sz="900">
                  <a:solidFill>
                    <a:srgbClr val="FFFFFF"/>
                  </a:solidFill>
                  <a:latin typeface="Calibri"/>
                  <a:ea typeface="Calibri"/>
                  <a:cs typeface="Calibri"/>
                  <a:sym typeface="Calibri"/>
                </a:rPr>
                <a:t>product</a:t>
              </a:r>
              <a:endParaRPr b="0" i="0" sz="900" u="none" cap="none" strike="noStrike">
                <a:solidFill>
                  <a:schemeClr val="dk1"/>
                </a:solidFill>
                <a:latin typeface="Calibri"/>
                <a:ea typeface="Calibri"/>
                <a:cs typeface="Calibri"/>
                <a:sym typeface="Calibri"/>
              </a:endParaRPr>
            </a:p>
          </p:txBody>
        </p:sp>
      </p:grpSp>
      <p:sp>
        <p:nvSpPr>
          <p:cNvPr id="330" name="Google Shape;330;p26"/>
          <p:cNvSpPr/>
          <p:nvPr/>
        </p:nvSpPr>
        <p:spPr>
          <a:xfrm>
            <a:off x="3282725" y="777252"/>
            <a:ext cx="2651700" cy="33741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6"/>
          <p:cNvSpPr/>
          <p:nvPr/>
        </p:nvSpPr>
        <p:spPr>
          <a:xfrm>
            <a:off x="3269025" y="777240"/>
            <a:ext cx="2651700" cy="347400"/>
          </a:xfrm>
          <a:prstGeom prst="rect">
            <a:avLst/>
          </a:prstGeom>
          <a:solidFill>
            <a:srgbClr val="0A7C3E"/>
          </a:solidFill>
          <a:ln cap="flat" cmpd="sng" w="12700">
            <a:solidFill>
              <a:srgbClr val="0A7C3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26"/>
          <p:cNvSpPr/>
          <p:nvPr/>
        </p:nvSpPr>
        <p:spPr>
          <a:xfrm>
            <a:off x="6675120" y="850335"/>
            <a:ext cx="2286000" cy="347400"/>
          </a:xfrm>
          <a:prstGeom prst="rect">
            <a:avLst/>
          </a:prstGeom>
          <a:solidFill>
            <a:srgbClr val="0A7C3E"/>
          </a:solidFill>
          <a:ln cap="flat" cmpd="sng" w="12700">
            <a:solidFill>
              <a:srgbClr val="0A7C3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26"/>
          <p:cNvSpPr/>
          <p:nvPr/>
        </p:nvSpPr>
        <p:spPr>
          <a:xfrm>
            <a:off x="6720872" y="850335"/>
            <a:ext cx="21945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b="1" i="0" lang="en" sz="900" u="none" cap="none" strike="noStrike">
                <a:solidFill>
                  <a:srgbClr val="FFFFFF"/>
                </a:solidFill>
                <a:latin typeface="Calibri"/>
                <a:ea typeface="Calibri"/>
                <a:cs typeface="Calibri"/>
                <a:sym typeface="Calibri"/>
              </a:rPr>
              <a:t>fact_</a:t>
            </a:r>
            <a:r>
              <a:rPr b="1" lang="en" sz="900">
                <a:solidFill>
                  <a:srgbClr val="FFFFFF"/>
                </a:solidFill>
                <a:latin typeface="Calibri"/>
                <a:ea typeface="Calibri"/>
                <a:cs typeface="Calibri"/>
                <a:sym typeface="Calibri"/>
              </a:rPr>
              <a:t>nps</a:t>
            </a:r>
            <a:endParaRPr b="0" i="0" sz="900" u="none" cap="none" strike="noStrike">
              <a:solidFill>
                <a:schemeClr val="dk1"/>
              </a:solidFill>
              <a:latin typeface="Calibri"/>
              <a:ea typeface="Calibri"/>
              <a:cs typeface="Calibri"/>
              <a:sym typeface="Calibri"/>
            </a:endParaRPr>
          </a:p>
        </p:txBody>
      </p:sp>
      <p:sp>
        <p:nvSpPr>
          <p:cNvPr id="334" name="Google Shape;334;p26"/>
          <p:cNvSpPr/>
          <p:nvPr/>
        </p:nvSpPr>
        <p:spPr>
          <a:xfrm>
            <a:off x="6679720" y="3566160"/>
            <a:ext cx="2286000" cy="11886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26"/>
          <p:cNvSpPr/>
          <p:nvPr/>
        </p:nvSpPr>
        <p:spPr>
          <a:xfrm>
            <a:off x="6675120" y="3296523"/>
            <a:ext cx="2286000" cy="347400"/>
          </a:xfrm>
          <a:prstGeom prst="rect">
            <a:avLst/>
          </a:prstGeom>
          <a:solidFill>
            <a:srgbClr val="D97706"/>
          </a:solidFill>
          <a:ln cap="flat" cmpd="sng" w="12700">
            <a:solidFill>
              <a:srgbClr val="D977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26"/>
          <p:cNvSpPr/>
          <p:nvPr/>
        </p:nvSpPr>
        <p:spPr>
          <a:xfrm>
            <a:off x="6725472" y="3296523"/>
            <a:ext cx="21945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b="1" i="0" lang="en" sz="900" u="none" cap="none" strike="noStrike">
                <a:solidFill>
                  <a:srgbClr val="FFFFFF"/>
                </a:solidFill>
                <a:latin typeface="Calibri"/>
                <a:ea typeface="Calibri"/>
                <a:cs typeface="Calibri"/>
                <a:sym typeface="Calibri"/>
              </a:rPr>
              <a:t>fact_</a:t>
            </a:r>
            <a:r>
              <a:rPr b="1" lang="en" sz="900">
                <a:solidFill>
                  <a:srgbClr val="FFFFFF"/>
                </a:solidFill>
                <a:latin typeface="Calibri"/>
                <a:ea typeface="Calibri"/>
                <a:cs typeface="Calibri"/>
                <a:sym typeface="Calibri"/>
              </a:rPr>
              <a:t>Sales</a:t>
            </a:r>
            <a:endParaRPr b="0" i="0" sz="900" u="none" cap="none" strike="noStrike">
              <a:solidFill>
                <a:schemeClr val="dk1"/>
              </a:solidFill>
              <a:latin typeface="Calibri"/>
              <a:ea typeface="Calibri"/>
              <a:cs typeface="Calibri"/>
              <a:sym typeface="Calibri"/>
            </a:endParaRPr>
          </a:p>
        </p:txBody>
      </p:sp>
      <p:sp>
        <p:nvSpPr>
          <p:cNvPr id="337" name="Google Shape;337;p26"/>
          <p:cNvSpPr/>
          <p:nvPr/>
        </p:nvSpPr>
        <p:spPr>
          <a:xfrm>
            <a:off x="6748275" y="3924901"/>
            <a:ext cx="2148900" cy="640200"/>
          </a:xfrm>
          <a:prstGeom prst="rect">
            <a:avLst/>
          </a:prstGeom>
          <a:noFill/>
          <a:ln>
            <a:noFill/>
          </a:ln>
        </p:spPr>
        <p:txBody>
          <a:bodyPr anchorCtr="0" anchor="ctr" bIns="0" lIns="0" spcFirstLastPara="1" rIns="0" wrap="square" tIns="0">
            <a:noAutofit/>
          </a:bodyPr>
          <a:lstStyle/>
          <a:p>
            <a:pPr indent="0" lvl="0" marL="0" rtl="0" algn="l">
              <a:lnSpc>
                <a:spcPct val="120000"/>
              </a:lnSpc>
              <a:spcBef>
                <a:spcPts val="0"/>
              </a:spcBef>
              <a:spcAft>
                <a:spcPts val="0"/>
              </a:spcAft>
              <a:buClr>
                <a:schemeClr val="dk1"/>
              </a:buClr>
              <a:buSzPts val="1100"/>
              <a:buFont typeface="Arial"/>
              <a:buNone/>
            </a:pPr>
            <a:r>
              <a:rPr lang="en" sz="750">
                <a:solidFill>
                  <a:srgbClr val="334155"/>
                </a:solidFill>
                <a:latin typeface="Lato"/>
                <a:ea typeface="Lato"/>
                <a:cs typeface="Lato"/>
                <a:sym typeface="Lato"/>
              </a:rPr>
              <a:t>sale_id (PK)</a:t>
            </a:r>
            <a:endParaRPr sz="750">
              <a:solidFill>
                <a:srgbClr val="334155"/>
              </a:solidFill>
              <a:latin typeface="Lato"/>
              <a:ea typeface="Lato"/>
              <a:cs typeface="Lato"/>
              <a:sym typeface="Lato"/>
            </a:endParaRPr>
          </a:p>
          <a:p>
            <a:pPr indent="0" lvl="0" marL="0" rtl="0" algn="l">
              <a:lnSpc>
                <a:spcPct val="120000"/>
              </a:lnSpc>
              <a:spcBef>
                <a:spcPts val="0"/>
              </a:spcBef>
              <a:spcAft>
                <a:spcPts val="0"/>
              </a:spcAft>
              <a:buClr>
                <a:schemeClr val="dk1"/>
              </a:buClr>
              <a:buSzPts val="1100"/>
              <a:buFont typeface="Arial"/>
              <a:buNone/>
            </a:pPr>
            <a:r>
              <a:rPr lang="en" sz="750">
                <a:solidFill>
                  <a:srgbClr val="334155"/>
                </a:solidFill>
                <a:latin typeface="Lato"/>
                <a:ea typeface="Lato"/>
                <a:cs typeface="Lato"/>
                <a:sym typeface="Lato"/>
              </a:rPr>
              <a:t>loan_id (FK)</a:t>
            </a:r>
            <a:endParaRPr sz="750">
              <a:solidFill>
                <a:srgbClr val="334155"/>
              </a:solidFill>
              <a:latin typeface="Lato"/>
              <a:ea typeface="Lato"/>
              <a:cs typeface="Lato"/>
              <a:sym typeface="Lato"/>
            </a:endParaRPr>
          </a:p>
          <a:p>
            <a:pPr indent="0" lvl="0" marL="0" rtl="0" algn="l">
              <a:lnSpc>
                <a:spcPct val="120000"/>
              </a:lnSpc>
              <a:spcBef>
                <a:spcPts val="0"/>
              </a:spcBef>
              <a:spcAft>
                <a:spcPts val="0"/>
              </a:spcAft>
              <a:buClr>
                <a:schemeClr val="dk1"/>
              </a:buClr>
              <a:buSzPts val="1100"/>
              <a:buFont typeface="Arial"/>
              <a:buNone/>
            </a:pPr>
            <a:r>
              <a:rPr lang="en" sz="750">
                <a:solidFill>
                  <a:srgbClr val="334155"/>
                </a:solidFill>
                <a:latin typeface="Lato"/>
                <a:ea typeface="Lato"/>
                <a:cs typeface="Lato"/>
                <a:sym typeface="Lato"/>
              </a:rPr>
              <a:t>sale_date (FK -dim_date)</a:t>
            </a:r>
            <a:endParaRPr sz="750">
              <a:solidFill>
                <a:srgbClr val="334155"/>
              </a:solidFill>
              <a:latin typeface="Lato"/>
              <a:ea typeface="Lato"/>
              <a:cs typeface="Lato"/>
              <a:sym typeface="Lato"/>
            </a:endParaRPr>
          </a:p>
          <a:p>
            <a:pPr indent="0" lvl="0" marL="0" rtl="0" algn="l">
              <a:lnSpc>
                <a:spcPct val="120000"/>
              </a:lnSpc>
              <a:spcBef>
                <a:spcPts val="0"/>
              </a:spcBef>
              <a:spcAft>
                <a:spcPts val="0"/>
              </a:spcAft>
              <a:buClr>
                <a:schemeClr val="dk1"/>
              </a:buClr>
              <a:buSzPts val="1100"/>
              <a:buFont typeface="Arial"/>
              <a:buNone/>
            </a:pPr>
            <a:r>
              <a:rPr lang="en" sz="750">
                <a:solidFill>
                  <a:srgbClr val="334155"/>
                </a:solidFill>
                <a:latin typeface="Lato"/>
                <a:ea typeface="Lato"/>
                <a:cs typeface="Lato"/>
                <a:sym typeface="Lato"/>
              </a:rPr>
              <a:t>return_date (FK → dim_date)</a:t>
            </a:r>
            <a:endParaRPr sz="750">
              <a:solidFill>
                <a:srgbClr val="334155"/>
              </a:solidFill>
              <a:latin typeface="Lato"/>
              <a:ea typeface="Lato"/>
              <a:cs typeface="Lato"/>
              <a:sym typeface="Lato"/>
            </a:endParaRPr>
          </a:p>
          <a:p>
            <a:pPr indent="0" lvl="0" marL="0" rtl="0" algn="l">
              <a:lnSpc>
                <a:spcPct val="120000"/>
              </a:lnSpc>
              <a:spcBef>
                <a:spcPts val="0"/>
              </a:spcBef>
              <a:spcAft>
                <a:spcPts val="0"/>
              </a:spcAft>
              <a:buClr>
                <a:schemeClr val="dk1"/>
              </a:buClr>
              <a:buSzPts val="1100"/>
              <a:buFont typeface="Arial"/>
              <a:buNone/>
            </a:pPr>
            <a:r>
              <a:rPr lang="en" sz="750">
                <a:solidFill>
                  <a:srgbClr val="334155"/>
                </a:solidFill>
                <a:latin typeface="Lato"/>
                <a:ea typeface="Lato"/>
                <a:cs typeface="Lato"/>
                <a:sym typeface="Lato"/>
              </a:rPr>
              <a:t>cash_price</a:t>
            </a:r>
            <a:endParaRPr sz="750">
              <a:solidFill>
                <a:srgbClr val="334155"/>
              </a:solidFill>
              <a:latin typeface="Lato"/>
              <a:ea typeface="Lato"/>
              <a:cs typeface="Lato"/>
              <a:sym typeface="Lato"/>
            </a:endParaRPr>
          </a:p>
          <a:p>
            <a:pPr indent="0" lvl="0" marL="0" rtl="0" algn="l">
              <a:lnSpc>
                <a:spcPct val="120000"/>
              </a:lnSpc>
              <a:spcBef>
                <a:spcPts val="0"/>
              </a:spcBef>
              <a:spcAft>
                <a:spcPts val="0"/>
              </a:spcAft>
              <a:buClr>
                <a:schemeClr val="dk1"/>
              </a:buClr>
              <a:buSzPts val="1100"/>
              <a:buFont typeface="Arial"/>
              <a:buNone/>
            </a:pPr>
            <a:r>
              <a:rPr lang="en" sz="750">
                <a:solidFill>
                  <a:srgbClr val="334155"/>
                </a:solidFill>
                <a:latin typeface="Lato"/>
                <a:ea typeface="Lato"/>
                <a:cs typeface="Lato"/>
                <a:sym typeface="Lato"/>
              </a:rPr>
              <a:t>loan_price</a:t>
            </a:r>
            <a:endParaRPr sz="750">
              <a:solidFill>
                <a:srgbClr val="334155"/>
              </a:solidFill>
              <a:latin typeface="Lato"/>
              <a:ea typeface="Lato"/>
              <a:cs typeface="Lato"/>
              <a:sym typeface="Lato"/>
            </a:endParaRPr>
          </a:p>
          <a:p>
            <a:pPr indent="0" lvl="0" marL="0" rtl="0" algn="l">
              <a:lnSpc>
                <a:spcPct val="120000"/>
              </a:lnSpc>
              <a:spcBef>
                <a:spcPts val="0"/>
              </a:spcBef>
              <a:spcAft>
                <a:spcPts val="0"/>
              </a:spcAft>
              <a:buClr>
                <a:schemeClr val="dk1"/>
              </a:buClr>
              <a:buSzPts val="1100"/>
              <a:buFont typeface="Arial"/>
              <a:buNone/>
            </a:pPr>
            <a:r>
              <a:rPr lang="en" sz="750">
                <a:solidFill>
                  <a:srgbClr val="334155"/>
                </a:solidFill>
                <a:latin typeface="Lato"/>
                <a:ea typeface="Lato"/>
                <a:cs typeface="Lato"/>
                <a:sym typeface="Lato"/>
              </a:rPr>
              <a:t>loan_term</a:t>
            </a:r>
            <a:endParaRPr sz="750">
              <a:solidFill>
                <a:srgbClr val="334155"/>
              </a:solidFill>
              <a:latin typeface="Lato"/>
              <a:ea typeface="Lato"/>
              <a:cs typeface="Lato"/>
              <a:sym typeface="Lato"/>
            </a:endParaRPr>
          </a:p>
          <a:p>
            <a:pPr indent="0" lvl="0" marL="0" rtl="0" algn="l">
              <a:lnSpc>
                <a:spcPct val="120000"/>
              </a:lnSpc>
              <a:spcBef>
                <a:spcPts val="0"/>
              </a:spcBef>
              <a:spcAft>
                <a:spcPts val="0"/>
              </a:spcAft>
              <a:buClr>
                <a:schemeClr val="dk1"/>
              </a:buClr>
              <a:buSzPts val="1100"/>
              <a:buFont typeface="Arial"/>
              <a:buNone/>
            </a:pPr>
            <a:r>
              <a:rPr lang="en" sz="750">
                <a:solidFill>
                  <a:srgbClr val="334155"/>
                </a:solidFill>
                <a:latin typeface="Lato"/>
                <a:ea typeface="Lato"/>
                <a:cs typeface="Lato"/>
                <a:sym typeface="Lato"/>
              </a:rPr>
              <a:t>returned (flag)</a:t>
            </a:r>
            <a:endParaRPr sz="750">
              <a:solidFill>
                <a:srgbClr val="334155"/>
              </a:solidFill>
              <a:latin typeface="Lato"/>
              <a:ea typeface="Lato"/>
              <a:cs typeface="Lato"/>
              <a:sym typeface="Lato"/>
            </a:endParaRPr>
          </a:p>
          <a:p>
            <a:pPr indent="0" lvl="0" marL="0" marR="0" rtl="0" algn="l">
              <a:lnSpc>
                <a:spcPct val="120000"/>
              </a:lnSpc>
              <a:spcBef>
                <a:spcPts val="0"/>
              </a:spcBef>
              <a:spcAft>
                <a:spcPts val="0"/>
              </a:spcAft>
              <a:buClr>
                <a:srgbClr val="334155"/>
              </a:buClr>
              <a:buSzPts val="750"/>
              <a:buFont typeface="Calibri"/>
              <a:buNone/>
            </a:pPr>
            <a:r>
              <a:t/>
            </a:r>
            <a:endParaRPr sz="750">
              <a:solidFill>
                <a:srgbClr val="334155"/>
              </a:solidFill>
              <a:latin typeface="Lato"/>
              <a:ea typeface="Lato"/>
              <a:cs typeface="Lato"/>
              <a:sym typeface="Lato"/>
            </a:endParaRPr>
          </a:p>
        </p:txBody>
      </p:sp>
      <p:cxnSp>
        <p:nvCxnSpPr>
          <p:cNvPr id="338" name="Google Shape;338;p26"/>
          <p:cNvCxnSpPr/>
          <p:nvPr/>
        </p:nvCxnSpPr>
        <p:spPr>
          <a:xfrm>
            <a:off x="2468880" y="1371600"/>
            <a:ext cx="798900" cy="20700"/>
          </a:xfrm>
          <a:prstGeom prst="straightConnector1">
            <a:avLst/>
          </a:prstGeom>
          <a:noFill/>
          <a:ln cap="flat" cmpd="sng" w="15225">
            <a:solidFill>
              <a:srgbClr val="64748B"/>
            </a:solidFill>
            <a:prstDash val="dash"/>
            <a:round/>
            <a:headEnd len="sm" w="sm" type="none"/>
            <a:tailEnd len="sm" w="sm" type="none"/>
          </a:ln>
        </p:spPr>
      </p:cxnSp>
      <p:cxnSp>
        <p:nvCxnSpPr>
          <p:cNvPr id="339" name="Google Shape;339;p26"/>
          <p:cNvCxnSpPr/>
          <p:nvPr/>
        </p:nvCxnSpPr>
        <p:spPr>
          <a:xfrm>
            <a:off x="6675120" y="1188720"/>
            <a:ext cx="1051500" cy="9000"/>
          </a:xfrm>
          <a:prstGeom prst="straightConnector1">
            <a:avLst/>
          </a:prstGeom>
          <a:noFill/>
          <a:ln cap="flat" cmpd="sng" w="15225">
            <a:solidFill>
              <a:srgbClr val="64748B"/>
            </a:solidFill>
            <a:prstDash val="dash"/>
            <a:round/>
            <a:headEnd len="sm" w="sm" type="none"/>
            <a:tailEnd len="sm" w="sm" type="none"/>
          </a:ln>
        </p:spPr>
      </p:cxnSp>
      <p:cxnSp>
        <p:nvCxnSpPr>
          <p:cNvPr id="340" name="Google Shape;340;p26"/>
          <p:cNvCxnSpPr/>
          <p:nvPr/>
        </p:nvCxnSpPr>
        <p:spPr>
          <a:xfrm>
            <a:off x="2468880" y="4565095"/>
            <a:ext cx="4243200" cy="45600"/>
          </a:xfrm>
          <a:prstGeom prst="straightConnector1">
            <a:avLst/>
          </a:prstGeom>
          <a:noFill/>
          <a:ln cap="flat" cmpd="sng" w="15225">
            <a:solidFill>
              <a:srgbClr val="64748B"/>
            </a:solidFill>
            <a:prstDash val="dash"/>
            <a:round/>
            <a:headEnd len="sm" w="sm" type="none"/>
            <a:tailEnd len="sm" w="sm" type="none"/>
          </a:ln>
        </p:spPr>
      </p:cxnSp>
      <p:cxnSp>
        <p:nvCxnSpPr>
          <p:cNvPr id="341" name="Google Shape;341;p26"/>
          <p:cNvCxnSpPr/>
          <p:nvPr/>
        </p:nvCxnSpPr>
        <p:spPr>
          <a:xfrm>
            <a:off x="5975025" y="1542625"/>
            <a:ext cx="699900" cy="21000"/>
          </a:xfrm>
          <a:prstGeom prst="straightConnector1">
            <a:avLst/>
          </a:prstGeom>
          <a:noFill/>
          <a:ln cap="flat" cmpd="sng" w="15225">
            <a:solidFill>
              <a:srgbClr val="64748B"/>
            </a:solidFill>
            <a:prstDash val="dash"/>
            <a:round/>
            <a:headEnd len="sm" w="sm" type="none"/>
            <a:tailEnd len="sm" w="sm" type="none"/>
          </a:ln>
        </p:spPr>
      </p:cxnSp>
      <p:grpSp>
        <p:nvGrpSpPr>
          <p:cNvPr id="342" name="Google Shape;342;p26"/>
          <p:cNvGrpSpPr/>
          <p:nvPr/>
        </p:nvGrpSpPr>
        <p:grpSpPr>
          <a:xfrm>
            <a:off x="3314741" y="754362"/>
            <a:ext cx="2681490" cy="3579721"/>
            <a:chOff x="2923663" y="777240"/>
            <a:chExt cx="2681490" cy="3460674"/>
          </a:xfrm>
        </p:grpSpPr>
        <p:sp>
          <p:nvSpPr>
            <p:cNvPr id="343" name="Google Shape;343;p26"/>
            <p:cNvSpPr/>
            <p:nvPr/>
          </p:nvSpPr>
          <p:spPr>
            <a:xfrm>
              <a:off x="3044952" y="777240"/>
              <a:ext cx="25602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b="1" i="0" lang="en" sz="800" u="none" cap="none" strike="noStrike">
                  <a:solidFill>
                    <a:srgbClr val="FFFFFF"/>
                  </a:solidFill>
                </a:rPr>
                <a:t>fact_</a:t>
              </a:r>
              <a:r>
                <a:rPr b="1" lang="en" sz="800">
                  <a:solidFill>
                    <a:srgbClr val="FFFFFF"/>
                  </a:solidFill>
                </a:rPr>
                <a:t>loan_perfomance</a:t>
              </a:r>
              <a:endParaRPr i="0" sz="800" u="none" cap="none" strike="noStrike">
                <a:solidFill>
                  <a:schemeClr val="dk1"/>
                </a:solidFill>
              </a:endParaRPr>
            </a:p>
          </p:txBody>
        </p:sp>
        <p:sp>
          <p:nvSpPr>
            <p:cNvPr id="344" name="Google Shape;344;p26"/>
            <p:cNvSpPr/>
            <p:nvPr/>
          </p:nvSpPr>
          <p:spPr>
            <a:xfrm>
              <a:off x="2923663" y="1238814"/>
              <a:ext cx="2514600" cy="29991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334155"/>
                </a:buClr>
                <a:buSzPts val="750"/>
                <a:buFont typeface="Calibri"/>
                <a:buNone/>
              </a:pPr>
              <a:r>
                <a:rPr lang="en" sz="800">
                  <a:solidFill>
                    <a:srgbClr val="334155"/>
                  </a:solidFill>
                </a:rPr>
                <a:t>loan_id (PK/FK)</a:t>
              </a:r>
              <a:endParaRPr sz="800">
                <a:solidFill>
                  <a:srgbClr val="334155"/>
                </a:solidFill>
              </a:endParaRPr>
            </a:p>
            <a:p>
              <a:pPr indent="0" lvl="0" marL="0" marR="0" rtl="0" algn="l">
                <a:lnSpc>
                  <a:spcPct val="120000"/>
                </a:lnSpc>
                <a:spcBef>
                  <a:spcPts val="0"/>
                </a:spcBef>
                <a:spcAft>
                  <a:spcPts val="0"/>
                </a:spcAft>
                <a:buClr>
                  <a:srgbClr val="334155"/>
                </a:buClr>
                <a:buSzPts val="750"/>
                <a:buFont typeface="Calibri"/>
                <a:buNone/>
              </a:pPr>
              <a:r>
                <a:rPr lang="en" sz="800">
                  <a:solidFill>
                    <a:srgbClr val="334155"/>
                  </a:solidFill>
                </a:rPr>
                <a:t>date (FK → dim_date)</a:t>
              </a:r>
              <a:endParaRPr sz="800">
                <a:solidFill>
                  <a:srgbClr val="334155"/>
                </a:solidFill>
              </a:endParaRPr>
            </a:p>
            <a:p>
              <a:pPr indent="0" lvl="0" marL="0" marR="0" rtl="0" algn="l">
                <a:lnSpc>
                  <a:spcPct val="120000"/>
                </a:lnSpc>
                <a:spcBef>
                  <a:spcPts val="0"/>
                </a:spcBef>
                <a:spcAft>
                  <a:spcPts val="0"/>
                </a:spcAft>
                <a:buClr>
                  <a:srgbClr val="334155"/>
                </a:buClr>
                <a:buSzPts val="750"/>
                <a:buFont typeface="Calibri"/>
                <a:buNone/>
              </a:pPr>
              <a:r>
                <a:rPr lang="en" sz="800">
                  <a:solidFill>
                    <a:srgbClr val="334155"/>
                  </a:solidFill>
                </a:rPr>
                <a:t>total_paid</a:t>
              </a:r>
              <a:endParaRPr sz="800">
                <a:solidFill>
                  <a:srgbClr val="334155"/>
                </a:solidFill>
              </a:endParaRPr>
            </a:p>
            <a:p>
              <a:pPr indent="0" lvl="0" marL="0" marR="0" rtl="0" algn="l">
                <a:lnSpc>
                  <a:spcPct val="120000"/>
                </a:lnSpc>
                <a:spcBef>
                  <a:spcPts val="0"/>
                </a:spcBef>
                <a:spcAft>
                  <a:spcPts val="0"/>
                </a:spcAft>
                <a:buClr>
                  <a:srgbClr val="334155"/>
                </a:buClr>
                <a:buSzPts val="750"/>
                <a:buFont typeface="Calibri"/>
                <a:buNone/>
              </a:pPr>
              <a:r>
                <a:rPr lang="en" sz="800">
                  <a:solidFill>
                    <a:srgbClr val="334155"/>
                  </a:solidFill>
                </a:rPr>
                <a:t>total_due_today</a:t>
              </a:r>
              <a:endParaRPr sz="800">
                <a:solidFill>
                  <a:srgbClr val="334155"/>
                </a:solidFill>
              </a:endParaRPr>
            </a:p>
            <a:p>
              <a:pPr indent="0" lvl="0" marL="0" marR="0" rtl="0" algn="l">
                <a:lnSpc>
                  <a:spcPct val="120000"/>
                </a:lnSpc>
                <a:spcBef>
                  <a:spcPts val="0"/>
                </a:spcBef>
                <a:spcAft>
                  <a:spcPts val="0"/>
                </a:spcAft>
                <a:buClr>
                  <a:srgbClr val="334155"/>
                </a:buClr>
                <a:buSzPts val="750"/>
                <a:buFont typeface="Calibri"/>
                <a:buNone/>
              </a:pPr>
              <a:r>
                <a:rPr lang="en" sz="800">
                  <a:solidFill>
                    <a:srgbClr val="334155"/>
                  </a:solidFill>
                </a:rPr>
                <a:t>balance</a:t>
              </a:r>
              <a:endParaRPr sz="800">
                <a:solidFill>
                  <a:srgbClr val="334155"/>
                </a:solidFill>
              </a:endParaRPr>
            </a:p>
            <a:p>
              <a:pPr indent="0" lvl="0" marL="0" marR="0" rtl="0" algn="l">
                <a:lnSpc>
                  <a:spcPct val="120000"/>
                </a:lnSpc>
                <a:spcBef>
                  <a:spcPts val="0"/>
                </a:spcBef>
                <a:spcAft>
                  <a:spcPts val="0"/>
                </a:spcAft>
                <a:buClr>
                  <a:srgbClr val="334155"/>
                </a:buClr>
                <a:buSzPts val="750"/>
                <a:buFont typeface="Calibri"/>
                <a:buNone/>
              </a:pPr>
              <a:r>
                <a:rPr lang="en" sz="800">
                  <a:solidFill>
                    <a:srgbClr val="334155"/>
                  </a:solidFill>
                </a:rPr>
                <a:t>closing_balance</a:t>
              </a:r>
              <a:endParaRPr sz="800">
                <a:solidFill>
                  <a:srgbClr val="334155"/>
                </a:solidFill>
              </a:endParaRPr>
            </a:p>
            <a:p>
              <a:pPr indent="0" lvl="0" marL="0" marR="0" rtl="0" algn="l">
                <a:lnSpc>
                  <a:spcPct val="120000"/>
                </a:lnSpc>
                <a:spcBef>
                  <a:spcPts val="0"/>
                </a:spcBef>
                <a:spcAft>
                  <a:spcPts val="0"/>
                </a:spcAft>
                <a:buClr>
                  <a:srgbClr val="334155"/>
                </a:buClr>
                <a:buSzPts val="750"/>
                <a:buFont typeface="Calibri"/>
                <a:buNone/>
              </a:pPr>
              <a:r>
                <a:rPr lang="en" sz="800">
                  <a:solidFill>
                    <a:srgbClr val="334155"/>
                  </a:solidFill>
                </a:rPr>
                <a:t>advance</a:t>
              </a:r>
              <a:endParaRPr sz="800">
                <a:solidFill>
                  <a:srgbClr val="334155"/>
                </a:solidFill>
              </a:endParaRPr>
            </a:p>
            <a:p>
              <a:pPr indent="0" lvl="0" marL="0" marR="0" rtl="0" algn="l">
                <a:lnSpc>
                  <a:spcPct val="120000"/>
                </a:lnSpc>
                <a:spcBef>
                  <a:spcPts val="0"/>
                </a:spcBef>
                <a:spcAft>
                  <a:spcPts val="0"/>
                </a:spcAft>
                <a:buClr>
                  <a:srgbClr val="334155"/>
                </a:buClr>
                <a:buSzPts val="750"/>
                <a:buFont typeface="Calibri"/>
                <a:buNone/>
              </a:pPr>
              <a:r>
                <a:rPr lang="en" sz="800">
                  <a:solidFill>
                    <a:srgbClr val="334155"/>
                  </a:solidFill>
                </a:rPr>
                <a:t>balance_due_to_date</a:t>
              </a:r>
              <a:endParaRPr sz="800">
                <a:solidFill>
                  <a:srgbClr val="334155"/>
                </a:solidFill>
              </a:endParaRPr>
            </a:p>
            <a:p>
              <a:pPr indent="0" lvl="0" marL="0" marR="0" rtl="0" algn="l">
                <a:lnSpc>
                  <a:spcPct val="120000"/>
                </a:lnSpc>
                <a:spcBef>
                  <a:spcPts val="0"/>
                </a:spcBef>
                <a:spcAft>
                  <a:spcPts val="0"/>
                </a:spcAft>
                <a:buClr>
                  <a:srgbClr val="334155"/>
                </a:buClr>
                <a:buSzPts val="750"/>
                <a:buFont typeface="Calibri"/>
                <a:buNone/>
              </a:pPr>
              <a:r>
                <a:rPr lang="en" sz="800">
                  <a:solidFill>
                    <a:srgbClr val="334155"/>
                  </a:solidFill>
                </a:rPr>
                <a:t>arrears</a:t>
              </a:r>
              <a:endParaRPr sz="800">
                <a:solidFill>
                  <a:srgbClr val="334155"/>
                </a:solidFill>
              </a:endParaRPr>
            </a:p>
            <a:p>
              <a:pPr indent="0" lvl="0" marL="0" marR="0" rtl="0" algn="l">
                <a:lnSpc>
                  <a:spcPct val="120000"/>
                </a:lnSpc>
                <a:spcBef>
                  <a:spcPts val="0"/>
                </a:spcBef>
                <a:spcAft>
                  <a:spcPts val="0"/>
                </a:spcAft>
                <a:buClr>
                  <a:srgbClr val="334155"/>
                </a:buClr>
                <a:buSzPts val="750"/>
                <a:buFont typeface="Calibri"/>
                <a:buNone/>
              </a:pPr>
              <a:r>
                <a:rPr lang="en" sz="800">
                  <a:solidFill>
                    <a:srgbClr val="334155"/>
                  </a:solidFill>
                </a:rPr>
                <a:t>days_past_due</a:t>
              </a:r>
              <a:endParaRPr sz="800">
                <a:solidFill>
                  <a:srgbClr val="334155"/>
                </a:solidFill>
              </a:endParaRPr>
            </a:p>
            <a:p>
              <a:pPr indent="0" lvl="0" marL="0" marR="0" rtl="0" algn="l">
                <a:lnSpc>
                  <a:spcPct val="120000"/>
                </a:lnSpc>
                <a:spcBef>
                  <a:spcPts val="0"/>
                </a:spcBef>
                <a:spcAft>
                  <a:spcPts val="0"/>
                </a:spcAft>
                <a:buClr>
                  <a:srgbClr val="334155"/>
                </a:buClr>
                <a:buSzPts val="750"/>
                <a:buFont typeface="Calibri"/>
                <a:buNone/>
              </a:pPr>
              <a:r>
                <a:rPr lang="en" sz="800">
                  <a:solidFill>
                    <a:srgbClr val="334155"/>
                  </a:solidFill>
                </a:rPr>
                <a:t>payment</a:t>
              </a:r>
              <a:endParaRPr sz="800">
                <a:solidFill>
                  <a:srgbClr val="334155"/>
                </a:solidFill>
              </a:endParaRPr>
            </a:p>
            <a:p>
              <a:pPr indent="0" lvl="0" marL="0" marR="0" rtl="0" algn="l">
                <a:lnSpc>
                  <a:spcPct val="120000"/>
                </a:lnSpc>
                <a:spcBef>
                  <a:spcPts val="0"/>
                </a:spcBef>
                <a:spcAft>
                  <a:spcPts val="0"/>
                </a:spcAft>
                <a:buClr>
                  <a:srgbClr val="334155"/>
                </a:buClr>
                <a:buSzPts val="750"/>
                <a:buFont typeface="Calibri"/>
                <a:buNone/>
              </a:pPr>
              <a:r>
                <a:rPr lang="en" sz="800">
                  <a:solidFill>
                    <a:srgbClr val="334155"/>
                  </a:solidFill>
                </a:rPr>
                <a:t>expected_payment</a:t>
              </a:r>
              <a:endParaRPr sz="800">
                <a:solidFill>
                  <a:srgbClr val="334155"/>
                </a:solidFill>
              </a:endParaRPr>
            </a:p>
            <a:p>
              <a:pPr indent="0" lvl="0" marL="0" marR="0" rtl="0" algn="l">
                <a:lnSpc>
                  <a:spcPct val="120000"/>
                </a:lnSpc>
                <a:spcBef>
                  <a:spcPts val="0"/>
                </a:spcBef>
                <a:spcAft>
                  <a:spcPts val="0"/>
                </a:spcAft>
                <a:buClr>
                  <a:srgbClr val="334155"/>
                </a:buClr>
                <a:buSzPts val="750"/>
                <a:buFont typeface="Calibri"/>
                <a:buNone/>
              </a:pPr>
              <a:r>
                <a:rPr lang="en" sz="800">
                  <a:solidFill>
                    <a:srgbClr val="334155"/>
                  </a:solidFill>
                </a:rPr>
                <a:t>payment_amount</a:t>
              </a:r>
              <a:endParaRPr sz="800">
                <a:solidFill>
                  <a:srgbClr val="334155"/>
                </a:solidFill>
              </a:endParaRPr>
            </a:p>
            <a:p>
              <a:pPr indent="0" lvl="0" marL="0" marR="0" rtl="0" algn="l">
                <a:lnSpc>
                  <a:spcPct val="120000"/>
                </a:lnSpc>
                <a:spcBef>
                  <a:spcPts val="0"/>
                </a:spcBef>
                <a:spcAft>
                  <a:spcPts val="0"/>
                </a:spcAft>
                <a:buClr>
                  <a:srgbClr val="334155"/>
                </a:buClr>
                <a:buSzPts val="750"/>
                <a:buFont typeface="Calibri"/>
                <a:buNone/>
              </a:pPr>
              <a:r>
                <a:rPr lang="en" sz="800">
                  <a:solidFill>
                    <a:srgbClr val="334155"/>
                  </a:solidFill>
                </a:rPr>
                <a:t>adjustment_amount</a:t>
              </a:r>
              <a:endParaRPr sz="800">
                <a:solidFill>
                  <a:srgbClr val="334155"/>
                </a:solidFill>
              </a:endParaRPr>
            </a:p>
            <a:p>
              <a:pPr indent="0" lvl="0" marL="0" marR="0" rtl="0" algn="l">
                <a:lnSpc>
                  <a:spcPct val="120000"/>
                </a:lnSpc>
                <a:spcBef>
                  <a:spcPts val="0"/>
                </a:spcBef>
                <a:spcAft>
                  <a:spcPts val="0"/>
                </a:spcAft>
                <a:buClr>
                  <a:srgbClr val="334155"/>
                </a:buClr>
                <a:buSzPts val="750"/>
                <a:buFont typeface="Calibri"/>
                <a:buNone/>
              </a:pPr>
              <a:r>
                <a:rPr lang="en" sz="800">
                  <a:solidFill>
                    <a:srgbClr val="334155"/>
                  </a:solidFill>
                </a:rPr>
                <a:t>prepayment_amount</a:t>
              </a:r>
              <a:endParaRPr sz="800">
                <a:solidFill>
                  <a:srgbClr val="334155"/>
                </a:solidFill>
              </a:endParaRPr>
            </a:p>
            <a:p>
              <a:pPr indent="0" lvl="0" marL="0" marR="0" rtl="0" algn="l">
                <a:lnSpc>
                  <a:spcPct val="120000"/>
                </a:lnSpc>
                <a:spcBef>
                  <a:spcPts val="0"/>
                </a:spcBef>
                <a:spcAft>
                  <a:spcPts val="0"/>
                </a:spcAft>
                <a:buClr>
                  <a:srgbClr val="334155"/>
                </a:buClr>
                <a:buSzPts val="750"/>
                <a:buFont typeface="Calibri"/>
                <a:buNone/>
              </a:pPr>
              <a:r>
                <a:rPr lang="en" sz="800">
                  <a:solidFill>
                    <a:srgbClr val="334155"/>
                  </a:solidFill>
                </a:rPr>
                <a:t>deposit</a:t>
              </a:r>
              <a:endParaRPr sz="800">
                <a:solidFill>
                  <a:srgbClr val="334155"/>
                </a:solidFill>
              </a:endParaRPr>
            </a:p>
            <a:p>
              <a:pPr indent="0" lvl="0" marL="0" marR="0" rtl="0" algn="l">
                <a:lnSpc>
                  <a:spcPct val="120000"/>
                </a:lnSpc>
                <a:spcBef>
                  <a:spcPts val="0"/>
                </a:spcBef>
                <a:spcAft>
                  <a:spcPts val="0"/>
                </a:spcAft>
                <a:buClr>
                  <a:srgbClr val="334155"/>
                </a:buClr>
                <a:buSzPts val="750"/>
                <a:buFont typeface="Calibri"/>
                <a:buNone/>
              </a:pPr>
              <a:r>
                <a:rPr lang="en" sz="800">
                  <a:solidFill>
                    <a:srgbClr val="334155"/>
                  </a:solidFill>
                </a:rPr>
                <a:t>weekly_rate</a:t>
              </a:r>
              <a:endParaRPr sz="800">
                <a:solidFill>
                  <a:srgbClr val="334155"/>
                </a:solidFill>
              </a:endParaRPr>
            </a:p>
            <a:p>
              <a:pPr indent="0" lvl="0" marL="0" marR="0" rtl="0" algn="l">
                <a:lnSpc>
                  <a:spcPct val="120000"/>
                </a:lnSpc>
                <a:spcBef>
                  <a:spcPts val="0"/>
                </a:spcBef>
                <a:spcAft>
                  <a:spcPts val="0"/>
                </a:spcAft>
                <a:buClr>
                  <a:srgbClr val="334155"/>
                </a:buClr>
                <a:buSzPts val="750"/>
                <a:buFont typeface="Calibri"/>
                <a:buNone/>
              </a:pPr>
              <a:r>
                <a:rPr lang="en" sz="800">
                  <a:solidFill>
                    <a:srgbClr val="334155"/>
                  </a:solidFill>
                </a:rPr>
                <a:t>discount</a:t>
              </a:r>
              <a:endParaRPr sz="800">
                <a:solidFill>
                  <a:srgbClr val="334155"/>
                </a:solidFill>
              </a:endParaRPr>
            </a:p>
            <a:p>
              <a:pPr indent="0" lvl="0" marL="0" marR="0" rtl="0" algn="l">
                <a:lnSpc>
                  <a:spcPct val="120000"/>
                </a:lnSpc>
                <a:spcBef>
                  <a:spcPts val="0"/>
                </a:spcBef>
                <a:spcAft>
                  <a:spcPts val="0"/>
                </a:spcAft>
                <a:buClr>
                  <a:srgbClr val="334155"/>
                </a:buClr>
                <a:buSzPts val="750"/>
                <a:buFont typeface="Calibri"/>
                <a:buNone/>
              </a:pPr>
              <a:r>
                <a:rPr lang="en" sz="800">
                  <a:solidFill>
                    <a:srgbClr val="334155"/>
                  </a:solidFill>
                </a:rPr>
                <a:t>overpayment_amount</a:t>
              </a:r>
              <a:endParaRPr sz="800">
                <a:solidFill>
                  <a:srgbClr val="334155"/>
                </a:solidFill>
              </a:endParaRPr>
            </a:p>
            <a:p>
              <a:pPr indent="0" lvl="0" marL="0" marR="0" rtl="0" algn="l">
                <a:lnSpc>
                  <a:spcPct val="120000"/>
                </a:lnSpc>
                <a:spcBef>
                  <a:spcPts val="0"/>
                </a:spcBef>
                <a:spcAft>
                  <a:spcPts val="0"/>
                </a:spcAft>
                <a:buClr>
                  <a:srgbClr val="334155"/>
                </a:buClr>
                <a:buSzPts val="750"/>
                <a:buFont typeface="Calibri"/>
                <a:buNone/>
              </a:pPr>
              <a:r>
                <a:rPr lang="en" sz="800">
                  <a:solidFill>
                    <a:srgbClr val="334155"/>
                  </a:solidFill>
                </a:rPr>
                <a:t>total_paid_with_adjustments_15d</a:t>
              </a:r>
              <a:endParaRPr sz="800">
                <a:solidFill>
                  <a:srgbClr val="334155"/>
                </a:solidFill>
              </a:endParaRPr>
            </a:p>
          </p:txBody>
        </p:sp>
      </p:grpSp>
      <p:sp>
        <p:nvSpPr>
          <p:cNvPr id="345" name="Google Shape;345;p26"/>
          <p:cNvSpPr/>
          <p:nvPr/>
        </p:nvSpPr>
        <p:spPr>
          <a:xfrm>
            <a:off x="6743675" y="1563469"/>
            <a:ext cx="2148900" cy="960000"/>
          </a:xfrm>
          <a:prstGeom prst="rect">
            <a:avLst/>
          </a:prstGeom>
          <a:noFill/>
          <a:ln>
            <a:noFill/>
          </a:ln>
        </p:spPr>
        <p:txBody>
          <a:bodyPr anchorCtr="0" anchor="ctr" bIns="0" lIns="0" spcFirstLastPara="1" rIns="0" wrap="square" tIns="0">
            <a:noAutofit/>
          </a:bodyPr>
          <a:lstStyle/>
          <a:p>
            <a:pPr indent="0" lvl="0" marL="0" rtl="0" algn="l">
              <a:lnSpc>
                <a:spcPct val="120000"/>
              </a:lnSpc>
              <a:spcBef>
                <a:spcPts val="0"/>
              </a:spcBef>
              <a:spcAft>
                <a:spcPts val="0"/>
              </a:spcAft>
              <a:buClr>
                <a:schemeClr val="dk1"/>
              </a:buClr>
              <a:buSzPts val="1100"/>
              <a:buFont typeface="Arial"/>
              <a:buNone/>
            </a:pPr>
            <a:r>
              <a:rPr lang="en" sz="750">
                <a:solidFill>
                  <a:srgbClr val="334155"/>
                </a:solidFill>
                <a:latin typeface="Lato"/>
                <a:ea typeface="Lato"/>
                <a:cs typeface="Lato"/>
                <a:sym typeface="Lato"/>
              </a:rPr>
              <a:t>submission_id (PK)</a:t>
            </a:r>
            <a:endParaRPr sz="750">
              <a:solidFill>
                <a:srgbClr val="334155"/>
              </a:solidFill>
              <a:latin typeface="Lato"/>
              <a:ea typeface="Lato"/>
              <a:cs typeface="Lato"/>
              <a:sym typeface="Lato"/>
            </a:endParaRPr>
          </a:p>
          <a:p>
            <a:pPr indent="0" lvl="0" marL="0" rtl="0" algn="l">
              <a:lnSpc>
                <a:spcPct val="120000"/>
              </a:lnSpc>
              <a:spcBef>
                <a:spcPts val="0"/>
              </a:spcBef>
              <a:spcAft>
                <a:spcPts val="0"/>
              </a:spcAft>
              <a:buClr>
                <a:schemeClr val="dk1"/>
              </a:buClr>
              <a:buSzPts val="1100"/>
              <a:buFont typeface="Arial"/>
              <a:buNone/>
            </a:pPr>
            <a:r>
              <a:rPr lang="en" sz="750">
                <a:solidFill>
                  <a:srgbClr val="334155"/>
                </a:solidFill>
                <a:latin typeface="Lato"/>
                <a:ea typeface="Lato"/>
                <a:cs typeface="Lato"/>
                <a:sym typeface="Lato"/>
              </a:rPr>
              <a:t>loan_id (FK)</a:t>
            </a:r>
            <a:endParaRPr sz="750">
              <a:solidFill>
                <a:srgbClr val="334155"/>
              </a:solidFill>
              <a:latin typeface="Lato"/>
              <a:ea typeface="Lato"/>
              <a:cs typeface="Lato"/>
              <a:sym typeface="Lato"/>
            </a:endParaRPr>
          </a:p>
          <a:p>
            <a:pPr indent="0" lvl="0" marL="0" rtl="0" algn="l">
              <a:lnSpc>
                <a:spcPct val="120000"/>
              </a:lnSpc>
              <a:spcBef>
                <a:spcPts val="0"/>
              </a:spcBef>
              <a:spcAft>
                <a:spcPts val="0"/>
              </a:spcAft>
              <a:buClr>
                <a:schemeClr val="dk1"/>
              </a:buClr>
              <a:buSzPts val="1100"/>
              <a:buFont typeface="Arial"/>
              <a:buNone/>
            </a:pPr>
            <a:r>
              <a:rPr lang="en" sz="750">
                <a:solidFill>
                  <a:srgbClr val="334155"/>
                </a:solidFill>
                <a:latin typeface="Lato"/>
                <a:ea typeface="Lato"/>
                <a:cs typeface="Lato"/>
                <a:sym typeface="Lato"/>
              </a:rPr>
              <a:t>respondent_id</a:t>
            </a:r>
            <a:endParaRPr sz="750">
              <a:solidFill>
                <a:srgbClr val="334155"/>
              </a:solidFill>
              <a:latin typeface="Lato"/>
              <a:ea typeface="Lato"/>
              <a:cs typeface="Lato"/>
              <a:sym typeface="Lato"/>
            </a:endParaRPr>
          </a:p>
          <a:p>
            <a:pPr indent="0" lvl="0" marL="0" rtl="0" algn="l">
              <a:lnSpc>
                <a:spcPct val="120000"/>
              </a:lnSpc>
              <a:spcBef>
                <a:spcPts val="0"/>
              </a:spcBef>
              <a:spcAft>
                <a:spcPts val="0"/>
              </a:spcAft>
              <a:buClr>
                <a:schemeClr val="dk1"/>
              </a:buClr>
              <a:buSzPts val="1100"/>
              <a:buFont typeface="Arial"/>
              <a:buNone/>
            </a:pPr>
            <a:r>
              <a:rPr lang="en" sz="750">
                <a:solidFill>
                  <a:srgbClr val="334155"/>
                </a:solidFill>
                <a:latin typeface="Lato"/>
                <a:ea typeface="Lato"/>
                <a:cs typeface="Lato"/>
                <a:sym typeface="Lato"/>
              </a:rPr>
              <a:t>submitted_at (FK → dim_date)</a:t>
            </a:r>
            <a:endParaRPr sz="750">
              <a:solidFill>
                <a:srgbClr val="334155"/>
              </a:solidFill>
              <a:latin typeface="Lato"/>
              <a:ea typeface="Lato"/>
              <a:cs typeface="Lato"/>
              <a:sym typeface="Lato"/>
            </a:endParaRPr>
          </a:p>
          <a:p>
            <a:pPr indent="0" lvl="0" marL="0" rtl="0" algn="l">
              <a:lnSpc>
                <a:spcPct val="120000"/>
              </a:lnSpc>
              <a:spcBef>
                <a:spcPts val="0"/>
              </a:spcBef>
              <a:spcAft>
                <a:spcPts val="0"/>
              </a:spcAft>
              <a:buClr>
                <a:schemeClr val="dk1"/>
              </a:buClr>
              <a:buSzPts val="1100"/>
              <a:buFont typeface="Arial"/>
              <a:buNone/>
            </a:pPr>
            <a:r>
              <a:rPr lang="en" sz="750">
                <a:solidFill>
                  <a:srgbClr val="334155"/>
                </a:solidFill>
                <a:latin typeface="Lato"/>
                <a:ea typeface="Lato"/>
                <a:cs typeface="Lato"/>
                <a:sym typeface="Lato"/>
              </a:rPr>
              <a:t>nps_score</a:t>
            </a:r>
            <a:endParaRPr sz="750">
              <a:solidFill>
                <a:srgbClr val="334155"/>
              </a:solidFill>
              <a:latin typeface="Lato"/>
              <a:ea typeface="Lato"/>
              <a:cs typeface="Lato"/>
              <a:sym typeface="Lato"/>
            </a:endParaRPr>
          </a:p>
          <a:p>
            <a:pPr indent="0" lvl="0" marL="0" rtl="0" algn="l">
              <a:lnSpc>
                <a:spcPct val="120000"/>
              </a:lnSpc>
              <a:spcBef>
                <a:spcPts val="0"/>
              </a:spcBef>
              <a:spcAft>
                <a:spcPts val="0"/>
              </a:spcAft>
              <a:buClr>
                <a:schemeClr val="dk1"/>
              </a:buClr>
              <a:buSzPts val="1100"/>
              <a:buFont typeface="Arial"/>
              <a:buNone/>
            </a:pPr>
            <a:r>
              <a:rPr lang="en" sz="750">
                <a:solidFill>
                  <a:srgbClr val="334155"/>
                </a:solidFill>
                <a:latin typeface="Lato"/>
                <a:ea typeface="Lato"/>
                <a:cs typeface="Lato"/>
                <a:sym typeface="Lato"/>
              </a:rPr>
              <a:t>recommend_flag (derived later)</a:t>
            </a:r>
            <a:endParaRPr sz="750">
              <a:solidFill>
                <a:srgbClr val="334155"/>
              </a:solidFill>
              <a:latin typeface="Lato"/>
              <a:ea typeface="Lato"/>
              <a:cs typeface="Lato"/>
              <a:sym typeface="Lato"/>
            </a:endParaRPr>
          </a:p>
          <a:p>
            <a:pPr indent="0" lvl="0" marL="0" rtl="0" algn="l">
              <a:lnSpc>
                <a:spcPct val="120000"/>
              </a:lnSpc>
              <a:spcBef>
                <a:spcPts val="0"/>
              </a:spcBef>
              <a:spcAft>
                <a:spcPts val="0"/>
              </a:spcAft>
              <a:buClr>
                <a:schemeClr val="dk1"/>
              </a:buClr>
              <a:buSzPts val="1100"/>
              <a:buFont typeface="Arial"/>
              <a:buNone/>
            </a:pPr>
            <a:r>
              <a:rPr lang="en" sz="750">
                <a:solidFill>
                  <a:srgbClr val="334155"/>
                </a:solidFill>
                <a:latin typeface="Lato"/>
                <a:ea typeface="Lato"/>
                <a:cs typeface="Lato"/>
                <a:sym typeface="Lato"/>
              </a:rPr>
              <a:t>payment_delay_flag</a:t>
            </a:r>
            <a:endParaRPr sz="750">
              <a:solidFill>
                <a:srgbClr val="334155"/>
              </a:solidFill>
              <a:latin typeface="Lato"/>
              <a:ea typeface="Lato"/>
              <a:cs typeface="Lato"/>
              <a:sym typeface="Lato"/>
            </a:endParaRPr>
          </a:p>
          <a:p>
            <a:pPr indent="0" lvl="0" marL="0" rtl="0" algn="l">
              <a:lnSpc>
                <a:spcPct val="120000"/>
              </a:lnSpc>
              <a:spcBef>
                <a:spcPts val="0"/>
              </a:spcBef>
              <a:spcAft>
                <a:spcPts val="0"/>
              </a:spcAft>
              <a:buClr>
                <a:schemeClr val="dk1"/>
              </a:buClr>
              <a:buSzPts val="1100"/>
              <a:buFont typeface="Arial"/>
              <a:buNone/>
            </a:pPr>
            <a:r>
              <a:rPr lang="en" sz="750">
                <a:solidFill>
                  <a:srgbClr val="334155"/>
                </a:solidFill>
                <a:latin typeface="Lato"/>
                <a:ea typeface="Lato"/>
                <a:cs typeface="Lato"/>
                <a:sym typeface="Lato"/>
              </a:rPr>
              <a:t>support_difficulty_flag</a:t>
            </a:r>
            <a:endParaRPr sz="750">
              <a:solidFill>
                <a:srgbClr val="334155"/>
              </a:solidFill>
              <a:latin typeface="Lato"/>
              <a:ea typeface="Lato"/>
              <a:cs typeface="Lato"/>
              <a:sym typeface="Lato"/>
            </a:endParaRPr>
          </a:p>
          <a:p>
            <a:pPr indent="0" lvl="0" marL="0" rtl="0" algn="l">
              <a:lnSpc>
                <a:spcPct val="120000"/>
              </a:lnSpc>
              <a:spcBef>
                <a:spcPts val="0"/>
              </a:spcBef>
              <a:spcAft>
                <a:spcPts val="0"/>
              </a:spcAft>
              <a:buClr>
                <a:schemeClr val="dk1"/>
              </a:buClr>
              <a:buSzPts val="1100"/>
              <a:buFont typeface="Arial"/>
              <a:buNone/>
            </a:pPr>
            <a:r>
              <a:rPr lang="en" sz="750">
                <a:solidFill>
                  <a:srgbClr val="334155"/>
                </a:solidFill>
                <a:latin typeface="Lato"/>
                <a:ea typeface="Lato"/>
                <a:cs typeface="Lato"/>
                <a:sym typeface="Lato"/>
              </a:rPr>
              <a:t>battery_issue_flag</a:t>
            </a:r>
            <a:endParaRPr sz="750">
              <a:solidFill>
                <a:srgbClr val="334155"/>
              </a:solidFill>
              <a:latin typeface="Lato"/>
              <a:ea typeface="Lato"/>
              <a:cs typeface="Lato"/>
              <a:sym typeface="Lato"/>
            </a:endParaRPr>
          </a:p>
          <a:p>
            <a:pPr indent="0" lvl="0" marL="0" rtl="0" algn="l">
              <a:lnSpc>
                <a:spcPct val="120000"/>
              </a:lnSpc>
              <a:spcBef>
                <a:spcPts val="0"/>
              </a:spcBef>
              <a:spcAft>
                <a:spcPts val="0"/>
              </a:spcAft>
              <a:buClr>
                <a:schemeClr val="dk1"/>
              </a:buClr>
              <a:buSzPts val="1100"/>
              <a:buFont typeface="Arial"/>
              <a:buNone/>
            </a:pPr>
            <a:r>
              <a:rPr lang="en" sz="750">
                <a:solidFill>
                  <a:srgbClr val="334155"/>
                </a:solidFill>
                <a:latin typeface="Lato"/>
                <a:ea typeface="Lato"/>
                <a:cs typeface="Lato"/>
                <a:sym typeface="Lato"/>
              </a:rPr>
              <a:t>used_moapp_flag</a:t>
            </a:r>
            <a:endParaRPr sz="750">
              <a:solidFill>
                <a:srgbClr val="334155"/>
              </a:solidFill>
              <a:latin typeface="Lato"/>
              <a:ea typeface="Lato"/>
              <a:cs typeface="Lato"/>
              <a:sym typeface="Lato"/>
            </a:endParaRPr>
          </a:p>
          <a:p>
            <a:pPr indent="0" lvl="0" marL="0" rtl="0" algn="l">
              <a:lnSpc>
                <a:spcPct val="120000"/>
              </a:lnSpc>
              <a:spcBef>
                <a:spcPts val="0"/>
              </a:spcBef>
              <a:spcAft>
                <a:spcPts val="0"/>
              </a:spcAft>
              <a:buClr>
                <a:schemeClr val="dk1"/>
              </a:buClr>
              <a:buSzPts val="1100"/>
              <a:buFont typeface="Arial"/>
              <a:buNone/>
            </a:pPr>
            <a:r>
              <a:rPr lang="en" sz="750">
                <a:solidFill>
                  <a:srgbClr val="334155"/>
                </a:solidFill>
                <a:latin typeface="Lato"/>
                <a:ea typeface="Lato"/>
                <a:cs typeface="Lato"/>
                <a:sym typeface="Lato"/>
              </a:rPr>
              <a:t>phone_lock_issue_flag</a:t>
            </a:r>
            <a:endParaRPr sz="750">
              <a:solidFill>
                <a:srgbClr val="334155"/>
              </a:solidFill>
              <a:latin typeface="Lato"/>
              <a:ea typeface="Lato"/>
              <a:cs typeface="Lato"/>
              <a:sym typeface="Lato"/>
            </a:endParaRPr>
          </a:p>
          <a:p>
            <a:pPr indent="0" lvl="0" marL="0" marR="0" rtl="0" algn="l">
              <a:lnSpc>
                <a:spcPct val="120000"/>
              </a:lnSpc>
              <a:spcBef>
                <a:spcPts val="0"/>
              </a:spcBef>
              <a:spcAft>
                <a:spcPts val="0"/>
              </a:spcAft>
              <a:buClr>
                <a:srgbClr val="334155"/>
              </a:buClr>
              <a:buSzPts val="750"/>
              <a:buFont typeface="Calibri"/>
              <a:buNone/>
            </a:pPr>
            <a:r>
              <a:t/>
            </a:r>
            <a:endParaRPr sz="850">
              <a:solidFill>
                <a:srgbClr val="334155"/>
              </a:solidFill>
              <a:latin typeface="Lato"/>
              <a:ea typeface="Lato"/>
              <a:cs typeface="Lato"/>
              <a:sym typeface="Lato"/>
            </a:endParaRPr>
          </a:p>
        </p:txBody>
      </p:sp>
      <p:cxnSp>
        <p:nvCxnSpPr>
          <p:cNvPr id="346" name="Google Shape;346;p26"/>
          <p:cNvCxnSpPr>
            <a:endCxn id="336" idx="1"/>
          </p:cNvCxnSpPr>
          <p:nvPr/>
        </p:nvCxnSpPr>
        <p:spPr>
          <a:xfrm>
            <a:off x="5975172" y="3452523"/>
            <a:ext cx="750300" cy="17700"/>
          </a:xfrm>
          <a:prstGeom prst="straightConnector1">
            <a:avLst/>
          </a:prstGeom>
          <a:noFill/>
          <a:ln cap="flat" cmpd="sng" w="15225">
            <a:solidFill>
              <a:srgbClr val="64748B"/>
            </a:solidFill>
            <a:prstDash val="dash"/>
            <a:round/>
            <a:headEnd len="sm" w="sm" type="none"/>
            <a:tailEnd len="sm" w="sm" type="none"/>
          </a:ln>
        </p:spPr>
      </p:cxnSp>
      <p:cxnSp>
        <p:nvCxnSpPr>
          <p:cNvPr id="347" name="Google Shape;347;p26"/>
          <p:cNvCxnSpPr>
            <a:stCxn id="325" idx="2"/>
            <a:endCxn id="336" idx="0"/>
          </p:cNvCxnSpPr>
          <p:nvPr/>
        </p:nvCxnSpPr>
        <p:spPr>
          <a:xfrm>
            <a:off x="7818125" y="2789050"/>
            <a:ext cx="4500" cy="507600"/>
          </a:xfrm>
          <a:prstGeom prst="straightConnector1">
            <a:avLst/>
          </a:prstGeom>
          <a:noFill/>
          <a:ln cap="flat" cmpd="sng" w="15225">
            <a:solidFill>
              <a:srgbClr val="64748B"/>
            </a:solidFill>
            <a:prstDash val="dash"/>
            <a:round/>
            <a:headEnd len="sm" w="sm" type="none"/>
            <a:tailEnd len="sm" w="sm" type="none"/>
          </a:ln>
        </p:spPr>
      </p:cxnSp>
      <p:sp>
        <p:nvSpPr>
          <p:cNvPr id="348" name="Google Shape;348;p26"/>
          <p:cNvSpPr/>
          <p:nvPr/>
        </p:nvSpPr>
        <p:spPr>
          <a:xfrm>
            <a:off x="187475" y="2692225"/>
            <a:ext cx="2286000" cy="9600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800"/>
          </a:p>
          <a:p>
            <a:pPr indent="0" lvl="0" marL="0" rtl="0" algn="l">
              <a:spcBef>
                <a:spcPts val="0"/>
              </a:spcBef>
              <a:spcAft>
                <a:spcPts val="0"/>
              </a:spcAft>
              <a:buNone/>
            </a:pPr>
            <a:r>
              <a:rPr lang="en" sz="800"/>
              <a:t>Loan_id (pk)</a:t>
            </a:r>
            <a:endParaRPr sz="800"/>
          </a:p>
          <a:p>
            <a:pPr indent="0" lvl="0" marL="0" rtl="0" algn="l">
              <a:spcBef>
                <a:spcPts val="0"/>
              </a:spcBef>
              <a:spcAft>
                <a:spcPts val="0"/>
              </a:spcAft>
              <a:buClr>
                <a:schemeClr val="dk1"/>
              </a:buClr>
              <a:buSzPts val="1100"/>
              <a:buFont typeface="Arial"/>
              <a:buNone/>
            </a:pPr>
            <a:r>
              <a:rPr lang="en" sz="800"/>
              <a:t>status_id (PK)</a:t>
            </a:r>
            <a:endParaRPr sz="800"/>
          </a:p>
          <a:p>
            <a:pPr indent="0" lvl="0" marL="0" rtl="0" algn="l">
              <a:spcBef>
                <a:spcPts val="0"/>
              </a:spcBef>
              <a:spcAft>
                <a:spcPts val="0"/>
              </a:spcAft>
              <a:buClr>
                <a:schemeClr val="dk1"/>
              </a:buClr>
              <a:buSzPts val="1100"/>
              <a:buFont typeface="Arial"/>
              <a:buNone/>
            </a:pPr>
            <a:r>
              <a:rPr lang="en" sz="800"/>
              <a:t>account_status_l1</a:t>
            </a:r>
            <a:endParaRPr sz="800"/>
          </a:p>
          <a:p>
            <a:pPr indent="0" lvl="0" marL="0" rtl="0" algn="l">
              <a:spcBef>
                <a:spcPts val="0"/>
              </a:spcBef>
              <a:spcAft>
                <a:spcPts val="0"/>
              </a:spcAft>
              <a:buClr>
                <a:schemeClr val="dk1"/>
              </a:buClr>
              <a:buSzPts val="1100"/>
              <a:buFont typeface="Arial"/>
              <a:buNone/>
            </a:pPr>
            <a:r>
              <a:rPr lang="en" sz="800"/>
              <a:t>account_status_l2</a:t>
            </a:r>
            <a:endParaRPr sz="800"/>
          </a:p>
          <a:p>
            <a:pPr indent="0" lvl="0" marL="0" rtl="0" algn="l">
              <a:spcBef>
                <a:spcPts val="0"/>
              </a:spcBef>
              <a:spcAft>
                <a:spcPts val="0"/>
              </a:spcAft>
              <a:buClr>
                <a:schemeClr val="dk1"/>
              </a:buClr>
              <a:buSzPts val="1100"/>
              <a:buFont typeface="Arial"/>
              <a:buNone/>
            </a:pPr>
            <a:r>
              <a:rPr lang="en" sz="800"/>
              <a:t>balance_due_status</a:t>
            </a:r>
            <a:endParaRPr sz="800"/>
          </a:p>
          <a:p>
            <a:pPr indent="0" lvl="0" marL="0" rtl="0" algn="l">
              <a:spcBef>
                <a:spcPts val="0"/>
              </a:spcBef>
              <a:spcAft>
                <a:spcPts val="0"/>
              </a:spcAft>
              <a:buNone/>
            </a:pPr>
            <a:r>
              <a:t/>
            </a:r>
            <a:endParaRPr sz="800"/>
          </a:p>
        </p:txBody>
      </p:sp>
      <p:sp>
        <p:nvSpPr>
          <p:cNvPr id="349" name="Google Shape;349;p26"/>
          <p:cNvSpPr/>
          <p:nvPr/>
        </p:nvSpPr>
        <p:spPr>
          <a:xfrm>
            <a:off x="278982" y="2250640"/>
            <a:ext cx="21945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b="1" i="0" lang="en" sz="900" u="none" cap="none" strike="noStrike">
                <a:solidFill>
                  <a:srgbClr val="FFFFFF"/>
                </a:solidFill>
                <a:latin typeface="Calibri"/>
                <a:ea typeface="Calibri"/>
                <a:cs typeface="Calibri"/>
                <a:sym typeface="Calibri"/>
              </a:rPr>
              <a:t>dim_customer</a:t>
            </a:r>
            <a:endParaRPr b="0" i="0" sz="900" u="none" cap="none" strike="noStrike">
              <a:solidFill>
                <a:schemeClr val="dk1"/>
              </a:solidFill>
              <a:latin typeface="Calibri"/>
              <a:ea typeface="Calibri"/>
              <a:cs typeface="Calibri"/>
              <a:sym typeface="Calibri"/>
            </a:endParaRPr>
          </a:p>
        </p:txBody>
      </p:sp>
      <p:sp>
        <p:nvSpPr>
          <p:cNvPr id="350" name="Google Shape;350;p26"/>
          <p:cNvSpPr/>
          <p:nvPr/>
        </p:nvSpPr>
        <p:spPr>
          <a:xfrm>
            <a:off x="187480" y="2435715"/>
            <a:ext cx="2286000" cy="347400"/>
          </a:xfrm>
          <a:prstGeom prst="rect">
            <a:avLst/>
          </a:prstGeom>
          <a:solidFill>
            <a:srgbClr val="0C1F3F"/>
          </a:solidFill>
          <a:ln cap="flat" cmpd="sng" w="12700">
            <a:solidFill>
              <a:srgbClr val="0C1F3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26"/>
          <p:cNvSpPr/>
          <p:nvPr/>
        </p:nvSpPr>
        <p:spPr>
          <a:xfrm>
            <a:off x="192432" y="2398040"/>
            <a:ext cx="21945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b="1" i="0" lang="en" sz="900" u="none" cap="none" strike="noStrike">
                <a:solidFill>
                  <a:srgbClr val="FFFFFF"/>
                </a:solidFill>
                <a:latin typeface="Calibri"/>
                <a:ea typeface="Calibri"/>
                <a:cs typeface="Calibri"/>
                <a:sym typeface="Calibri"/>
              </a:rPr>
              <a:t>dim_</a:t>
            </a:r>
            <a:r>
              <a:rPr b="1" lang="en" sz="900">
                <a:solidFill>
                  <a:srgbClr val="FFFFFF"/>
                </a:solidFill>
                <a:latin typeface="Calibri"/>
                <a:ea typeface="Calibri"/>
                <a:cs typeface="Calibri"/>
                <a:sym typeface="Calibri"/>
              </a:rPr>
              <a:t>account_status</a:t>
            </a:r>
            <a:endParaRPr b="0" i="0" sz="900" u="none" cap="none" strike="noStrike">
              <a:solidFill>
                <a:schemeClr val="dk1"/>
              </a:solidFill>
              <a:latin typeface="Calibri"/>
              <a:ea typeface="Calibri"/>
              <a:cs typeface="Calibri"/>
              <a:sym typeface="Calibri"/>
            </a:endParaRPr>
          </a:p>
        </p:txBody>
      </p:sp>
      <p:cxnSp>
        <p:nvCxnSpPr>
          <p:cNvPr id="352" name="Google Shape;352;p26"/>
          <p:cNvCxnSpPr/>
          <p:nvPr/>
        </p:nvCxnSpPr>
        <p:spPr>
          <a:xfrm>
            <a:off x="2468880" y="2968350"/>
            <a:ext cx="798900" cy="20700"/>
          </a:xfrm>
          <a:prstGeom prst="straightConnector1">
            <a:avLst/>
          </a:prstGeom>
          <a:noFill/>
          <a:ln cap="flat" cmpd="sng" w="15225">
            <a:solidFill>
              <a:srgbClr val="64748B"/>
            </a:solidFill>
            <a:prstDash val="dash"/>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